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3"/>
  </p:notes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rial Bold" charset="1" panose="020B0704020202020204"/>
      <p:regular r:id="rId16"/>
    </p:embeddedFont>
    <p:embeddedFont>
      <p:font typeface="Arial" charset="1" panose="020B0604020202020204"/>
      <p:regular r:id="rId17"/>
    </p:embeddedFont>
    <p:embeddedFont>
      <p:font typeface="Arial Italics" charset="1" panose="020B0604020202090204"/>
      <p:regular r:id="rId20"/>
    </p:embeddedFont>
    <p:embeddedFont>
      <p:font typeface="Courier New" charset="1" panose="02070309020205020404"/>
      <p:regular r:id="rId23"/>
    </p:embeddedFont>
    <p:embeddedFont>
      <p:font typeface="Courier New Bold" charset="1" panose="020706090202050204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notesMasters/notesMaster1.xml" Type="http://schemas.openxmlformats.org/officeDocument/2006/relationships/notesMaster"/><Relationship Id="rId14" Target="theme/theme2.xml" Type="http://schemas.openxmlformats.org/officeDocument/2006/relationships/theme"/><Relationship Id="rId15" Target="notesSlides/notesSlide1.xml" Type="http://schemas.openxmlformats.org/officeDocument/2006/relationships/notesSlide"/><Relationship Id="rId16" Target="fonts/font16.fntdata" Type="http://schemas.openxmlformats.org/officeDocument/2006/relationships/font"/><Relationship Id="rId17" Target="fonts/font17.fntdata" Type="http://schemas.openxmlformats.org/officeDocument/2006/relationships/font"/><Relationship Id="rId18" Target="notesSlides/notesSlide2.xml" Type="http://schemas.openxmlformats.org/officeDocument/2006/relationships/notesSlide"/><Relationship Id="rId19" Target="notesSlides/notesSlide3.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notesSlides/notesSlide4.xml" Type="http://schemas.openxmlformats.org/officeDocument/2006/relationships/notesSlide"/><Relationship Id="rId22" Target="notesSlides/notesSlide5.xml" Type="http://schemas.openxmlformats.org/officeDocument/2006/relationships/notesSlide"/><Relationship Id="rId23" Target="fonts/font23.fntdata" Type="http://schemas.openxmlformats.org/officeDocument/2006/relationships/font"/><Relationship Id="rId24" Target="notesSlides/notesSlide6.xml" Type="http://schemas.openxmlformats.org/officeDocument/2006/relationships/notesSlide"/><Relationship Id="rId25" Target="fonts/font25.fntdata" Type="http://schemas.openxmlformats.org/officeDocument/2006/relationships/font"/><Relationship Id="rId26" Target="notesSlides/notesSlide7.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I am Prerna Agrawal, Roll No. P39, guided by Mr. Chinmay Mukim. My DBMS project is RACMS, the Road Accident and Collision Management System, built in MySQL 8.0 on the NYPD collision dataset.</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Problem: the raw NYPD crash file is one flat table with 29 columns, so data repeats, vehicle and factor columns are repeating groups, and transitive dependencies cause anomalies.</a:t>
            </a:r>
          </a:p>
          <a:p>
            <a:r>
              <a:rPr lang="en-US"/>
              <a:t>Solution: RACMS splits it into 9 BCNF tables and adds joins, a stored procedure, triggers and views on top.</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1NF: I unpivoted the repeating vehicle type and contributing factor columns into atomic rows and dropped the redundant LOCATION string.</a:t>
            </a:r>
          </a:p>
          <a:p>
            <a:r>
              <a:rPr lang="en-US"/>
              <a:t>2NF: lookup tables plus two junction tables.</a:t>
            </a:r>
          </a:p>
          <a:p>
            <a:r>
              <a:rPr lang="en-US"/>
              <a:t>3NF: COLLISION to ZIP_CODE to BOROUGH was a transitive dependency, so I created BOROUGH and ZIP_CODE tables.</a:t>
            </a:r>
          </a:p>
          <a:p>
            <a:r>
              <a:rPr lang="en-US"/>
              <a:t>BCNF: every determinant is a candidate key. The result is 9 relations.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9 tables are grouped into modules: territorial (BOROUGH, ZIP_CODE, LOCATION), the core COLLISION table, vehicle and factor modules with M:N junction tables, a 1:1 CASUALTY table, plus one COLLISION_AUDIT table.</a:t>
            </a:r>
          </a:p>
          <a:p>
            <a:r>
              <a:rPr lang="en-US"/>
              <a:t>Constraints: composite key on LOCATION, cascading foreign keys and CHECK constraints. The database holds 300+ real records.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Joins: a 9-table INNER JOIN rebuilds the full collision record; LEFT and RIGHT JOIN find unrecorded factors and unused vehicle types; a SELF JOIN on latitude and longitude finds repeat accident spots.</a:t>
            </a:r>
          </a:p>
          <a:p>
            <a:r>
              <a:rPr lang="en-US"/>
              <a:t>Subqueries: a correlated subquery finds collisions with injuries above the borough average; GROUP BY with HAVING ranks high-risk zip codes.</a:t>
            </a:r>
          </a:p>
          <a:p>
            <a:r>
              <a:rPr lang="en-US"/>
              <a:t>Views: vw_BoroughAccidentSummary and vw_HighRiskFactorAnalysis give ready-made reports.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Procedure: sp_RegisterNewCollision runs inside START TRANSACTION and either commits or rolls back.</a:t>
            </a:r>
          </a:p>
          <a:p>
            <a:r>
              <a:rPr lang="en-US"/>
              <a:t>Triggers: trg_ValidateCasualtyCounts blocks bad injury counts (error 45000); trg_AuditCollisionChanges logs date changes.</a:t>
            </a:r>
          </a:p>
          <a:p>
            <a:r>
              <a:rPr lang="en-US"/>
              <a:t>ACID: atomicity via commit/rollback, consistency via keys and validation, isolation via MVCC, durability via redo logging.</a:t>
            </a:r>
          </a:p>
          <a:p>
            <a:r>
              <a:rPr lang="en-US"/>
              <a:t>Event flow: new incident, procedure call, BEFORE trigger validation, AFTER trigger audit entry, commit.</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conclude: RACMS turns a flat 29-column NYPD dataset into 9 BCNF tables with a stored procedure, triggers, joins and views. Normalization removes anomalies, transactions and triggers keep the data consistent and auditable, and joins and views give useful collision insights. Thank you - happy to take questions.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jpeg" Type="http://schemas.openxmlformats.org/officeDocument/2006/relationships/image"/><Relationship Id="rId4" Target="../media/image6.jpe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 Id="rId4" Target="../media/image6.jpeg" Type="http://schemas.openxmlformats.org/officeDocument/2006/relationships/image"/><Relationship Id="rId5"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jpeg" Type="http://schemas.openxmlformats.org/officeDocument/2006/relationships/image"/><Relationship Id="rId4" Target="../media/image10.png" Type="http://schemas.openxmlformats.org/officeDocument/2006/relationships/image"/><Relationship Id="rId5" Target="../media/image6.jpeg" Type="http://schemas.openxmlformats.org/officeDocument/2006/relationships/image"/><Relationship Id="rId6"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jpe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jpe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6.jpeg" Type="http://schemas.openxmlformats.org/officeDocument/2006/relationships/image"/><Relationship Id="rId8"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jpe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6.jpeg" Type="http://schemas.openxmlformats.org/officeDocument/2006/relationships/image"/><Relationship Id="rId7" Target="../media/image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788616" y="-7144"/>
            <a:ext cx="6501956" cy="10294144"/>
            <a:chOff x="0" y="0"/>
            <a:chExt cx="8669274" cy="13725525"/>
          </a:xfrm>
        </p:grpSpPr>
        <p:sp>
          <p:nvSpPr>
            <p:cNvPr name="Freeform 3" id="3"/>
            <p:cNvSpPr/>
            <p:nvPr/>
          </p:nvSpPr>
          <p:spPr>
            <a:xfrm flipH="false" flipV="false" rot="0">
              <a:off x="0" y="0"/>
              <a:ext cx="8669274" cy="13725525"/>
            </a:xfrm>
            <a:custGeom>
              <a:avLst/>
              <a:gdLst/>
              <a:ahLst/>
              <a:cxnLst/>
              <a:rect r="r" b="b" t="t" l="l"/>
              <a:pathLst>
                <a:path h="13725525" w="8669274">
                  <a:moveTo>
                    <a:pt x="0" y="0"/>
                  </a:moveTo>
                  <a:lnTo>
                    <a:pt x="8669274" y="0"/>
                  </a:lnTo>
                  <a:lnTo>
                    <a:pt x="8669274" y="13725525"/>
                  </a:lnTo>
                  <a:lnTo>
                    <a:pt x="0" y="13725525"/>
                  </a:lnTo>
                  <a:close/>
                </a:path>
              </a:pathLst>
            </a:custGeom>
            <a:solidFill>
              <a:srgbClr val="EEEDE8"/>
            </a:solidFill>
            <a:ln w="14288" cap="sq">
              <a:solidFill>
                <a:srgbClr val="EEEDE8"/>
              </a:solidFill>
              <a:prstDash val="solid"/>
              <a:miter/>
            </a:ln>
          </p:spPr>
        </p:sp>
      </p:grpSp>
      <p:grpSp>
        <p:nvGrpSpPr>
          <p:cNvPr name="Group 4" id="4"/>
          <p:cNvGrpSpPr/>
          <p:nvPr/>
        </p:nvGrpSpPr>
        <p:grpSpPr>
          <a:xfrm rot="0">
            <a:off x="13637895" y="2322195"/>
            <a:ext cx="2762250" cy="2762250"/>
            <a:chOff x="0" y="0"/>
            <a:chExt cx="3683000" cy="3683000"/>
          </a:xfrm>
        </p:grpSpPr>
        <p:sp>
          <p:nvSpPr>
            <p:cNvPr name="Freeform 5" id="5"/>
            <p:cNvSpPr/>
            <p:nvPr/>
          </p:nvSpPr>
          <p:spPr>
            <a:xfrm flipH="false" flipV="false" rot="0">
              <a:off x="0" y="0"/>
              <a:ext cx="3683000" cy="3683000"/>
            </a:xfrm>
            <a:custGeom>
              <a:avLst/>
              <a:gdLst/>
              <a:ahLst/>
              <a:cxnLst/>
              <a:rect r="r" b="b" t="t" l="l"/>
              <a:pathLst>
                <a:path h="3683000" w="3683000">
                  <a:moveTo>
                    <a:pt x="0" y="147320"/>
                  </a:moveTo>
                  <a:cubicBezTo>
                    <a:pt x="0" y="65913"/>
                    <a:pt x="65913" y="0"/>
                    <a:pt x="147320" y="0"/>
                  </a:cubicBezTo>
                  <a:lnTo>
                    <a:pt x="3535680" y="0"/>
                  </a:lnTo>
                  <a:cubicBezTo>
                    <a:pt x="3617087" y="0"/>
                    <a:pt x="3683000" y="65913"/>
                    <a:pt x="3683000" y="147320"/>
                  </a:cubicBezTo>
                  <a:lnTo>
                    <a:pt x="3683000" y="3535680"/>
                  </a:lnTo>
                  <a:cubicBezTo>
                    <a:pt x="3683000" y="3617087"/>
                    <a:pt x="3617087" y="3683000"/>
                    <a:pt x="3535680" y="3683000"/>
                  </a:cubicBezTo>
                  <a:lnTo>
                    <a:pt x="147320" y="3683000"/>
                  </a:lnTo>
                  <a:cubicBezTo>
                    <a:pt x="65913" y="3683000"/>
                    <a:pt x="0" y="3617087"/>
                    <a:pt x="0" y="3535680"/>
                  </a:cubicBezTo>
                  <a:close/>
                </a:path>
              </a:pathLst>
            </a:custGeom>
            <a:solidFill>
              <a:srgbClr val="D4A62A"/>
            </a:solidFill>
            <a:ln w="19050" cap="sq">
              <a:solidFill>
                <a:srgbClr val="D4A62A"/>
              </a:solidFill>
              <a:prstDash val="solid"/>
              <a:miter/>
            </a:ln>
          </p:spPr>
        </p:sp>
      </p:grpSp>
      <p:grpSp>
        <p:nvGrpSpPr>
          <p:cNvPr name="Group 6" id="6"/>
          <p:cNvGrpSpPr/>
          <p:nvPr/>
        </p:nvGrpSpPr>
        <p:grpSpPr>
          <a:xfrm rot="0">
            <a:off x="14250924" y="2935224"/>
            <a:ext cx="1536192" cy="1536192"/>
            <a:chOff x="0" y="0"/>
            <a:chExt cx="2048256" cy="2048256"/>
          </a:xfrm>
        </p:grpSpPr>
        <p:sp>
          <p:nvSpPr>
            <p:cNvPr name="Freeform 7" id="7" descr="preencoded.png"/>
            <p:cNvSpPr/>
            <p:nvPr/>
          </p:nvSpPr>
          <p:spPr>
            <a:xfrm flipH="false" flipV="false" rot="0">
              <a:off x="0" y="0"/>
              <a:ext cx="2048256" cy="2048256"/>
            </a:xfrm>
            <a:custGeom>
              <a:avLst/>
              <a:gdLst/>
              <a:ahLst/>
              <a:cxnLst/>
              <a:rect r="r" b="b" t="t" l="l"/>
              <a:pathLst>
                <a:path h="2048256" w="2048256">
                  <a:moveTo>
                    <a:pt x="0" y="0"/>
                  </a:moveTo>
                  <a:lnTo>
                    <a:pt x="2048256" y="0"/>
                  </a:lnTo>
                  <a:lnTo>
                    <a:pt x="2048256" y="2048256"/>
                  </a:lnTo>
                  <a:lnTo>
                    <a:pt x="0" y="2048256"/>
                  </a:lnTo>
                  <a:lnTo>
                    <a:pt x="0" y="0"/>
                  </a:lnTo>
                  <a:close/>
                </a:path>
              </a:pathLst>
            </a:custGeom>
            <a:blipFill>
              <a:blip r:embed="rId3"/>
              <a:stretch>
                <a:fillRect l="0" t="0" r="0" b="0"/>
              </a:stretch>
            </a:blipFill>
          </p:spPr>
        </p:sp>
      </p:grpSp>
      <p:grpSp>
        <p:nvGrpSpPr>
          <p:cNvPr name="Group 8" id="8"/>
          <p:cNvGrpSpPr/>
          <p:nvPr/>
        </p:nvGrpSpPr>
        <p:grpSpPr>
          <a:xfrm rot="0">
            <a:off x="13432155" y="6985635"/>
            <a:ext cx="842010" cy="842010"/>
            <a:chOff x="0" y="0"/>
            <a:chExt cx="1122680" cy="1122680"/>
          </a:xfrm>
        </p:grpSpPr>
        <p:sp>
          <p:nvSpPr>
            <p:cNvPr name="Freeform 9" id="9"/>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solidFill>
              <a:srgbClr val="FFFFFF"/>
            </a:solidFill>
            <a:ln w="19050" cap="sq">
              <a:solidFill>
                <a:srgbClr val="FFFFFF"/>
              </a:solidFill>
              <a:prstDash val="solid"/>
              <a:miter/>
            </a:ln>
          </p:spPr>
        </p:sp>
      </p:grpSp>
      <p:grpSp>
        <p:nvGrpSpPr>
          <p:cNvPr name="Group 10" id="10"/>
          <p:cNvGrpSpPr/>
          <p:nvPr/>
        </p:nvGrpSpPr>
        <p:grpSpPr>
          <a:xfrm rot="0">
            <a:off x="13622731" y="7176211"/>
            <a:ext cx="460858" cy="460858"/>
            <a:chOff x="0" y="0"/>
            <a:chExt cx="614477" cy="614477"/>
          </a:xfrm>
        </p:grpSpPr>
        <p:sp>
          <p:nvSpPr>
            <p:cNvPr name="Freeform 11" id="11" descr="preencoded.png"/>
            <p:cNvSpPr/>
            <p:nvPr/>
          </p:nvSpPr>
          <p:spPr>
            <a:xfrm flipH="false" flipV="false" rot="0">
              <a:off x="0" y="0"/>
              <a:ext cx="614426" cy="614426"/>
            </a:xfrm>
            <a:custGeom>
              <a:avLst/>
              <a:gdLst/>
              <a:ahLst/>
              <a:cxnLst/>
              <a:rect r="r" b="b" t="t" l="l"/>
              <a:pathLst>
                <a:path h="614426" w="614426">
                  <a:moveTo>
                    <a:pt x="0" y="0"/>
                  </a:moveTo>
                  <a:lnTo>
                    <a:pt x="614426" y="0"/>
                  </a:lnTo>
                  <a:lnTo>
                    <a:pt x="614426" y="614426"/>
                  </a:lnTo>
                  <a:lnTo>
                    <a:pt x="0" y="614426"/>
                  </a:lnTo>
                  <a:lnTo>
                    <a:pt x="0" y="0"/>
                  </a:lnTo>
                  <a:close/>
                </a:path>
              </a:pathLst>
            </a:custGeom>
            <a:blipFill>
              <a:blip r:embed="rId4"/>
              <a:stretch>
                <a:fillRect l="0" t="0" r="-8" b="-8"/>
              </a:stretch>
            </a:blipFill>
          </p:spPr>
        </p:sp>
      </p:grpSp>
      <p:grpSp>
        <p:nvGrpSpPr>
          <p:cNvPr name="Group 12" id="12"/>
          <p:cNvGrpSpPr/>
          <p:nvPr/>
        </p:nvGrpSpPr>
        <p:grpSpPr>
          <a:xfrm rot="0">
            <a:off x="13432155" y="6985635"/>
            <a:ext cx="842010" cy="842010"/>
            <a:chOff x="0" y="0"/>
            <a:chExt cx="1122680" cy="1122680"/>
          </a:xfrm>
        </p:grpSpPr>
        <p:sp>
          <p:nvSpPr>
            <p:cNvPr name="Freeform 13" id="13"/>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blipFill>
              <a:blip r:embed="rId5">
                <a:alphaModFix amt="0"/>
              </a:blip>
              <a:stretch>
                <a:fillRect l="-78303" t="0" r="-78303" b="0"/>
              </a:stretch>
            </a:blipFill>
            <a:ln w="19050" cap="sq">
              <a:solidFill>
                <a:srgbClr val="D4A62A"/>
              </a:solidFill>
              <a:prstDash val="solid"/>
              <a:miter/>
            </a:ln>
          </p:spPr>
        </p:sp>
      </p:grpSp>
      <p:grpSp>
        <p:nvGrpSpPr>
          <p:cNvPr name="Group 14" id="14"/>
          <p:cNvGrpSpPr/>
          <p:nvPr/>
        </p:nvGrpSpPr>
        <p:grpSpPr>
          <a:xfrm rot="0">
            <a:off x="14666595" y="6985635"/>
            <a:ext cx="842010" cy="842010"/>
            <a:chOff x="0" y="0"/>
            <a:chExt cx="1122680" cy="1122680"/>
          </a:xfrm>
        </p:grpSpPr>
        <p:sp>
          <p:nvSpPr>
            <p:cNvPr name="Freeform 15" id="15"/>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solidFill>
              <a:srgbClr val="FFFFFF"/>
            </a:solidFill>
            <a:ln w="19050" cap="sq">
              <a:solidFill>
                <a:srgbClr val="FFFFFF"/>
              </a:solidFill>
              <a:prstDash val="solid"/>
              <a:miter/>
            </a:ln>
          </p:spPr>
        </p:sp>
      </p:grpSp>
      <p:grpSp>
        <p:nvGrpSpPr>
          <p:cNvPr name="Group 16" id="16"/>
          <p:cNvGrpSpPr/>
          <p:nvPr/>
        </p:nvGrpSpPr>
        <p:grpSpPr>
          <a:xfrm rot="0">
            <a:off x="14857171" y="7176211"/>
            <a:ext cx="460858" cy="460858"/>
            <a:chOff x="0" y="0"/>
            <a:chExt cx="614477" cy="614477"/>
          </a:xfrm>
        </p:grpSpPr>
        <p:sp>
          <p:nvSpPr>
            <p:cNvPr name="Freeform 17" id="17" descr="preencoded.png"/>
            <p:cNvSpPr/>
            <p:nvPr/>
          </p:nvSpPr>
          <p:spPr>
            <a:xfrm flipH="false" flipV="false" rot="0">
              <a:off x="0" y="0"/>
              <a:ext cx="614426" cy="614426"/>
            </a:xfrm>
            <a:custGeom>
              <a:avLst/>
              <a:gdLst/>
              <a:ahLst/>
              <a:cxnLst/>
              <a:rect r="r" b="b" t="t" l="l"/>
              <a:pathLst>
                <a:path h="614426" w="614426">
                  <a:moveTo>
                    <a:pt x="0" y="0"/>
                  </a:moveTo>
                  <a:lnTo>
                    <a:pt x="614426" y="0"/>
                  </a:lnTo>
                  <a:lnTo>
                    <a:pt x="614426" y="614426"/>
                  </a:lnTo>
                  <a:lnTo>
                    <a:pt x="0" y="614426"/>
                  </a:lnTo>
                  <a:lnTo>
                    <a:pt x="0" y="0"/>
                  </a:lnTo>
                  <a:close/>
                </a:path>
              </a:pathLst>
            </a:custGeom>
            <a:blipFill>
              <a:blip r:embed="rId6"/>
              <a:stretch>
                <a:fillRect l="0" t="0" r="-8" b="-8"/>
              </a:stretch>
            </a:blipFill>
          </p:spPr>
        </p:sp>
      </p:grpSp>
      <p:grpSp>
        <p:nvGrpSpPr>
          <p:cNvPr name="Group 18" id="18"/>
          <p:cNvGrpSpPr/>
          <p:nvPr/>
        </p:nvGrpSpPr>
        <p:grpSpPr>
          <a:xfrm rot="0">
            <a:off x="14666595" y="6985635"/>
            <a:ext cx="842010" cy="842010"/>
            <a:chOff x="0" y="0"/>
            <a:chExt cx="1122680" cy="1122680"/>
          </a:xfrm>
        </p:grpSpPr>
        <p:sp>
          <p:nvSpPr>
            <p:cNvPr name="Freeform 19" id="19"/>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blipFill>
              <a:blip r:embed="rId5">
                <a:alphaModFix amt="0"/>
              </a:blip>
              <a:stretch>
                <a:fillRect l="-78303" t="0" r="-78303" b="0"/>
              </a:stretch>
            </a:blipFill>
            <a:ln w="19050" cap="sq">
              <a:solidFill>
                <a:srgbClr val="D4A62A"/>
              </a:solidFill>
              <a:prstDash val="solid"/>
              <a:miter/>
            </a:ln>
          </p:spPr>
        </p:sp>
      </p:grpSp>
      <p:grpSp>
        <p:nvGrpSpPr>
          <p:cNvPr name="Group 20" id="20"/>
          <p:cNvGrpSpPr/>
          <p:nvPr/>
        </p:nvGrpSpPr>
        <p:grpSpPr>
          <a:xfrm rot="0">
            <a:off x="15901035" y="6985635"/>
            <a:ext cx="842010" cy="842010"/>
            <a:chOff x="0" y="0"/>
            <a:chExt cx="1122680" cy="1122680"/>
          </a:xfrm>
        </p:grpSpPr>
        <p:sp>
          <p:nvSpPr>
            <p:cNvPr name="Freeform 21" id="21"/>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solidFill>
              <a:srgbClr val="FFFFFF"/>
            </a:solidFill>
            <a:ln w="19050" cap="sq">
              <a:solidFill>
                <a:srgbClr val="FFFFFF"/>
              </a:solidFill>
              <a:prstDash val="solid"/>
              <a:miter/>
            </a:ln>
          </p:spPr>
        </p:sp>
      </p:grpSp>
      <p:grpSp>
        <p:nvGrpSpPr>
          <p:cNvPr name="Group 22" id="22"/>
          <p:cNvGrpSpPr/>
          <p:nvPr/>
        </p:nvGrpSpPr>
        <p:grpSpPr>
          <a:xfrm rot="0">
            <a:off x="16091611" y="7176211"/>
            <a:ext cx="460858" cy="460858"/>
            <a:chOff x="0" y="0"/>
            <a:chExt cx="614477" cy="614477"/>
          </a:xfrm>
        </p:grpSpPr>
        <p:sp>
          <p:nvSpPr>
            <p:cNvPr name="Freeform 23" id="23" descr="preencoded.png"/>
            <p:cNvSpPr/>
            <p:nvPr/>
          </p:nvSpPr>
          <p:spPr>
            <a:xfrm flipH="false" flipV="false" rot="0">
              <a:off x="0" y="0"/>
              <a:ext cx="614426" cy="614426"/>
            </a:xfrm>
            <a:custGeom>
              <a:avLst/>
              <a:gdLst/>
              <a:ahLst/>
              <a:cxnLst/>
              <a:rect r="r" b="b" t="t" l="l"/>
              <a:pathLst>
                <a:path h="614426" w="614426">
                  <a:moveTo>
                    <a:pt x="0" y="0"/>
                  </a:moveTo>
                  <a:lnTo>
                    <a:pt x="614426" y="0"/>
                  </a:lnTo>
                  <a:lnTo>
                    <a:pt x="614426" y="614426"/>
                  </a:lnTo>
                  <a:lnTo>
                    <a:pt x="0" y="614426"/>
                  </a:lnTo>
                  <a:lnTo>
                    <a:pt x="0" y="0"/>
                  </a:lnTo>
                  <a:close/>
                </a:path>
              </a:pathLst>
            </a:custGeom>
            <a:blipFill>
              <a:blip r:embed="rId7"/>
              <a:stretch>
                <a:fillRect l="0" t="0" r="-8" b="-8"/>
              </a:stretch>
            </a:blipFill>
          </p:spPr>
        </p:sp>
      </p:grpSp>
      <p:grpSp>
        <p:nvGrpSpPr>
          <p:cNvPr name="Group 24" id="24"/>
          <p:cNvGrpSpPr/>
          <p:nvPr/>
        </p:nvGrpSpPr>
        <p:grpSpPr>
          <a:xfrm rot="0">
            <a:off x="15901035" y="6985635"/>
            <a:ext cx="842010" cy="842010"/>
            <a:chOff x="0" y="0"/>
            <a:chExt cx="1122680" cy="1122680"/>
          </a:xfrm>
        </p:grpSpPr>
        <p:sp>
          <p:nvSpPr>
            <p:cNvPr name="Freeform 25" id="25"/>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blipFill>
              <a:blip r:embed="rId5">
                <a:alphaModFix amt="0"/>
              </a:blip>
              <a:stretch>
                <a:fillRect l="-78303" t="0" r="-78303" b="0"/>
              </a:stretch>
            </a:blipFill>
            <a:ln w="19050" cap="sq">
              <a:solidFill>
                <a:srgbClr val="D4A62A"/>
              </a:solidFill>
              <a:prstDash val="solid"/>
              <a:miter/>
            </a:ln>
          </p:spPr>
        </p:sp>
      </p:grpSp>
      <p:sp>
        <p:nvSpPr>
          <p:cNvPr name="Freeform 26" id="26"/>
          <p:cNvSpPr/>
          <p:nvPr/>
        </p:nvSpPr>
        <p:spPr>
          <a:xfrm flipH="false" flipV="false" rot="0">
            <a:off x="0" y="-7144"/>
            <a:ext cx="1933060" cy="1006418"/>
          </a:xfrm>
          <a:custGeom>
            <a:avLst/>
            <a:gdLst/>
            <a:ahLst/>
            <a:cxnLst/>
            <a:rect r="r" b="b" t="t" l="l"/>
            <a:pathLst>
              <a:path h="1006418" w="1933060">
                <a:moveTo>
                  <a:pt x="0" y="0"/>
                </a:moveTo>
                <a:lnTo>
                  <a:pt x="1933060" y="0"/>
                </a:lnTo>
                <a:lnTo>
                  <a:pt x="1933060" y="1006419"/>
                </a:lnTo>
                <a:lnTo>
                  <a:pt x="0" y="1006419"/>
                </a:lnTo>
                <a:lnTo>
                  <a:pt x="0" y="0"/>
                </a:lnTo>
                <a:close/>
              </a:path>
            </a:pathLst>
          </a:custGeom>
          <a:blipFill>
            <a:blip r:embed="rId8"/>
            <a:stretch>
              <a:fillRect l="0" t="0" r="0" b="0"/>
            </a:stretch>
          </a:blipFill>
        </p:spPr>
      </p:sp>
      <p:sp>
        <p:nvSpPr>
          <p:cNvPr name="TextBox 27" id="27"/>
          <p:cNvSpPr txBox="true"/>
          <p:nvPr/>
        </p:nvSpPr>
        <p:spPr>
          <a:xfrm rot="0">
            <a:off x="685800" y="1352550"/>
            <a:ext cx="10287000" cy="430530"/>
          </a:xfrm>
          <a:prstGeom prst="rect">
            <a:avLst/>
          </a:prstGeom>
        </p:spPr>
        <p:txBody>
          <a:bodyPr anchor="t" rtlCol="false" tIns="0" lIns="0" bIns="0" rIns="0">
            <a:spAutoFit/>
          </a:bodyPr>
          <a:lstStyle/>
          <a:p>
            <a:pPr algn="l">
              <a:lnSpc>
                <a:spcPts val="1980"/>
              </a:lnSpc>
            </a:pPr>
            <a:r>
              <a:rPr lang="en-US" b="true" sz="1650" spc="449">
                <a:solidFill>
                  <a:srgbClr val="8F6A0A"/>
                </a:solidFill>
                <a:latin typeface="Arial Bold"/>
                <a:ea typeface="Arial Bold"/>
                <a:cs typeface="Arial Bold"/>
                <a:sym typeface="Arial Bold"/>
              </a:rPr>
              <a:t>DBMS PROJECT   |   MySQL DATABASE</a:t>
            </a:r>
          </a:p>
        </p:txBody>
      </p:sp>
      <p:sp>
        <p:nvSpPr>
          <p:cNvPr name="TextBox 28" id="28"/>
          <p:cNvSpPr txBox="true"/>
          <p:nvPr/>
        </p:nvSpPr>
        <p:spPr>
          <a:xfrm rot="0">
            <a:off x="685800" y="2028825"/>
            <a:ext cx="10698480" cy="2908935"/>
          </a:xfrm>
          <a:prstGeom prst="rect">
            <a:avLst/>
          </a:prstGeom>
        </p:spPr>
        <p:txBody>
          <a:bodyPr anchor="t" rtlCol="false" tIns="0" lIns="0" bIns="0" rIns="0">
            <a:spAutoFit/>
          </a:bodyPr>
          <a:lstStyle/>
          <a:p>
            <a:pPr algn="l">
              <a:lnSpc>
                <a:spcPts val="6120"/>
              </a:lnSpc>
            </a:pPr>
            <a:r>
              <a:rPr lang="en-US" sz="5100" b="true">
                <a:solidFill>
                  <a:srgbClr val="2F3237"/>
                </a:solidFill>
                <a:latin typeface="Arial Bold"/>
                <a:ea typeface="Arial Bold"/>
                <a:cs typeface="Arial Bold"/>
                <a:sym typeface="Arial Bold"/>
              </a:rPr>
              <a:t>Road Accident &amp;</a:t>
            </a:r>
          </a:p>
          <a:p>
            <a:pPr algn="l">
              <a:lnSpc>
                <a:spcPts val="6120"/>
              </a:lnSpc>
            </a:pPr>
            <a:r>
              <a:rPr lang="en-US" sz="5100" b="true">
                <a:solidFill>
                  <a:srgbClr val="2F3237"/>
                </a:solidFill>
                <a:latin typeface="Arial Bold"/>
                <a:ea typeface="Arial Bold"/>
                <a:cs typeface="Arial Bold"/>
                <a:sym typeface="Arial Bold"/>
              </a:rPr>
              <a:t>Collision Management</a:t>
            </a:r>
          </a:p>
          <a:p>
            <a:pPr algn="l">
              <a:lnSpc>
                <a:spcPts val="6120"/>
              </a:lnSpc>
            </a:pPr>
            <a:r>
              <a:rPr lang="en-US" sz="5100" b="true">
                <a:solidFill>
                  <a:srgbClr val="2F3237"/>
                </a:solidFill>
                <a:latin typeface="Arial Bold"/>
                <a:ea typeface="Arial Bold"/>
                <a:cs typeface="Arial Bold"/>
                <a:sym typeface="Arial Bold"/>
              </a:rPr>
              <a:t>System (RACMS)</a:t>
            </a:r>
          </a:p>
        </p:txBody>
      </p:sp>
      <p:sp>
        <p:nvSpPr>
          <p:cNvPr name="TextBox 29" id="29"/>
          <p:cNvSpPr txBox="true"/>
          <p:nvPr/>
        </p:nvSpPr>
        <p:spPr>
          <a:xfrm rot="0">
            <a:off x="685800" y="5124450"/>
            <a:ext cx="10698480" cy="430530"/>
          </a:xfrm>
          <a:prstGeom prst="rect">
            <a:avLst/>
          </a:prstGeom>
        </p:spPr>
        <p:txBody>
          <a:bodyPr anchor="t" rtlCol="false" tIns="0" lIns="0" bIns="0" rIns="0">
            <a:spAutoFit/>
          </a:bodyPr>
          <a:lstStyle/>
          <a:p>
            <a:pPr algn="l">
              <a:lnSpc>
                <a:spcPts val="2160"/>
              </a:lnSpc>
            </a:pPr>
            <a:r>
              <a:rPr lang="en-US" sz="1800" b="true">
                <a:solidFill>
                  <a:srgbClr val="8F6A0A"/>
                </a:solidFill>
                <a:latin typeface="Arial Bold"/>
                <a:ea typeface="Arial Bold"/>
                <a:cs typeface="Arial Bold"/>
                <a:sym typeface="Arial Bold"/>
              </a:rPr>
              <a:t>SQL-Based Relational Database, Analytics &amp; Transaction Management</a:t>
            </a:r>
          </a:p>
        </p:txBody>
      </p:sp>
      <p:sp>
        <p:nvSpPr>
          <p:cNvPr name="TextBox 30" id="30"/>
          <p:cNvSpPr txBox="true"/>
          <p:nvPr/>
        </p:nvSpPr>
        <p:spPr>
          <a:xfrm rot="0">
            <a:off x="685800" y="5869305"/>
            <a:ext cx="10287000" cy="714375"/>
          </a:xfrm>
          <a:prstGeom prst="rect">
            <a:avLst/>
          </a:prstGeom>
        </p:spPr>
        <p:txBody>
          <a:bodyPr anchor="t" rtlCol="false" tIns="0" lIns="0" bIns="0" rIns="0">
            <a:spAutoFit/>
          </a:bodyPr>
          <a:lstStyle/>
          <a:p>
            <a:pPr algn="l">
              <a:lnSpc>
                <a:spcPts val="3960"/>
              </a:lnSpc>
            </a:pPr>
            <a:r>
              <a:rPr lang="en-US" sz="3300" b="true">
                <a:solidFill>
                  <a:srgbClr val="2F3237"/>
                </a:solidFill>
                <a:latin typeface="Arial Bold"/>
                <a:ea typeface="Arial Bold"/>
                <a:cs typeface="Arial Bold"/>
                <a:sym typeface="Arial Bold"/>
              </a:rPr>
              <a:t>Prerna Agrawal</a:t>
            </a:r>
          </a:p>
        </p:txBody>
      </p:sp>
      <p:sp>
        <p:nvSpPr>
          <p:cNvPr name="TextBox 31" id="31"/>
          <p:cNvSpPr txBox="true"/>
          <p:nvPr/>
        </p:nvSpPr>
        <p:spPr>
          <a:xfrm rot="0">
            <a:off x="685800" y="6633210"/>
            <a:ext cx="10698480" cy="430530"/>
          </a:xfrm>
          <a:prstGeom prst="rect">
            <a:avLst/>
          </a:prstGeom>
        </p:spPr>
        <p:txBody>
          <a:bodyPr anchor="t" rtlCol="false" tIns="0" lIns="0" bIns="0" rIns="0">
            <a:spAutoFit/>
          </a:bodyPr>
          <a:lstStyle/>
          <a:p>
            <a:pPr algn="l">
              <a:lnSpc>
                <a:spcPts val="2160"/>
              </a:lnSpc>
            </a:pPr>
            <a:r>
              <a:rPr lang="en-US" sz="1800" b="true">
                <a:solidFill>
                  <a:srgbClr val="2B2B2B"/>
                </a:solidFill>
                <a:latin typeface="Arial Bold"/>
                <a:ea typeface="Arial Bold"/>
                <a:cs typeface="Arial Bold"/>
                <a:sym typeface="Arial Bold"/>
              </a:rPr>
              <a:t>Roll No. P39   |   T.Y. CSE (Data Science)   |   Subject: DBMS</a:t>
            </a:r>
          </a:p>
        </p:txBody>
      </p:sp>
      <p:sp>
        <p:nvSpPr>
          <p:cNvPr name="TextBox 32" id="32"/>
          <p:cNvSpPr txBox="true"/>
          <p:nvPr/>
        </p:nvSpPr>
        <p:spPr>
          <a:xfrm rot="0">
            <a:off x="685800" y="7181850"/>
            <a:ext cx="10698480" cy="430530"/>
          </a:xfrm>
          <a:prstGeom prst="rect">
            <a:avLst/>
          </a:prstGeom>
        </p:spPr>
        <p:txBody>
          <a:bodyPr anchor="t" rtlCol="false" tIns="0" lIns="0" bIns="0" rIns="0">
            <a:spAutoFit/>
          </a:bodyPr>
          <a:lstStyle/>
          <a:p>
            <a:pPr algn="l">
              <a:lnSpc>
                <a:spcPts val="1980"/>
              </a:lnSpc>
            </a:pPr>
            <a:r>
              <a:rPr lang="en-US" sz="1650">
                <a:solidFill>
                  <a:srgbClr val="666A70"/>
                </a:solidFill>
                <a:latin typeface="Arial"/>
                <a:ea typeface="Arial"/>
                <a:cs typeface="Arial"/>
                <a:sym typeface="Arial"/>
              </a:rPr>
              <a:t>G H Raisoni College of Engineering and Management, Pune</a:t>
            </a:r>
          </a:p>
        </p:txBody>
      </p:sp>
      <p:sp>
        <p:nvSpPr>
          <p:cNvPr name="TextBox 33" id="33"/>
          <p:cNvSpPr txBox="true"/>
          <p:nvPr/>
        </p:nvSpPr>
        <p:spPr>
          <a:xfrm rot="0">
            <a:off x="685800" y="7730490"/>
            <a:ext cx="10287000" cy="430530"/>
          </a:xfrm>
          <a:prstGeom prst="rect">
            <a:avLst/>
          </a:prstGeom>
        </p:spPr>
        <p:txBody>
          <a:bodyPr anchor="t" rtlCol="false" tIns="0" lIns="0" bIns="0" rIns="0">
            <a:spAutoFit/>
          </a:bodyPr>
          <a:lstStyle/>
          <a:p>
            <a:pPr algn="l">
              <a:lnSpc>
                <a:spcPts val="2160"/>
              </a:lnSpc>
            </a:pPr>
            <a:r>
              <a:rPr lang="en-US" sz="1800" b="true">
                <a:solidFill>
                  <a:srgbClr val="2B2B2B"/>
                </a:solidFill>
                <a:latin typeface="Arial Bold"/>
                <a:ea typeface="Arial Bold"/>
                <a:cs typeface="Arial Bold"/>
                <a:sym typeface="Arial Bold"/>
              </a:rPr>
              <a:t>Guided By: Mr. Chinmay Mukim</a:t>
            </a:r>
          </a:p>
        </p:txBody>
      </p:sp>
      <p:sp>
        <p:nvSpPr>
          <p:cNvPr name="TextBox 34" id="34"/>
          <p:cNvSpPr txBox="true"/>
          <p:nvPr/>
        </p:nvSpPr>
        <p:spPr>
          <a:xfrm rot="0">
            <a:off x="11795760" y="5535930"/>
            <a:ext cx="6487668" cy="430530"/>
          </a:xfrm>
          <a:prstGeom prst="rect">
            <a:avLst/>
          </a:prstGeom>
        </p:spPr>
        <p:txBody>
          <a:bodyPr anchor="t" rtlCol="false" tIns="0" lIns="0" bIns="0" rIns="0">
            <a:spAutoFit/>
          </a:bodyPr>
          <a:lstStyle/>
          <a:p>
            <a:pPr algn="ctr">
              <a:lnSpc>
                <a:spcPts val="1800"/>
              </a:lnSpc>
            </a:pPr>
            <a:r>
              <a:rPr lang="en-US" sz="1500" spc="450">
                <a:solidFill>
                  <a:srgbClr val="8F6A0A"/>
                </a:solidFill>
                <a:latin typeface="Arial"/>
                <a:ea typeface="Arial"/>
                <a:cs typeface="Arial"/>
                <a:sym typeface="Arial"/>
              </a:rPr>
              <a:t>MySQL 8.0  ·  RELATIONAL DATABASE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76275" y="539115"/>
            <a:ext cx="842010" cy="842010"/>
            <a:chOff x="0" y="0"/>
            <a:chExt cx="1122680" cy="1122680"/>
          </a:xfrm>
        </p:grpSpPr>
        <p:sp>
          <p:nvSpPr>
            <p:cNvPr name="Freeform 3" id="3"/>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solidFill>
              <a:srgbClr val="D4A62A"/>
            </a:solidFill>
            <a:ln w="19050" cap="sq">
              <a:solidFill>
                <a:srgbClr val="D4A62A"/>
              </a:solidFill>
              <a:prstDash val="solid"/>
              <a:miter/>
            </a:ln>
          </p:spPr>
        </p:sp>
      </p:grpSp>
      <p:grpSp>
        <p:nvGrpSpPr>
          <p:cNvPr name="Group 4" id="4"/>
          <p:cNvGrpSpPr/>
          <p:nvPr/>
        </p:nvGrpSpPr>
        <p:grpSpPr>
          <a:xfrm rot="0">
            <a:off x="68580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9525"/>
              <a:ext cx="1097280" cy="1106805"/>
            </a:xfrm>
            <a:prstGeom prst="rect">
              <a:avLst/>
            </a:prstGeom>
          </p:spPr>
          <p:txBody>
            <a:bodyPr anchor="ctr" rtlCol="false" tIns="0" lIns="0" bIns="0" rIns="0"/>
            <a:lstStyle/>
            <a:p>
              <a:pPr algn="ctr">
                <a:lnSpc>
                  <a:spcPts val="2879"/>
                </a:lnSpc>
              </a:pPr>
              <a:r>
                <a:rPr lang="en-US" sz="2400" b="true">
                  <a:solidFill>
                    <a:srgbClr val="2F3237"/>
                  </a:solidFill>
                  <a:latin typeface="Arial Bold"/>
                  <a:ea typeface="Arial Bold"/>
                  <a:cs typeface="Arial Bold"/>
                  <a:sym typeface="Arial Bold"/>
                </a:rPr>
                <a:t>02</a:t>
              </a:r>
            </a:p>
          </p:txBody>
        </p:sp>
      </p:grpSp>
      <p:grpSp>
        <p:nvGrpSpPr>
          <p:cNvPr name="Group 7" id="7"/>
          <p:cNvGrpSpPr/>
          <p:nvPr/>
        </p:nvGrpSpPr>
        <p:grpSpPr>
          <a:xfrm rot="0">
            <a:off x="1783080" y="480060"/>
            <a:ext cx="12380642" cy="960120"/>
            <a:chOff x="0" y="0"/>
            <a:chExt cx="16507522" cy="1280160"/>
          </a:xfrm>
        </p:grpSpPr>
        <p:sp>
          <p:nvSpPr>
            <p:cNvPr name="Freeform 8" id="8"/>
            <p:cNvSpPr/>
            <p:nvPr/>
          </p:nvSpPr>
          <p:spPr>
            <a:xfrm flipH="false" flipV="false" rot="0">
              <a:off x="0" y="0"/>
              <a:ext cx="16507523" cy="1280160"/>
            </a:xfrm>
            <a:custGeom>
              <a:avLst/>
              <a:gdLst/>
              <a:ahLst/>
              <a:cxnLst/>
              <a:rect r="r" b="b" t="t" l="l"/>
              <a:pathLst>
                <a:path h="1280160" w="16507523">
                  <a:moveTo>
                    <a:pt x="0" y="0"/>
                  </a:moveTo>
                  <a:lnTo>
                    <a:pt x="16507523" y="0"/>
                  </a:lnTo>
                  <a:lnTo>
                    <a:pt x="16507523" y="1280160"/>
                  </a:lnTo>
                  <a:lnTo>
                    <a:pt x="0" y="1280160"/>
                  </a:lnTo>
                  <a:close/>
                </a:path>
              </a:pathLst>
            </a:custGeom>
            <a:blipFill>
              <a:blip r:embed="rId4">
                <a:alphaModFix amt="0"/>
              </a:blip>
              <a:stretch>
                <a:fillRect l="0" t="-285676" r="0" b="-285676"/>
              </a:stretch>
            </a:blipFill>
          </p:spPr>
        </p:sp>
        <p:sp>
          <p:nvSpPr>
            <p:cNvPr name="TextBox 9" id="9"/>
            <p:cNvSpPr txBox="true"/>
            <p:nvPr/>
          </p:nvSpPr>
          <p:spPr>
            <a:xfrm>
              <a:off x="0" y="-19050"/>
              <a:ext cx="16507522" cy="1299210"/>
            </a:xfrm>
            <a:prstGeom prst="rect">
              <a:avLst/>
            </a:prstGeom>
          </p:spPr>
          <p:txBody>
            <a:bodyPr anchor="ctr" rtlCol="false" tIns="0" lIns="0" bIns="0" rIns="0"/>
            <a:lstStyle/>
            <a:p>
              <a:pPr algn="l">
                <a:lnSpc>
                  <a:spcPts val="4680"/>
                </a:lnSpc>
              </a:pPr>
              <a:r>
                <a:rPr lang="en-US" sz="3900" b="true">
                  <a:solidFill>
                    <a:srgbClr val="2F3237"/>
                  </a:solidFill>
                  <a:latin typeface="Arial Bold"/>
                  <a:ea typeface="Arial Bold"/>
                  <a:cs typeface="Arial Bold"/>
                  <a:sym typeface="Arial Bold"/>
                </a:rPr>
                <a:t>Problem Statement &amp; Proposed Solution</a:t>
              </a:r>
            </a:p>
          </p:txBody>
        </p:sp>
      </p:grpSp>
      <p:grpSp>
        <p:nvGrpSpPr>
          <p:cNvPr name="Group 10" id="10"/>
          <p:cNvGrpSpPr/>
          <p:nvPr/>
        </p:nvGrpSpPr>
        <p:grpSpPr>
          <a:xfrm rot="0">
            <a:off x="678656" y="1844516"/>
            <a:ext cx="8106728" cy="5432108"/>
            <a:chOff x="0" y="0"/>
            <a:chExt cx="10808970" cy="7242810"/>
          </a:xfrm>
        </p:grpSpPr>
        <p:sp>
          <p:nvSpPr>
            <p:cNvPr name="Freeform 11" id="11"/>
            <p:cNvSpPr/>
            <p:nvPr/>
          </p:nvSpPr>
          <p:spPr>
            <a:xfrm flipH="false" flipV="false" rot="0">
              <a:off x="0" y="0"/>
              <a:ext cx="10808970" cy="7242810"/>
            </a:xfrm>
            <a:custGeom>
              <a:avLst/>
              <a:gdLst/>
              <a:ahLst/>
              <a:cxnLst/>
              <a:rect r="r" b="b" t="t" l="l"/>
              <a:pathLst>
                <a:path h="7242810" w="10808970">
                  <a:moveTo>
                    <a:pt x="0" y="0"/>
                  </a:moveTo>
                  <a:lnTo>
                    <a:pt x="10808970" y="0"/>
                  </a:lnTo>
                  <a:lnTo>
                    <a:pt x="10808970" y="7242810"/>
                  </a:lnTo>
                  <a:lnTo>
                    <a:pt x="0" y="7242810"/>
                  </a:lnTo>
                  <a:close/>
                </a:path>
              </a:pathLst>
            </a:custGeom>
            <a:solidFill>
              <a:srgbClr val="F2F2F0"/>
            </a:solidFill>
            <a:ln w="14288" cap="sq">
              <a:solidFill>
                <a:srgbClr val="D9D9D6"/>
              </a:solidFill>
              <a:prstDash val="solid"/>
              <a:miter/>
            </a:ln>
          </p:spPr>
        </p:sp>
      </p:grpSp>
      <p:grpSp>
        <p:nvGrpSpPr>
          <p:cNvPr name="Group 12" id="12"/>
          <p:cNvGrpSpPr/>
          <p:nvPr/>
        </p:nvGrpSpPr>
        <p:grpSpPr>
          <a:xfrm rot="0">
            <a:off x="1019175" y="2185035"/>
            <a:ext cx="773430" cy="773430"/>
            <a:chOff x="0" y="0"/>
            <a:chExt cx="1031240" cy="1031240"/>
          </a:xfrm>
        </p:grpSpPr>
        <p:sp>
          <p:nvSpPr>
            <p:cNvPr name="Freeform 13" id="13"/>
            <p:cNvSpPr/>
            <p:nvPr/>
          </p:nvSpPr>
          <p:spPr>
            <a:xfrm flipH="false" flipV="false" rot="0">
              <a:off x="0" y="0"/>
              <a:ext cx="1031240" cy="1031240"/>
            </a:xfrm>
            <a:custGeom>
              <a:avLst/>
              <a:gdLst/>
              <a:ahLst/>
              <a:cxnLst/>
              <a:rect r="r" b="b" t="t" l="l"/>
              <a:pathLst>
                <a:path h="1031240" w="1031240">
                  <a:moveTo>
                    <a:pt x="0" y="149987"/>
                  </a:moveTo>
                  <a:cubicBezTo>
                    <a:pt x="0" y="67183"/>
                    <a:pt x="67183" y="0"/>
                    <a:pt x="149987" y="0"/>
                  </a:cubicBezTo>
                  <a:lnTo>
                    <a:pt x="881253" y="0"/>
                  </a:lnTo>
                  <a:cubicBezTo>
                    <a:pt x="964057" y="0"/>
                    <a:pt x="1031240" y="67183"/>
                    <a:pt x="1031240" y="149987"/>
                  </a:cubicBezTo>
                  <a:lnTo>
                    <a:pt x="1031240" y="881253"/>
                  </a:lnTo>
                  <a:cubicBezTo>
                    <a:pt x="1031240" y="964057"/>
                    <a:pt x="964057" y="1031240"/>
                    <a:pt x="881253" y="1031240"/>
                  </a:cubicBezTo>
                  <a:lnTo>
                    <a:pt x="149987" y="1031240"/>
                  </a:lnTo>
                  <a:cubicBezTo>
                    <a:pt x="67183" y="1031240"/>
                    <a:pt x="0" y="964057"/>
                    <a:pt x="0" y="881253"/>
                  </a:cubicBezTo>
                  <a:close/>
                </a:path>
              </a:pathLst>
            </a:custGeom>
            <a:solidFill>
              <a:srgbClr val="D4A62A"/>
            </a:solidFill>
            <a:ln w="19050" cap="sq">
              <a:solidFill>
                <a:srgbClr val="D4A62A"/>
              </a:solidFill>
              <a:prstDash val="solid"/>
              <a:miter/>
            </a:ln>
          </p:spPr>
        </p:sp>
      </p:grpSp>
      <p:grpSp>
        <p:nvGrpSpPr>
          <p:cNvPr name="Group 14" id="14"/>
          <p:cNvGrpSpPr/>
          <p:nvPr/>
        </p:nvGrpSpPr>
        <p:grpSpPr>
          <a:xfrm rot="0">
            <a:off x="1194664" y="2360524"/>
            <a:ext cx="422453" cy="422453"/>
            <a:chOff x="0" y="0"/>
            <a:chExt cx="563270" cy="563270"/>
          </a:xfrm>
        </p:grpSpPr>
        <p:sp>
          <p:nvSpPr>
            <p:cNvPr name="Freeform 15" id="15" descr="preencoded.png"/>
            <p:cNvSpPr/>
            <p:nvPr/>
          </p:nvSpPr>
          <p:spPr>
            <a:xfrm flipH="false" flipV="false" rot="0">
              <a:off x="0" y="0"/>
              <a:ext cx="563245" cy="563245"/>
            </a:xfrm>
            <a:custGeom>
              <a:avLst/>
              <a:gdLst/>
              <a:ahLst/>
              <a:cxnLst/>
              <a:rect r="r" b="b" t="t" l="l"/>
              <a:pathLst>
                <a:path h="563245" w="563245">
                  <a:moveTo>
                    <a:pt x="0" y="0"/>
                  </a:moveTo>
                  <a:lnTo>
                    <a:pt x="563245" y="0"/>
                  </a:lnTo>
                  <a:lnTo>
                    <a:pt x="563245" y="563245"/>
                  </a:lnTo>
                  <a:lnTo>
                    <a:pt x="0" y="563245"/>
                  </a:lnTo>
                  <a:lnTo>
                    <a:pt x="0" y="0"/>
                  </a:lnTo>
                  <a:close/>
                </a:path>
              </a:pathLst>
            </a:custGeom>
            <a:blipFill>
              <a:blip r:embed="rId5"/>
              <a:stretch>
                <a:fillRect l="0" t="0" r="-4" b="-4"/>
              </a:stretch>
            </a:blipFill>
          </p:spPr>
        </p:sp>
      </p:grpSp>
      <p:grpSp>
        <p:nvGrpSpPr>
          <p:cNvPr name="Group 16" id="16"/>
          <p:cNvGrpSpPr/>
          <p:nvPr/>
        </p:nvGrpSpPr>
        <p:grpSpPr>
          <a:xfrm rot="0">
            <a:off x="2057400" y="2194560"/>
            <a:ext cx="5486400" cy="754380"/>
            <a:chOff x="0" y="0"/>
            <a:chExt cx="7315200" cy="1005840"/>
          </a:xfrm>
        </p:grpSpPr>
        <p:sp>
          <p:nvSpPr>
            <p:cNvPr name="Freeform 17" id="17"/>
            <p:cNvSpPr/>
            <p:nvPr/>
          </p:nvSpPr>
          <p:spPr>
            <a:xfrm flipH="false" flipV="false" rot="0">
              <a:off x="0" y="0"/>
              <a:ext cx="7315200" cy="1005840"/>
            </a:xfrm>
            <a:custGeom>
              <a:avLst/>
              <a:gdLst/>
              <a:ahLst/>
              <a:cxnLst/>
              <a:rect r="r" b="b" t="t" l="l"/>
              <a:pathLst>
                <a:path h="1005840" w="7315200">
                  <a:moveTo>
                    <a:pt x="0" y="0"/>
                  </a:moveTo>
                  <a:lnTo>
                    <a:pt x="7315200" y="0"/>
                  </a:lnTo>
                  <a:lnTo>
                    <a:pt x="7315200" y="1005840"/>
                  </a:lnTo>
                  <a:lnTo>
                    <a:pt x="0" y="1005840"/>
                  </a:lnTo>
                  <a:close/>
                </a:path>
              </a:pathLst>
            </a:custGeom>
            <a:blipFill>
              <a:blip r:embed="rId3">
                <a:alphaModFix amt="0"/>
              </a:blip>
              <a:stretch>
                <a:fillRect l="0" t="-91709" r="0" b="-91709"/>
              </a:stretch>
            </a:blipFill>
          </p:spPr>
        </p:sp>
        <p:sp>
          <p:nvSpPr>
            <p:cNvPr name="TextBox 18" id="18"/>
            <p:cNvSpPr txBox="true"/>
            <p:nvPr/>
          </p:nvSpPr>
          <p:spPr>
            <a:xfrm>
              <a:off x="0" y="-9525"/>
              <a:ext cx="7315200" cy="1015365"/>
            </a:xfrm>
            <a:prstGeom prst="rect">
              <a:avLst/>
            </a:prstGeom>
          </p:spPr>
          <p:txBody>
            <a:bodyPr anchor="ctr" rtlCol="false" tIns="0" lIns="0" bIns="0" rIns="0"/>
            <a:lstStyle/>
            <a:p>
              <a:pPr algn="l">
                <a:lnSpc>
                  <a:spcPts val="2879"/>
                </a:lnSpc>
              </a:pPr>
              <a:r>
                <a:rPr lang="en-US" sz="2400" b="true">
                  <a:solidFill>
                    <a:srgbClr val="8F6A0A"/>
                  </a:solidFill>
                  <a:latin typeface="Arial Bold"/>
                  <a:ea typeface="Arial Bold"/>
                  <a:cs typeface="Arial Bold"/>
                  <a:sym typeface="Arial Bold"/>
                </a:rPr>
                <a:t>PROBLEM</a:t>
              </a:r>
            </a:p>
          </p:txBody>
        </p:sp>
      </p:grpSp>
      <p:grpSp>
        <p:nvGrpSpPr>
          <p:cNvPr name="Group 19" id="19"/>
          <p:cNvGrpSpPr/>
          <p:nvPr/>
        </p:nvGrpSpPr>
        <p:grpSpPr>
          <a:xfrm rot="0">
            <a:off x="9182576" y="1844516"/>
            <a:ext cx="8422196" cy="5432108"/>
            <a:chOff x="0" y="0"/>
            <a:chExt cx="11229594" cy="7242810"/>
          </a:xfrm>
        </p:grpSpPr>
        <p:sp>
          <p:nvSpPr>
            <p:cNvPr name="Freeform 20" id="20"/>
            <p:cNvSpPr/>
            <p:nvPr/>
          </p:nvSpPr>
          <p:spPr>
            <a:xfrm flipH="false" flipV="false" rot="0">
              <a:off x="0" y="0"/>
              <a:ext cx="11229594" cy="7242810"/>
            </a:xfrm>
            <a:custGeom>
              <a:avLst/>
              <a:gdLst/>
              <a:ahLst/>
              <a:cxnLst/>
              <a:rect r="r" b="b" t="t" l="l"/>
              <a:pathLst>
                <a:path h="7242810" w="11229594">
                  <a:moveTo>
                    <a:pt x="0" y="0"/>
                  </a:moveTo>
                  <a:lnTo>
                    <a:pt x="11229594" y="0"/>
                  </a:lnTo>
                  <a:lnTo>
                    <a:pt x="11229594" y="7242810"/>
                  </a:lnTo>
                  <a:lnTo>
                    <a:pt x="0" y="7242810"/>
                  </a:lnTo>
                  <a:close/>
                </a:path>
              </a:pathLst>
            </a:custGeom>
            <a:solidFill>
              <a:srgbClr val="FBF1D3"/>
            </a:solidFill>
            <a:ln w="14288" cap="sq">
              <a:solidFill>
                <a:srgbClr val="E8D9A5"/>
              </a:solidFill>
              <a:prstDash val="solid"/>
              <a:miter/>
            </a:ln>
          </p:spPr>
        </p:sp>
      </p:grpSp>
      <p:grpSp>
        <p:nvGrpSpPr>
          <p:cNvPr name="Group 21" id="21"/>
          <p:cNvGrpSpPr/>
          <p:nvPr/>
        </p:nvGrpSpPr>
        <p:grpSpPr>
          <a:xfrm rot="0">
            <a:off x="9523095" y="2185035"/>
            <a:ext cx="773430" cy="773430"/>
            <a:chOff x="0" y="0"/>
            <a:chExt cx="1031240" cy="1031240"/>
          </a:xfrm>
        </p:grpSpPr>
        <p:sp>
          <p:nvSpPr>
            <p:cNvPr name="Freeform 22" id="22"/>
            <p:cNvSpPr/>
            <p:nvPr/>
          </p:nvSpPr>
          <p:spPr>
            <a:xfrm flipH="false" flipV="false" rot="0">
              <a:off x="0" y="0"/>
              <a:ext cx="1031240" cy="1031240"/>
            </a:xfrm>
            <a:custGeom>
              <a:avLst/>
              <a:gdLst/>
              <a:ahLst/>
              <a:cxnLst/>
              <a:rect r="r" b="b" t="t" l="l"/>
              <a:pathLst>
                <a:path h="1031240" w="1031240">
                  <a:moveTo>
                    <a:pt x="0" y="149987"/>
                  </a:moveTo>
                  <a:cubicBezTo>
                    <a:pt x="0" y="67183"/>
                    <a:pt x="67183" y="0"/>
                    <a:pt x="149987" y="0"/>
                  </a:cubicBezTo>
                  <a:lnTo>
                    <a:pt x="881253" y="0"/>
                  </a:lnTo>
                  <a:cubicBezTo>
                    <a:pt x="964057" y="0"/>
                    <a:pt x="1031240" y="67183"/>
                    <a:pt x="1031240" y="149987"/>
                  </a:cubicBezTo>
                  <a:lnTo>
                    <a:pt x="1031240" y="881253"/>
                  </a:lnTo>
                  <a:cubicBezTo>
                    <a:pt x="1031240" y="964057"/>
                    <a:pt x="964057" y="1031240"/>
                    <a:pt x="881253" y="1031240"/>
                  </a:cubicBezTo>
                  <a:lnTo>
                    <a:pt x="149987" y="1031240"/>
                  </a:lnTo>
                  <a:cubicBezTo>
                    <a:pt x="67183" y="1031240"/>
                    <a:pt x="0" y="964057"/>
                    <a:pt x="0" y="881253"/>
                  </a:cubicBezTo>
                  <a:close/>
                </a:path>
              </a:pathLst>
            </a:custGeom>
            <a:solidFill>
              <a:srgbClr val="D4A62A"/>
            </a:solidFill>
            <a:ln w="19050" cap="sq">
              <a:solidFill>
                <a:srgbClr val="D4A62A"/>
              </a:solidFill>
              <a:prstDash val="solid"/>
              <a:miter/>
            </a:ln>
          </p:spPr>
        </p:sp>
      </p:grpSp>
      <p:grpSp>
        <p:nvGrpSpPr>
          <p:cNvPr name="Group 23" id="23"/>
          <p:cNvGrpSpPr/>
          <p:nvPr/>
        </p:nvGrpSpPr>
        <p:grpSpPr>
          <a:xfrm rot="0">
            <a:off x="9698584" y="2360524"/>
            <a:ext cx="422453" cy="422453"/>
            <a:chOff x="0" y="0"/>
            <a:chExt cx="563270" cy="563270"/>
          </a:xfrm>
        </p:grpSpPr>
        <p:sp>
          <p:nvSpPr>
            <p:cNvPr name="Freeform 24" id="24" descr="preencoded.png"/>
            <p:cNvSpPr/>
            <p:nvPr/>
          </p:nvSpPr>
          <p:spPr>
            <a:xfrm flipH="false" flipV="false" rot="0">
              <a:off x="0" y="0"/>
              <a:ext cx="563245" cy="563245"/>
            </a:xfrm>
            <a:custGeom>
              <a:avLst/>
              <a:gdLst/>
              <a:ahLst/>
              <a:cxnLst/>
              <a:rect r="r" b="b" t="t" l="l"/>
              <a:pathLst>
                <a:path h="563245" w="563245">
                  <a:moveTo>
                    <a:pt x="0" y="0"/>
                  </a:moveTo>
                  <a:lnTo>
                    <a:pt x="563245" y="0"/>
                  </a:lnTo>
                  <a:lnTo>
                    <a:pt x="563245" y="563245"/>
                  </a:lnTo>
                  <a:lnTo>
                    <a:pt x="0" y="563245"/>
                  </a:lnTo>
                  <a:lnTo>
                    <a:pt x="0" y="0"/>
                  </a:lnTo>
                  <a:close/>
                </a:path>
              </a:pathLst>
            </a:custGeom>
            <a:blipFill>
              <a:blip r:embed="rId6"/>
              <a:stretch>
                <a:fillRect l="0" t="0" r="-4" b="-4"/>
              </a:stretch>
            </a:blipFill>
          </p:spPr>
        </p:sp>
      </p:grpSp>
      <p:grpSp>
        <p:nvGrpSpPr>
          <p:cNvPr name="Group 25" id="25"/>
          <p:cNvGrpSpPr/>
          <p:nvPr/>
        </p:nvGrpSpPr>
        <p:grpSpPr>
          <a:xfrm rot="0">
            <a:off x="10561320" y="2194560"/>
            <a:ext cx="6172200" cy="754380"/>
            <a:chOff x="0" y="0"/>
            <a:chExt cx="8229600" cy="1005840"/>
          </a:xfrm>
        </p:grpSpPr>
        <p:sp>
          <p:nvSpPr>
            <p:cNvPr name="Freeform 26" id="26"/>
            <p:cNvSpPr/>
            <p:nvPr/>
          </p:nvSpPr>
          <p:spPr>
            <a:xfrm flipH="false" flipV="false" rot="0">
              <a:off x="0" y="0"/>
              <a:ext cx="8229600" cy="1005840"/>
            </a:xfrm>
            <a:custGeom>
              <a:avLst/>
              <a:gdLst/>
              <a:ahLst/>
              <a:cxnLst/>
              <a:rect r="r" b="b" t="t" l="l"/>
              <a:pathLst>
                <a:path h="1005840" w="8229600">
                  <a:moveTo>
                    <a:pt x="0" y="0"/>
                  </a:moveTo>
                  <a:lnTo>
                    <a:pt x="8229600" y="0"/>
                  </a:lnTo>
                  <a:lnTo>
                    <a:pt x="8229600" y="1005840"/>
                  </a:lnTo>
                  <a:lnTo>
                    <a:pt x="0" y="1005840"/>
                  </a:lnTo>
                  <a:close/>
                </a:path>
              </a:pathLst>
            </a:custGeom>
            <a:blipFill>
              <a:blip r:embed="rId3">
                <a:alphaModFix amt="0"/>
              </a:blip>
              <a:stretch>
                <a:fillRect l="0" t="-109423" r="0" b="-109423"/>
              </a:stretch>
            </a:blipFill>
          </p:spPr>
        </p:sp>
        <p:sp>
          <p:nvSpPr>
            <p:cNvPr name="TextBox 27" id="27"/>
            <p:cNvSpPr txBox="true"/>
            <p:nvPr/>
          </p:nvSpPr>
          <p:spPr>
            <a:xfrm>
              <a:off x="0" y="-9525"/>
              <a:ext cx="8229600" cy="1015365"/>
            </a:xfrm>
            <a:prstGeom prst="rect">
              <a:avLst/>
            </a:prstGeom>
          </p:spPr>
          <p:txBody>
            <a:bodyPr anchor="ctr" rtlCol="false" tIns="0" lIns="0" bIns="0" rIns="0"/>
            <a:lstStyle/>
            <a:p>
              <a:pPr algn="l">
                <a:lnSpc>
                  <a:spcPts val="2879"/>
                </a:lnSpc>
              </a:pPr>
              <a:r>
                <a:rPr lang="en-US" sz="2400" b="true">
                  <a:solidFill>
                    <a:srgbClr val="8F6A0A"/>
                  </a:solidFill>
                  <a:latin typeface="Arial Bold"/>
                  <a:ea typeface="Arial Bold"/>
                  <a:cs typeface="Arial Bold"/>
                  <a:sym typeface="Arial Bold"/>
                </a:rPr>
                <a:t>PROPOSED SOLUTION</a:t>
              </a:r>
            </a:p>
          </p:txBody>
        </p:sp>
      </p:grpSp>
      <p:grpSp>
        <p:nvGrpSpPr>
          <p:cNvPr name="Group 28" id="28"/>
          <p:cNvGrpSpPr/>
          <p:nvPr/>
        </p:nvGrpSpPr>
        <p:grpSpPr>
          <a:xfrm rot="0">
            <a:off x="685800" y="7618682"/>
            <a:ext cx="16930878" cy="1322070"/>
            <a:chOff x="0" y="0"/>
            <a:chExt cx="22574504" cy="1762760"/>
          </a:xfrm>
        </p:grpSpPr>
        <p:grpSp>
          <p:nvGrpSpPr>
            <p:cNvPr name="Group 29" id="29"/>
            <p:cNvGrpSpPr/>
            <p:nvPr/>
          </p:nvGrpSpPr>
          <p:grpSpPr>
            <a:xfrm rot="0">
              <a:off x="0" y="0"/>
              <a:ext cx="7834376" cy="1762760"/>
              <a:chOff x="0" y="0"/>
              <a:chExt cx="7834376" cy="1762760"/>
            </a:xfrm>
          </p:grpSpPr>
          <p:sp>
            <p:nvSpPr>
              <p:cNvPr name="Freeform 30" id="30"/>
              <p:cNvSpPr/>
              <p:nvPr/>
            </p:nvSpPr>
            <p:spPr>
              <a:xfrm flipH="false" flipV="false" rot="0">
                <a:off x="0" y="0"/>
                <a:ext cx="7834376" cy="1762760"/>
              </a:xfrm>
              <a:custGeom>
                <a:avLst/>
                <a:gdLst/>
                <a:ahLst/>
                <a:cxnLst/>
                <a:rect r="r" b="b" t="t" l="l"/>
                <a:pathLst>
                  <a:path h="1762760" w="7834376">
                    <a:moveTo>
                      <a:pt x="0" y="0"/>
                    </a:moveTo>
                    <a:lnTo>
                      <a:pt x="6952996" y="0"/>
                    </a:lnTo>
                    <a:lnTo>
                      <a:pt x="7834376" y="881380"/>
                    </a:lnTo>
                    <a:lnTo>
                      <a:pt x="6952996" y="1762760"/>
                    </a:lnTo>
                    <a:lnTo>
                      <a:pt x="0" y="1762760"/>
                    </a:lnTo>
                    <a:close/>
                  </a:path>
                </a:pathLst>
              </a:custGeom>
              <a:solidFill>
                <a:srgbClr val="E9E9E6"/>
              </a:solidFill>
              <a:ln w="19050" cap="sq">
                <a:solidFill>
                  <a:srgbClr val="E9E9E6"/>
                </a:solidFill>
                <a:prstDash val="solid"/>
                <a:miter/>
              </a:ln>
            </p:spPr>
          </p:sp>
        </p:grpSp>
        <p:grpSp>
          <p:nvGrpSpPr>
            <p:cNvPr name="Group 31" id="31"/>
            <p:cNvGrpSpPr/>
            <p:nvPr/>
          </p:nvGrpSpPr>
          <p:grpSpPr>
            <a:xfrm rot="0">
              <a:off x="287020" y="12700"/>
              <a:ext cx="6711696" cy="1737360"/>
              <a:chOff x="0" y="0"/>
              <a:chExt cx="6711696" cy="1737360"/>
            </a:xfrm>
          </p:grpSpPr>
          <p:sp>
            <p:nvSpPr>
              <p:cNvPr name="Freeform 32" id="32"/>
              <p:cNvSpPr/>
              <p:nvPr/>
            </p:nvSpPr>
            <p:spPr>
              <a:xfrm flipH="false" flipV="false" rot="0">
                <a:off x="0" y="0"/>
                <a:ext cx="6711696" cy="1737360"/>
              </a:xfrm>
              <a:custGeom>
                <a:avLst/>
                <a:gdLst/>
                <a:ahLst/>
                <a:cxnLst/>
                <a:rect r="r" b="b" t="t" l="l"/>
                <a:pathLst>
                  <a:path h="1737360" w="6711696">
                    <a:moveTo>
                      <a:pt x="0" y="0"/>
                    </a:moveTo>
                    <a:lnTo>
                      <a:pt x="6711696" y="0"/>
                    </a:lnTo>
                    <a:lnTo>
                      <a:pt x="6711696" y="1737360"/>
                    </a:lnTo>
                    <a:lnTo>
                      <a:pt x="0" y="1737360"/>
                    </a:lnTo>
                    <a:close/>
                  </a:path>
                </a:pathLst>
              </a:custGeom>
              <a:blipFill>
                <a:blip r:embed="rId3">
                  <a:alphaModFix amt="0"/>
                </a:blip>
                <a:stretch>
                  <a:fillRect l="0" t="-25273" r="0" b="-25273"/>
                </a:stretch>
              </a:blipFill>
            </p:spPr>
          </p:sp>
          <p:sp>
            <p:nvSpPr>
              <p:cNvPr name="TextBox 33" id="33"/>
              <p:cNvSpPr txBox="true"/>
              <p:nvPr/>
            </p:nvSpPr>
            <p:spPr>
              <a:xfrm>
                <a:off x="0" y="-19050"/>
                <a:ext cx="6711696" cy="1756410"/>
              </a:xfrm>
              <a:prstGeom prst="rect">
                <a:avLst/>
              </a:prstGeom>
            </p:spPr>
            <p:txBody>
              <a:bodyPr anchor="ctr" rtlCol="false" tIns="0" lIns="0" bIns="0" rIns="0"/>
              <a:lstStyle/>
              <a:p>
                <a:pPr algn="ctr">
                  <a:lnSpc>
                    <a:spcPts val="2340"/>
                  </a:lnSpc>
                </a:pPr>
                <a:r>
                  <a:rPr lang="en-US" sz="1950" b="true">
                    <a:solidFill>
                      <a:srgbClr val="2F3237"/>
                    </a:solidFill>
                    <a:latin typeface="Arial Bold"/>
                    <a:ea typeface="Arial Bold"/>
                    <a:cs typeface="Arial Bold"/>
                    <a:sym typeface="Arial Bold"/>
                  </a:rPr>
                  <a:t>Raw Crash Data</a:t>
                </a:r>
              </a:p>
              <a:p>
                <a:pPr algn="ctr">
                  <a:lnSpc>
                    <a:spcPts val="1800"/>
                  </a:lnSpc>
                </a:pPr>
                <a:r>
                  <a:rPr lang="en-US" sz="1500">
                    <a:solidFill>
                      <a:srgbClr val="2F3237"/>
                    </a:solidFill>
                    <a:latin typeface="Arial"/>
                    <a:ea typeface="Arial"/>
                    <a:cs typeface="Arial"/>
                    <a:sym typeface="Arial"/>
                  </a:rPr>
                  <a:t>29 flat columns</a:t>
                </a:r>
              </a:p>
            </p:txBody>
          </p:sp>
        </p:grpSp>
        <p:grpSp>
          <p:nvGrpSpPr>
            <p:cNvPr name="Group 34" id="34"/>
            <p:cNvGrpSpPr/>
            <p:nvPr/>
          </p:nvGrpSpPr>
          <p:grpSpPr>
            <a:xfrm rot="0">
              <a:off x="7370064" y="0"/>
              <a:ext cx="7834376" cy="1762760"/>
              <a:chOff x="0" y="0"/>
              <a:chExt cx="7834376" cy="1762760"/>
            </a:xfrm>
          </p:grpSpPr>
          <p:sp>
            <p:nvSpPr>
              <p:cNvPr name="Freeform 35" id="35"/>
              <p:cNvSpPr/>
              <p:nvPr/>
            </p:nvSpPr>
            <p:spPr>
              <a:xfrm flipH="false" flipV="false" rot="0">
                <a:off x="0" y="0"/>
                <a:ext cx="7834376" cy="1762760"/>
              </a:xfrm>
              <a:custGeom>
                <a:avLst/>
                <a:gdLst/>
                <a:ahLst/>
                <a:cxnLst/>
                <a:rect r="r" b="b" t="t" l="l"/>
                <a:pathLst>
                  <a:path h="1762760" w="7834376">
                    <a:moveTo>
                      <a:pt x="0" y="0"/>
                    </a:moveTo>
                    <a:lnTo>
                      <a:pt x="6952996" y="0"/>
                    </a:lnTo>
                    <a:lnTo>
                      <a:pt x="7834376" y="881380"/>
                    </a:lnTo>
                    <a:lnTo>
                      <a:pt x="6952996" y="1762760"/>
                    </a:lnTo>
                    <a:lnTo>
                      <a:pt x="0" y="1762760"/>
                    </a:lnTo>
                    <a:close/>
                  </a:path>
                </a:pathLst>
              </a:custGeom>
              <a:solidFill>
                <a:srgbClr val="F6E7B5"/>
              </a:solidFill>
              <a:ln w="19050" cap="sq">
                <a:solidFill>
                  <a:srgbClr val="F6E7B5"/>
                </a:solidFill>
                <a:prstDash val="solid"/>
                <a:miter/>
              </a:ln>
            </p:spPr>
          </p:sp>
        </p:grpSp>
        <p:grpSp>
          <p:nvGrpSpPr>
            <p:cNvPr name="Group 36" id="36"/>
            <p:cNvGrpSpPr/>
            <p:nvPr/>
          </p:nvGrpSpPr>
          <p:grpSpPr>
            <a:xfrm rot="0">
              <a:off x="14740128" y="0"/>
              <a:ext cx="7834376" cy="1762760"/>
              <a:chOff x="0" y="0"/>
              <a:chExt cx="7834376" cy="1762760"/>
            </a:xfrm>
          </p:grpSpPr>
          <p:sp>
            <p:nvSpPr>
              <p:cNvPr name="Freeform 37" id="37"/>
              <p:cNvSpPr/>
              <p:nvPr/>
            </p:nvSpPr>
            <p:spPr>
              <a:xfrm flipH="false" flipV="false" rot="0">
                <a:off x="0" y="0"/>
                <a:ext cx="7834376" cy="1762760"/>
              </a:xfrm>
              <a:custGeom>
                <a:avLst/>
                <a:gdLst/>
                <a:ahLst/>
                <a:cxnLst/>
                <a:rect r="r" b="b" t="t" l="l"/>
                <a:pathLst>
                  <a:path h="1762760" w="7834376">
                    <a:moveTo>
                      <a:pt x="0" y="0"/>
                    </a:moveTo>
                    <a:lnTo>
                      <a:pt x="6952996" y="0"/>
                    </a:lnTo>
                    <a:lnTo>
                      <a:pt x="7834376" y="881380"/>
                    </a:lnTo>
                    <a:lnTo>
                      <a:pt x="6952996" y="1762760"/>
                    </a:lnTo>
                    <a:lnTo>
                      <a:pt x="0" y="1762760"/>
                    </a:lnTo>
                    <a:close/>
                  </a:path>
                </a:pathLst>
              </a:custGeom>
              <a:solidFill>
                <a:srgbClr val="D4A62A"/>
              </a:solidFill>
              <a:ln w="19050" cap="sq">
                <a:solidFill>
                  <a:srgbClr val="D4A62A"/>
                </a:solidFill>
                <a:prstDash val="solid"/>
                <a:miter/>
              </a:ln>
            </p:spPr>
          </p:sp>
        </p:grpSp>
        <p:grpSp>
          <p:nvGrpSpPr>
            <p:cNvPr name="Group 38" id="38"/>
            <p:cNvGrpSpPr/>
            <p:nvPr/>
          </p:nvGrpSpPr>
          <p:grpSpPr>
            <a:xfrm rot="0">
              <a:off x="15027148" y="12700"/>
              <a:ext cx="6711696" cy="1737360"/>
              <a:chOff x="0" y="0"/>
              <a:chExt cx="6711696" cy="1737360"/>
            </a:xfrm>
          </p:grpSpPr>
          <p:sp>
            <p:nvSpPr>
              <p:cNvPr name="Freeform 39" id="39"/>
              <p:cNvSpPr/>
              <p:nvPr/>
            </p:nvSpPr>
            <p:spPr>
              <a:xfrm flipH="false" flipV="false" rot="0">
                <a:off x="0" y="0"/>
                <a:ext cx="6711696" cy="1737360"/>
              </a:xfrm>
              <a:custGeom>
                <a:avLst/>
                <a:gdLst/>
                <a:ahLst/>
                <a:cxnLst/>
                <a:rect r="r" b="b" t="t" l="l"/>
                <a:pathLst>
                  <a:path h="1737360" w="6711696">
                    <a:moveTo>
                      <a:pt x="0" y="0"/>
                    </a:moveTo>
                    <a:lnTo>
                      <a:pt x="6711696" y="0"/>
                    </a:lnTo>
                    <a:lnTo>
                      <a:pt x="6711696" y="1737360"/>
                    </a:lnTo>
                    <a:lnTo>
                      <a:pt x="0" y="1737360"/>
                    </a:lnTo>
                    <a:close/>
                  </a:path>
                </a:pathLst>
              </a:custGeom>
              <a:blipFill>
                <a:blip r:embed="rId3">
                  <a:alphaModFix amt="0"/>
                </a:blip>
                <a:stretch>
                  <a:fillRect l="0" t="-25273" r="0" b="-25273"/>
                </a:stretch>
              </a:blipFill>
            </p:spPr>
          </p:sp>
          <p:sp>
            <p:nvSpPr>
              <p:cNvPr name="TextBox 40" id="40"/>
              <p:cNvSpPr txBox="true"/>
              <p:nvPr/>
            </p:nvSpPr>
            <p:spPr>
              <a:xfrm>
                <a:off x="0" y="-19050"/>
                <a:ext cx="6711696" cy="1756410"/>
              </a:xfrm>
              <a:prstGeom prst="rect">
                <a:avLst/>
              </a:prstGeom>
            </p:spPr>
            <p:txBody>
              <a:bodyPr anchor="ctr" rtlCol="false" tIns="0" lIns="0" bIns="0" rIns="0"/>
              <a:lstStyle/>
              <a:p>
                <a:pPr algn="ctr">
                  <a:lnSpc>
                    <a:spcPts val="2340"/>
                  </a:lnSpc>
                </a:pPr>
                <a:r>
                  <a:rPr lang="en-US" sz="1950" b="true">
                    <a:solidFill>
                      <a:srgbClr val="2F3237"/>
                    </a:solidFill>
                    <a:latin typeface="Arial Bold"/>
                    <a:ea typeface="Arial Bold"/>
                    <a:cs typeface="Arial Bold"/>
                    <a:sym typeface="Arial Bold"/>
                  </a:rPr>
                  <a:t>Joins · Views · Transactions</a:t>
                </a:r>
              </a:p>
            </p:txBody>
          </p:sp>
        </p:grpSp>
        <p:grpSp>
          <p:nvGrpSpPr>
            <p:cNvPr name="Group 41" id="41"/>
            <p:cNvGrpSpPr/>
            <p:nvPr/>
          </p:nvGrpSpPr>
          <p:grpSpPr>
            <a:xfrm rot="0">
              <a:off x="7754716" y="0"/>
              <a:ext cx="6711696" cy="1737360"/>
              <a:chOff x="0" y="0"/>
              <a:chExt cx="6711696" cy="1737360"/>
            </a:xfrm>
          </p:grpSpPr>
          <p:sp>
            <p:nvSpPr>
              <p:cNvPr name="Freeform 42" id="42"/>
              <p:cNvSpPr/>
              <p:nvPr/>
            </p:nvSpPr>
            <p:spPr>
              <a:xfrm flipH="false" flipV="false" rot="0">
                <a:off x="0" y="0"/>
                <a:ext cx="6711696" cy="1737360"/>
              </a:xfrm>
              <a:custGeom>
                <a:avLst/>
                <a:gdLst/>
                <a:ahLst/>
                <a:cxnLst/>
                <a:rect r="r" b="b" t="t" l="l"/>
                <a:pathLst>
                  <a:path h="1737360" w="6711696">
                    <a:moveTo>
                      <a:pt x="0" y="0"/>
                    </a:moveTo>
                    <a:lnTo>
                      <a:pt x="6711696" y="0"/>
                    </a:lnTo>
                    <a:lnTo>
                      <a:pt x="6711696" y="1737360"/>
                    </a:lnTo>
                    <a:lnTo>
                      <a:pt x="0" y="1737360"/>
                    </a:lnTo>
                    <a:close/>
                  </a:path>
                </a:pathLst>
              </a:custGeom>
              <a:blipFill>
                <a:blip r:embed="rId3">
                  <a:alphaModFix amt="0"/>
                </a:blip>
                <a:stretch>
                  <a:fillRect l="0" t="-25273" r="0" b="-25273"/>
                </a:stretch>
              </a:blipFill>
            </p:spPr>
          </p:sp>
          <p:sp>
            <p:nvSpPr>
              <p:cNvPr name="TextBox 43" id="43"/>
              <p:cNvSpPr txBox="true"/>
              <p:nvPr/>
            </p:nvSpPr>
            <p:spPr>
              <a:xfrm>
                <a:off x="0" y="-19050"/>
                <a:ext cx="6711696" cy="1756410"/>
              </a:xfrm>
              <a:prstGeom prst="rect">
                <a:avLst/>
              </a:prstGeom>
            </p:spPr>
            <p:txBody>
              <a:bodyPr anchor="ctr" rtlCol="false" tIns="0" lIns="0" bIns="0" rIns="0"/>
              <a:lstStyle/>
              <a:p>
                <a:pPr algn="ctr">
                  <a:lnSpc>
                    <a:spcPts val="2340"/>
                  </a:lnSpc>
                </a:pPr>
                <a:r>
                  <a:rPr lang="en-US" sz="1950" b="true">
                    <a:solidFill>
                      <a:srgbClr val="2F3237"/>
                    </a:solidFill>
                    <a:latin typeface="Arial Bold"/>
                    <a:ea typeface="Arial Bold"/>
                    <a:cs typeface="Arial Bold"/>
                    <a:sym typeface="Arial Bold"/>
                  </a:rPr>
                  <a:t>Normalized MySQL DB</a:t>
                </a:r>
              </a:p>
              <a:p>
                <a:pPr algn="ctr">
                  <a:lnSpc>
                    <a:spcPts val="1800"/>
                  </a:lnSpc>
                </a:pPr>
                <a:r>
                  <a:rPr lang="en-US" sz="1500">
                    <a:solidFill>
                      <a:srgbClr val="2F3237"/>
                    </a:solidFill>
                    <a:latin typeface="Arial"/>
                    <a:ea typeface="Arial"/>
                    <a:cs typeface="Arial"/>
                    <a:sym typeface="Arial"/>
                  </a:rPr>
                  <a:t>9 BCNF tables</a:t>
                </a:r>
              </a:p>
            </p:txBody>
          </p:sp>
        </p:grpSp>
      </p:grpSp>
      <p:sp>
        <p:nvSpPr>
          <p:cNvPr name="Freeform 44" id="44"/>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4"/>
            <a:stretch>
              <a:fillRect l="0" t="0" r="0" b="0"/>
            </a:stretch>
          </a:blipFill>
        </p:spPr>
      </p:sp>
      <p:sp>
        <p:nvSpPr>
          <p:cNvPr name="Freeform 45" id="45"/>
          <p:cNvSpPr/>
          <p:nvPr/>
        </p:nvSpPr>
        <p:spPr>
          <a:xfrm flipH="false" flipV="false" rot="0">
            <a:off x="16399450" y="3046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4"/>
            <a:stretch>
              <a:fillRect l="0" t="0" r="0" b="0"/>
            </a:stretch>
          </a:blipFill>
        </p:spPr>
      </p:sp>
      <p:sp>
        <p:nvSpPr>
          <p:cNvPr name="Freeform 46" id="46"/>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7"/>
            <a:stretch>
              <a:fillRect l="0" t="-22657" r="-4334" b="-20699"/>
            </a:stretch>
          </a:blipFill>
        </p:spPr>
      </p:sp>
      <p:sp>
        <p:nvSpPr>
          <p:cNvPr name="TextBox 47" id="47"/>
          <p:cNvSpPr txBox="true"/>
          <p:nvPr/>
        </p:nvSpPr>
        <p:spPr>
          <a:xfrm rot="0">
            <a:off x="1165860" y="3419475"/>
            <a:ext cx="7132320" cy="3712845"/>
          </a:xfrm>
          <a:prstGeom prst="rect">
            <a:avLst/>
          </a:prstGeom>
        </p:spPr>
        <p:txBody>
          <a:bodyPr anchor="t" rtlCol="false" tIns="0" lIns="0" bIns="0" rIns="0">
            <a:spAutoFit/>
          </a:bodyPr>
          <a:lstStyle/>
          <a:p>
            <a:pPr algn="l" marL="380048" indent="-190024" lvl="1">
              <a:lnSpc>
                <a:spcPts val="2520"/>
              </a:lnSpc>
              <a:buFont typeface="Arial"/>
              <a:buChar char="•"/>
            </a:pPr>
            <a:r>
              <a:rPr lang="en-US" sz="2100">
                <a:solidFill>
                  <a:srgbClr val="2B2B2B"/>
                </a:solidFill>
                <a:latin typeface="Arial"/>
                <a:ea typeface="Arial"/>
                <a:cs typeface="Arial"/>
                <a:sym typeface="Arial"/>
              </a:rPr>
              <a:t>Raw NYPD crash data has 29 flat columns</a:t>
            </a:r>
          </a:p>
          <a:p>
            <a:pPr algn="l" marL="380048" indent="-190024" lvl="1">
              <a:lnSpc>
                <a:spcPts val="2520"/>
              </a:lnSpc>
              <a:buFont typeface="Arial"/>
              <a:buChar char="•"/>
            </a:pPr>
            <a:r>
              <a:rPr lang="en-US" sz="2100">
                <a:solidFill>
                  <a:srgbClr val="2B2B2B"/>
                </a:solidFill>
                <a:latin typeface="Arial"/>
                <a:ea typeface="Arial"/>
                <a:cs typeface="Arial"/>
                <a:sym typeface="Arial"/>
              </a:rPr>
              <a:t>Heavy data redundancy</a:t>
            </a:r>
          </a:p>
          <a:p>
            <a:pPr algn="l" marL="380048" indent="-190024" lvl="1">
              <a:lnSpc>
                <a:spcPts val="2520"/>
              </a:lnSpc>
              <a:buFont typeface="Arial"/>
              <a:buChar char="•"/>
            </a:pPr>
            <a:r>
              <a:rPr lang="en-US" sz="2100">
                <a:solidFill>
                  <a:srgbClr val="2B2B2B"/>
                </a:solidFill>
                <a:latin typeface="Arial"/>
                <a:ea typeface="Arial"/>
                <a:cs typeface="Arial"/>
                <a:sym typeface="Arial"/>
              </a:rPr>
              <a:t>Repeating vehicle &amp; factor columns break 1NF</a:t>
            </a:r>
          </a:p>
          <a:p>
            <a:pPr algn="l" marL="380048" indent="-190024" lvl="1">
              <a:lnSpc>
                <a:spcPts val="2520"/>
              </a:lnSpc>
              <a:buFont typeface="Arial"/>
              <a:buChar char="•"/>
            </a:pPr>
            <a:r>
              <a:rPr lang="en-US" sz="2100">
                <a:solidFill>
                  <a:srgbClr val="2B2B2B"/>
                </a:solidFill>
                <a:latin typeface="Arial"/>
                <a:ea typeface="Arial"/>
                <a:cs typeface="Arial"/>
                <a:sym typeface="Arial"/>
              </a:rPr>
              <a:t>Transitive dependencies cause update, insert &amp; delete anomalies</a:t>
            </a:r>
          </a:p>
        </p:txBody>
      </p:sp>
      <p:sp>
        <p:nvSpPr>
          <p:cNvPr name="TextBox 48" id="48"/>
          <p:cNvSpPr txBox="true"/>
          <p:nvPr/>
        </p:nvSpPr>
        <p:spPr>
          <a:xfrm rot="0">
            <a:off x="9669780" y="3409950"/>
            <a:ext cx="7543800" cy="3790950"/>
          </a:xfrm>
          <a:prstGeom prst="rect">
            <a:avLst/>
          </a:prstGeom>
        </p:spPr>
        <p:txBody>
          <a:bodyPr anchor="t" rtlCol="false" tIns="0" lIns="0" bIns="0" rIns="0">
            <a:spAutoFit/>
          </a:bodyPr>
          <a:lstStyle/>
          <a:p>
            <a:pPr algn="l" marL="352901" indent="-176451" lvl="1">
              <a:lnSpc>
                <a:spcPts val="2340"/>
              </a:lnSpc>
              <a:buFont typeface="Arial"/>
              <a:buChar char="•"/>
            </a:pPr>
            <a:r>
              <a:rPr lang="en-US" b="true" sz="1950">
                <a:solidFill>
                  <a:srgbClr val="2B2B2B"/>
                </a:solidFill>
                <a:latin typeface="Arial Bold"/>
                <a:ea typeface="Arial Bold"/>
                <a:cs typeface="Arial Bold"/>
                <a:sym typeface="Arial Bold"/>
              </a:rPr>
              <a:t>9 BCNF tables</a:t>
            </a:r>
            <a:r>
              <a:rPr lang="en-US" sz="1950">
                <a:solidFill>
                  <a:srgbClr val="2B2B2B"/>
                </a:solidFill>
                <a:latin typeface="Arial"/>
                <a:ea typeface="Arial"/>
                <a:cs typeface="Arial"/>
                <a:sym typeface="Arial"/>
              </a:rPr>
              <a:t> – normalized from the flat data</a:t>
            </a:r>
          </a:p>
          <a:p>
            <a:pPr algn="l" marL="352901" indent="-176451" lvl="1">
              <a:lnSpc>
                <a:spcPts val="2340"/>
              </a:lnSpc>
              <a:buFont typeface="Arial"/>
              <a:buChar char="•"/>
            </a:pPr>
            <a:r>
              <a:rPr lang="en-US" b="true" sz="1950">
                <a:solidFill>
                  <a:srgbClr val="2B2B2B"/>
                </a:solidFill>
                <a:latin typeface="Arial Bold"/>
                <a:ea typeface="Arial Bold"/>
                <a:cs typeface="Arial Bold"/>
                <a:sym typeface="Arial Bold"/>
              </a:rPr>
              <a:t>Joins</a:t>
            </a:r>
            <a:r>
              <a:rPr lang="en-US" sz="1950">
                <a:solidFill>
                  <a:srgbClr val="2B2B2B"/>
                </a:solidFill>
                <a:latin typeface="Arial"/>
                <a:ea typeface="Arial"/>
                <a:cs typeface="Arial"/>
                <a:sym typeface="Arial"/>
              </a:rPr>
              <a:t> – full collision analysis</a:t>
            </a:r>
          </a:p>
          <a:p>
            <a:pPr algn="l" marL="352901" indent="-176451" lvl="1">
              <a:lnSpc>
                <a:spcPts val="2340"/>
              </a:lnSpc>
              <a:buFont typeface="Arial"/>
              <a:buChar char="•"/>
            </a:pPr>
            <a:r>
              <a:rPr lang="en-US" b="true" sz="1950">
                <a:solidFill>
                  <a:srgbClr val="2B2B2B"/>
                </a:solidFill>
                <a:latin typeface="Arial Bold"/>
                <a:ea typeface="Arial Bold"/>
                <a:cs typeface="Arial Bold"/>
                <a:sym typeface="Arial Bold"/>
              </a:rPr>
              <a:t>Stored Procedure</a:t>
            </a:r>
            <a:r>
              <a:rPr lang="en-US" sz="1950">
                <a:solidFill>
                  <a:srgbClr val="2B2B2B"/>
                </a:solidFill>
                <a:latin typeface="Arial"/>
                <a:ea typeface="Arial"/>
                <a:cs typeface="Arial"/>
                <a:sym typeface="Arial"/>
              </a:rPr>
              <a:t> – transactional registration</a:t>
            </a:r>
          </a:p>
          <a:p>
            <a:pPr algn="l" marL="352901" indent="-176451" lvl="1">
              <a:lnSpc>
                <a:spcPts val="2340"/>
              </a:lnSpc>
              <a:buFont typeface="Arial"/>
              <a:buChar char="•"/>
            </a:pPr>
            <a:r>
              <a:rPr lang="en-US" b="true" sz="1950">
                <a:solidFill>
                  <a:srgbClr val="2B2B2B"/>
                </a:solidFill>
                <a:latin typeface="Arial Bold"/>
                <a:ea typeface="Arial Bold"/>
                <a:cs typeface="Arial Bold"/>
                <a:sym typeface="Arial Bold"/>
              </a:rPr>
              <a:t>Triggers</a:t>
            </a:r>
            <a:r>
              <a:rPr lang="en-US" sz="1950">
                <a:solidFill>
                  <a:srgbClr val="2B2B2B"/>
                </a:solidFill>
                <a:latin typeface="Arial"/>
                <a:ea typeface="Arial"/>
                <a:cs typeface="Arial"/>
                <a:sym typeface="Arial"/>
              </a:rPr>
              <a:t> – validation &amp; audit logging</a:t>
            </a:r>
          </a:p>
          <a:p>
            <a:pPr algn="l" marL="352901" indent="-176451" lvl="1">
              <a:lnSpc>
                <a:spcPts val="2340"/>
              </a:lnSpc>
              <a:buFont typeface="Arial"/>
              <a:buChar char="•"/>
            </a:pPr>
            <a:r>
              <a:rPr lang="en-US" b="true" sz="1950">
                <a:solidFill>
                  <a:srgbClr val="2B2B2B"/>
                </a:solidFill>
                <a:latin typeface="Arial Bold"/>
                <a:ea typeface="Arial Bold"/>
                <a:cs typeface="Arial Bold"/>
                <a:sym typeface="Arial Bold"/>
              </a:rPr>
              <a:t>Views</a:t>
            </a:r>
            <a:r>
              <a:rPr lang="en-US" sz="1950">
                <a:solidFill>
                  <a:srgbClr val="2B2B2B"/>
                </a:solidFill>
                <a:latin typeface="Arial"/>
                <a:ea typeface="Arial"/>
                <a:cs typeface="Arial"/>
                <a:sym typeface="Arial"/>
              </a:rPr>
              <a:t> – borough-level reports</a:t>
            </a:r>
          </a:p>
          <a:p>
            <a:pPr algn="l" marL="352901" indent="-176451" lvl="1">
              <a:lnSpc>
                <a:spcPts val="2340"/>
              </a:lnSpc>
              <a:buFont typeface="Arial"/>
              <a:buChar char="•"/>
            </a:pPr>
            <a:r>
              <a:rPr lang="en-US" b="true" sz="1950">
                <a:solidFill>
                  <a:srgbClr val="2B2B2B"/>
                </a:solidFill>
                <a:latin typeface="Arial Bold"/>
                <a:ea typeface="Arial Bold"/>
                <a:cs typeface="Arial Bold"/>
                <a:sym typeface="Arial Bold"/>
              </a:rPr>
              <a:t>300+</a:t>
            </a:r>
            <a:r>
              <a:rPr lang="en-US" sz="1950">
                <a:solidFill>
                  <a:srgbClr val="2B2B2B"/>
                </a:solidFill>
                <a:latin typeface="Arial"/>
                <a:ea typeface="Arial"/>
                <a:cs typeface="Arial"/>
                <a:sym typeface="Arial"/>
              </a:rPr>
              <a:t> – real NYPD crash records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76275" y="539115"/>
            <a:ext cx="842010" cy="842010"/>
            <a:chOff x="0" y="0"/>
            <a:chExt cx="1122680" cy="1122680"/>
          </a:xfrm>
        </p:grpSpPr>
        <p:sp>
          <p:nvSpPr>
            <p:cNvPr name="Freeform 3" id="3"/>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solidFill>
              <a:srgbClr val="D4A62A"/>
            </a:solidFill>
            <a:ln w="19050" cap="sq">
              <a:solidFill>
                <a:srgbClr val="D4A62A"/>
              </a:solidFill>
              <a:prstDash val="solid"/>
              <a:miter/>
            </a:ln>
          </p:spPr>
        </p:sp>
      </p:grpSp>
      <p:grpSp>
        <p:nvGrpSpPr>
          <p:cNvPr name="Group 4" id="4"/>
          <p:cNvGrpSpPr/>
          <p:nvPr/>
        </p:nvGrpSpPr>
        <p:grpSpPr>
          <a:xfrm rot="0">
            <a:off x="68580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9525"/>
              <a:ext cx="1097280" cy="1106805"/>
            </a:xfrm>
            <a:prstGeom prst="rect">
              <a:avLst/>
            </a:prstGeom>
          </p:spPr>
          <p:txBody>
            <a:bodyPr anchor="ctr" rtlCol="false" tIns="0" lIns="0" bIns="0" rIns="0"/>
            <a:lstStyle/>
            <a:p>
              <a:pPr algn="ctr">
                <a:lnSpc>
                  <a:spcPts val="2879"/>
                </a:lnSpc>
              </a:pPr>
              <a:r>
                <a:rPr lang="en-US" sz="2400" b="true">
                  <a:solidFill>
                    <a:srgbClr val="2F3237"/>
                  </a:solidFill>
                  <a:latin typeface="Arial Bold"/>
                  <a:ea typeface="Arial Bold"/>
                  <a:cs typeface="Arial Bold"/>
                  <a:sym typeface="Arial Bold"/>
                </a:rPr>
                <a:t>03</a:t>
              </a:r>
            </a:p>
          </p:txBody>
        </p:sp>
      </p:grpSp>
      <p:grpSp>
        <p:nvGrpSpPr>
          <p:cNvPr name="Group 7" id="7"/>
          <p:cNvGrpSpPr/>
          <p:nvPr/>
        </p:nvGrpSpPr>
        <p:grpSpPr>
          <a:xfrm rot="0">
            <a:off x="1783080" y="480060"/>
            <a:ext cx="11967421" cy="960120"/>
            <a:chOff x="0" y="0"/>
            <a:chExt cx="15956562" cy="1280160"/>
          </a:xfrm>
        </p:grpSpPr>
        <p:sp>
          <p:nvSpPr>
            <p:cNvPr name="Freeform 8" id="8"/>
            <p:cNvSpPr/>
            <p:nvPr/>
          </p:nvSpPr>
          <p:spPr>
            <a:xfrm flipH="false" flipV="false" rot="0">
              <a:off x="0" y="0"/>
              <a:ext cx="15956561" cy="1280160"/>
            </a:xfrm>
            <a:custGeom>
              <a:avLst/>
              <a:gdLst/>
              <a:ahLst/>
              <a:cxnLst/>
              <a:rect r="r" b="b" t="t" l="l"/>
              <a:pathLst>
                <a:path h="1280160" w="15956561">
                  <a:moveTo>
                    <a:pt x="0" y="0"/>
                  </a:moveTo>
                  <a:lnTo>
                    <a:pt x="15956561" y="0"/>
                  </a:lnTo>
                  <a:lnTo>
                    <a:pt x="15956561" y="1280160"/>
                  </a:lnTo>
                  <a:lnTo>
                    <a:pt x="0" y="1280160"/>
                  </a:lnTo>
                  <a:close/>
                </a:path>
              </a:pathLst>
            </a:custGeom>
            <a:blipFill>
              <a:blip r:embed="rId3">
                <a:alphaModFix amt="0"/>
              </a:blip>
              <a:stretch>
                <a:fillRect l="0" t="-270111" r="-31802" b="-270111"/>
              </a:stretch>
            </a:blipFill>
          </p:spPr>
        </p:sp>
        <p:sp>
          <p:nvSpPr>
            <p:cNvPr name="TextBox 9" id="9"/>
            <p:cNvSpPr txBox="true"/>
            <p:nvPr/>
          </p:nvSpPr>
          <p:spPr>
            <a:xfrm>
              <a:off x="0" y="-19050"/>
              <a:ext cx="15956562" cy="1299210"/>
            </a:xfrm>
            <a:prstGeom prst="rect">
              <a:avLst/>
            </a:prstGeom>
          </p:spPr>
          <p:txBody>
            <a:bodyPr anchor="ctr" rtlCol="false" tIns="0" lIns="0" bIns="0" rIns="0"/>
            <a:lstStyle/>
            <a:p>
              <a:pPr algn="l">
                <a:lnSpc>
                  <a:spcPts val="4680"/>
                </a:lnSpc>
              </a:pPr>
              <a:r>
                <a:rPr lang="en-US" sz="3900" b="true">
                  <a:solidFill>
                    <a:srgbClr val="2F3237"/>
                  </a:solidFill>
                  <a:latin typeface="Arial Bold"/>
                  <a:ea typeface="Arial Bold"/>
                  <a:cs typeface="Arial Bold"/>
                  <a:sym typeface="Arial Bold"/>
                </a:rPr>
                <a:t>Dataset Engineering &amp; Normalization Journey</a:t>
              </a:r>
            </a:p>
          </p:txBody>
        </p:sp>
      </p:grpSp>
      <p:sp>
        <p:nvSpPr>
          <p:cNvPr name="TextBox 10" id="10"/>
          <p:cNvSpPr txBox="true"/>
          <p:nvPr/>
        </p:nvSpPr>
        <p:spPr>
          <a:xfrm rot="0">
            <a:off x="685800" y="1499235"/>
            <a:ext cx="16870680" cy="421005"/>
          </a:xfrm>
          <a:prstGeom prst="rect">
            <a:avLst/>
          </a:prstGeom>
        </p:spPr>
        <p:txBody>
          <a:bodyPr anchor="t" rtlCol="false" tIns="0" lIns="0" bIns="0" rIns="0">
            <a:spAutoFit/>
          </a:bodyPr>
          <a:lstStyle/>
          <a:p>
            <a:pPr algn="l">
              <a:lnSpc>
                <a:spcPts val="1889"/>
              </a:lnSpc>
            </a:pPr>
            <a:r>
              <a:rPr lang="en-US" sz="1575" i="true">
                <a:solidFill>
                  <a:srgbClr val="666A70"/>
                </a:solidFill>
                <a:latin typeface="Arial Italics"/>
                <a:ea typeface="Arial Italics"/>
                <a:cs typeface="Arial Italics"/>
                <a:sym typeface="Arial Italics"/>
              </a:rPr>
              <a:t>Dataset: NYPD Motor Vehicle Collisions – Crashes (NYC Open Data Portal, ID h9gi-nx95)</a:t>
            </a:r>
          </a:p>
        </p:txBody>
      </p:sp>
      <p:grpSp>
        <p:nvGrpSpPr>
          <p:cNvPr name="Group 11" id="11"/>
          <p:cNvGrpSpPr/>
          <p:nvPr/>
        </p:nvGrpSpPr>
        <p:grpSpPr>
          <a:xfrm rot="0">
            <a:off x="678656" y="2050256"/>
            <a:ext cx="3991928" cy="5157788"/>
            <a:chOff x="0" y="0"/>
            <a:chExt cx="5322570" cy="6877050"/>
          </a:xfrm>
        </p:grpSpPr>
        <p:sp>
          <p:nvSpPr>
            <p:cNvPr name="Freeform 12" id="12"/>
            <p:cNvSpPr/>
            <p:nvPr/>
          </p:nvSpPr>
          <p:spPr>
            <a:xfrm flipH="false" flipV="false" rot="0">
              <a:off x="0" y="0"/>
              <a:ext cx="5322570" cy="6877050"/>
            </a:xfrm>
            <a:custGeom>
              <a:avLst/>
              <a:gdLst/>
              <a:ahLst/>
              <a:cxnLst/>
              <a:rect r="r" b="b" t="t" l="l"/>
              <a:pathLst>
                <a:path h="6877050" w="5322570">
                  <a:moveTo>
                    <a:pt x="0" y="0"/>
                  </a:moveTo>
                  <a:lnTo>
                    <a:pt x="5322570" y="0"/>
                  </a:lnTo>
                  <a:lnTo>
                    <a:pt x="5322570" y="6877050"/>
                  </a:lnTo>
                  <a:lnTo>
                    <a:pt x="0" y="6877050"/>
                  </a:lnTo>
                  <a:close/>
                </a:path>
              </a:pathLst>
            </a:custGeom>
            <a:solidFill>
              <a:srgbClr val="F2F2F0"/>
            </a:solidFill>
            <a:ln w="14288" cap="sq">
              <a:solidFill>
                <a:srgbClr val="D9D9D6"/>
              </a:solidFill>
              <a:prstDash val="solid"/>
              <a:miter/>
            </a:ln>
          </p:spPr>
        </p:sp>
      </p:grpSp>
      <p:grpSp>
        <p:nvGrpSpPr>
          <p:cNvPr name="Group 13" id="13"/>
          <p:cNvGrpSpPr/>
          <p:nvPr/>
        </p:nvGrpSpPr>
        <p:grpSpPr>
          <a:xfrm rot="0">
            <a:off x="950595" y="2322195"/>
            <a:ext cx="1527810" cy="704850"/>
            <a:chOff x="0" y="0"/>
            <a:chExt cx="2037080" cy="939800"/>
          </a:xfrm>
        </p:grpSpPr>
        <p:sp>
          <p:nvSpPr>
            <p:cNvPr name="Freeform 14" id="14"/>
            <p:cNvSpPr/>
            <p:nvPr/>
          </p:nvSpPr>
          <p:spPr>
            <a:xfrm flipH="false" flipV="false" rot="0">
              <a:off x="0" y="0"/>
              <a:ext cx="2037080" cy="939800"/>
            </a:xfrm>
            <a:custGeom>
              <a:avLst/>
              <a:gdLst/>
              <a:ahLst/>
              <a:cxnLst/>
              <a:rect r="r" b="b" t="t" l="l"/>
              <a:pathLst>
                <a:path h="939800" w="2037080">
                  <a:moveTo>
                    <a:pt x="0" y="150368"/>
                  </a:moveTo>
                  <a:cubicBezTo>
                    <a:pt x="0" y="67310"/>
                    <a:pt x="67310" y="0"/>
                    <a:pt x="150368" y="0"/>
                  </a:cubicBezTo>
                  <a:lnTo>
                    <a:pt x="1886712" y="0"/>
                  </a:lnTo>
                  <a:cubicBezTo>
                    <a:pt x="1969770" y="0"/>
                    <a:pt x="2037080" y="67310"/>
                    <a:pt x="2037080" y="150368"/>
                  </a:cubicBezTo>
                  <a:lnTo>
                    <a:pt x="2037080" y="789432"/>
                  </a:lnTo>
                  <a:cubicBezTo>
                    <a:pt x="2037080" y="872490"/>
                    <a:pt x="1969770" y="939800"/>
                    <a:pt x="188671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15" id="15"/>
          <p:cNvGrpSpPr/>
          <p:nvPr/>
        </p:nvGrpSpPr>
        <p:grpSpPr>
          <a:xfrm rot="0">
            <a:off x="960120" y="2331720"/>
            <a:ext cx="1508760" cy="685800"/>
            <a:chOff x="0" y="0"/>
            <a:chExt cx="2011680" cy="914400"/>
          </a:xfrm>
        </p:grpSpPr>
        <p:sp>
          <p:nvSpPr>
            <p:cNvPr name="Freeform 16" id="16"/>
            <p:cNvSpPr/>
            <p:nvPr/>
          </p:nvSpPr>
          <p:spPr>
            <a:xfrm flipH="false" flipV="false" rot="0">
              <a:off x="0" y="0"/>
              <a:ext cx="2011680" cy="914400"/>
            </a:xfrm>
            <a:custGeom>
              <a:avLst/>
              <a:gdLst/>
              <a:ahLst/>
              <a:cxnLst/>
              <a:rect r="r" b="b" t="t" l="l"/>
              <a:pathLst>
                <a:path h="914400" w="2011680">
                  <a:moveTo>
                    <a:pt x="0" y="0"/>
                  </a:moveTo>
                  <a:lnTo>
                    <a:pt x="2011680" y="0"/>
                  </a:lnTo>
                  <a:lnTo>
                    <a:pt x="2011680" y="914400"/>
                  </a:lnTo>
                  <a:lnTo>
                    <a:pt x="0" y="914400"/>
                  </a:lnTo>
                  <a:close/>
                </a:path>
              </a:pathLst>
            </a:custGeom>
            <a:blipFill>
              <a:blip r:embed="rId3">
                <a:alphaModFix amt="0"/>
              </a:blip>
              <a:stretch>
                <a:fillRect l="-8319" t="0" r="-8319" b="0"/>
              </a:stretch>
            </a:blipFill>
          </p:spPr>
        </p:sp>
        <p:sp>
          <p:nvSpPr>
            <p:cNvPr name="TextBox 17" id="17"/>
            <p:cNvSpPr txBox="true"/>
            <p:nvPr/>
          </p:nvSpPr>
          <p:spPr>
            <a:xfrm>
              <a:off x="0" y="-9525"/>
              <a:ext cx="2011680" cy="923925"/>
            </a:xfrm>
            <a:prstGeom prst="rect">
              <a:avLst/>
            </a:prstGeom>
          </p:spPr>
          <p:txBody>
            <a:bodyPr anchor="ctr" rtlCol="false" tIns="0" lIns="0" bIns="0" rIns="0"/>
            <a:lstStyle/>
            <a:p>
              <a:pPr algn="ctr">
                <a:lnSpc>
                  <a:spcPts val="2879"/>
                </a:lnSpc>
              </a:pPr>
              <a:r>
                <a:rPr lang="en-US" sz="2400" b="true">
                  <a:solidFill>
                    <a:srgbClr val="2F3237"/>
                  </a:solidFill>
                  <a:latin typeface="Arial Bold"/>
                  <a:ea typeface="Arial Bold"/>
                  <a:cs typeface="Arial Bold"/>
                  <a:sym typeface="Arial Bold"/>
                </a:rPr>
                <a:t>1NF</a:t>
              </a:r>
            </a:p>
          </p:txBody>
        </p:sp>
      </p:grpSp>
      <p:sp>
        <p:nvSpPr>
          <p:cNvPr name="TextBox 18" id="18"/>
          <p:cNvSpPr txBox="true"/>
          <p:nvPr/>
        </p:nvSpPr>
        <p:spPr>
          <a:xfrm rot="0">
            <a:off x="960120" y="3272790"/>
            <a:ext cx="3429000" cy="704850"/>
          </a:xfrm>
          <a:prstGeom prst="rect">
            <a:avLst/>
          </a:prstGeom>
        </p:spPr>
        <p:txBody>
          <a:bodyPr anchor="t" rtlCol="false" tIns="0" lIns="0" bIns="0" rIns="0">
            <a:spAutoFit/>
          </a:bodyPr>
          <a:lstStyle/>
          <a:p>
            <a:pPr algn="l">
              <a:lnSpc>
                <a:spcPts val="2160"/>
              </a:lnSpc>
            </a:pPr>
            <a:r>
              <a:rPr lang="en-US" sz="1800" b="true">
                <a:solidFill>
                  <a:srgbClr val="8F6A0A"/>
                </a:solidFill>
                <a:latin typeface="Arial Bold"/>
                <a:ea typeface="Arial Bold"/>
                <a:cs typeface="Arial Bold"/>
                <a:sym typeface="Arial Bold"/>
              </a:rPr>
              <a:t>Atomic values</a:t>
            </a:r>
          </a:p>
        </p:txBody>
      </p:sp>
      <p:sp>
        <p:nvSpPr>
          <p:cNvPr name="TextBox 19" id="19"/>
          <p:cNvSpPr txBox="true"/>
          <p:nvPr/>
        </p:nvSpPr>
        <p:spPr>
          <a:xfrm rot="0">
            <a:off x="960120" y="4095750"/>
            <a:ext cx="3429000" cy="303657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2B2B2B"/>
                </a:solidFill>
                <a:latin typeface="Arial"/>
                <a:ea typeface="Arial"/>
                <a:cs typeface="Arial"/>
                <a:sym typeface="Arial"/>
              </a:rPr>
              <a:t>Unpivot Vehicle Type 1–5 &amp; Factor 1–5 into single-valued rows</a:t>
            </a:r>
          </a:p>
          <a:p>
            <a:pPr algn="l" marL="325755" indent="-162878" lvl="1">
              <a:lnSpc>
                <a:spcPts val="2160"/>
              </a:lnSpc>
              <a:buFont typeface="Arial"/>
              <a:buChar char="•"/>
            </a:pPr>
            <a:r>
              <a:rPr lang="en-US" sz="1800">
                <a:solidFill>
                  <a:srgbClr val="2B2B2B"/>
                </a:solidFill>
                <a:latin typeface="Arial"/>
                <a:ea typeface="Arial"/>
                <a:cs typeface="Arial"/>
                <a:sym typeface="Arial"/>
              </a:rPr>
              <a:t>Drop redundant LOCATION string</a:t>
            </a:r>
          </a:p>
        </p:txBody>
      </p:sp>
      <p:grpSp>
        <p:nvGrpSpPr>
          <p:cNvPr name="Group 20" id="20"/>
          <p:cNvGrpSpPr/>
          <p:nvPr/>
        </p:nvGrpSpPr>
        <p:grpSpPr>
          <a:xfrm rot="0">
            <a:off x="4989595" y="2050256"/>
            <a:ext cx="3991928" cy="5157788"/>
            <a:chOff x="0" y="0"/>
            <a:chExt cx="5322570" cy="6877050"/>
          </a:xfrm>
        </p:grpSpPr>
        <p:sp>
          <p:nvSpPr>
            <p:cNvPr name="Freeform 21" id="21"/>
            <p:cNvSpPr/>
            <p:nvPr/>
          </p:nvSpPr>
          <p:spPr>
            <a:xfrm flipH="false" flipV="false" rot="0">
              <a:off x="0" y="0"/>
              <a:ext cx="5322570" cy="6877050"/>
            </a:xfrm>
            <a:custGeom>
              <a:avLst/>
              <a:gdLst/>
              <a:ahLst/>
              <a:cxnLst/>
              <a:rect r="r" b="b" t="t" l="l"/>
              <a:pathLst>
                <a:path h="6877050" w="5322570">
                  <a:moveTo>
                    <a:pt x="0" y="0"/>
                  </a:moveTo>
                  <a:lnTo>
                    <a:pt x="5322570" y="0"/>
                  </a:lnTo>
                  <a:lnTo>
                    <a:pt x="5322570" y="6877050"/>
                  </a:lnTo>
                  <a:lnTo>
                    <a:pt x="0" y="6877050"/>
                  </a:lnTo>
                  <a:close/>
                </a:path>
              </a:pathLst>
            </a:custGeom>
            <a:solidFill>
              <a:srgbClr val="F2F2F0"/>
            </a:solidFill>
            <a:ln w="14288" cap="sq">
              <a:solidFill>
                <a:srgbClr val="D9D9D6"/>
              </a:solidFill>
              <a:prstDash val="solid"/>
              <a:miter/>
            </a:ln>
          </p:spPr>
        </p:sp>
      </p:grpSp>
      <p:grpSp>
        <p:nvGrpSpPr>
          <p:cNvPr name="Group 22" id="22"/>
          <p:cNvGrpSpPr/>
          <p:nvPr/>
        </p:nvGrpSpPr>
        <p:grpSpPr>
          <a:xfrm rot="0">
            <a:off x="5261534" y="2322195"/>
            <a:ext cx="1527810" cy="704850"/>
            <a:chOff x="0" y="0"/>
            <a:chExt cx="2037080" cy="939800"/>
          </a:xfrm>
        </p:grpSpPr>
        <p:sp>
          <p:nvSpPr>
            <p:cNvPr name="Freeform 23" id="23"/>
            <p:cNvSpPr/>
            <p:nvPr/>
          </p:nvSpPr>
          <p:spPr>
            <a:xfrm flipH="false" flipV="false" rot="0">
              <a:off x="0" y="0"/>
              <a:ext cx="2037080" cy="939800"/>
            </a:xfrm>
            <a:custGeom>
              <a:avLst/>
              <a:gdLst/>
              <a:ahLst/>
              <a:cxnLst/>
              <a:rect r="r" b="b" t="t" l="l"/>
              <a:pathLst>
                <a:path h="939800" w="2037080">
                  <a:moveTo>
                    <a:pt x="0" y="150368"/>
                  </a:moveTo>
                  <a:cubicBezTo>
                    <a:pt x="0" y="67310"/>
                    <a:pt x="67310" y="0"/>
                    <a:pt x="150368" y="0"/>
                  </a:cubicBezTo>
                  <a:lnTo>
                    <a:pt x="1886712" y="0"/>
                  </a:lnTo>
                  <a:cubicBezTo>
                    <a:pt x="1969770" y="0"/>
                    <a:pt x="2037080" y="67310"/>
                    <a:pt x="2037080" y="150368"/>
                  </a:cubicBezTo>
                  <a:lnTo>
                    <a:pt x="2037080" y="789432"/>
                  </a:lnTo>
                  <a:cubicBezTo>
                    <a:pt x="2037080" y="872490"/>
                    <a:pt x="1969770" y="939800"/>
                    <a:pt x="188671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24" id="24"/>
          <p:cNvGrpSpPr/>
          <p:nvPr/>
        </p:nvGrpSpPr>
        <p:grpSpPr>
          <a:xfrm rot="0">
            <a:off x="5271059" y="2331720"/>
            <a:ext cx="1508760" cy="685800"/>
            <a:chOff x="0" y="0"/>
            <a:chExt cx="2011680" cy="914400"/>
          </a:xfrm>
        </p:grpSpPr>
        <p:sp>
          <p:nvSpPr>
            <p:cNvPr name="Freeform 25" id="25"/>
            <p:cNvSpPr/>
            <p:nvPr/>
          </p:nvSpPr>
          <p:spPr>
            <a:xfrm flipH="false" flipV="false" rot="0">
              <a:off x="0" y="0"/>
              <a:ext cx="2011680" cy="914400"/>
            </a:xfrm>
            <a:custGeom>
              <a:avLst/>
              <a:gdLst/>
              <a:ahLst/>
              <a:cxnLst/>
              <a:rect r="r" b="b" t="t" l="l"/>
              <a:pathLst>
                <a:path h="914400" w="2011680">
                  <a:moveTo>
                    <a:pt x="0" y="0"/>
                  </a:moveTo>
                  <a:lnTo>
                    <a:pt x="2011680" y="0"/>
                  </a:lnTo>
                  <a:lnTo>
                    <a:pt x="2011680" y="914400"/>
                  </a:lnTo>
                  <a:lnTo>
                    <a:pt x="0" y="914400"/>
                  </a:lnTo>
                  <a:close/>
                </a:path>
              </a:pathLst>
            </a:custGeom>
            <a:blipFill>
              <a:blip r:embed="rId3">
                <a:alphaModFix amt="0"/>
              </a:blip>
              <a:stretch>
                <a:fillRect l="-8319" t="0" r="-8319" b="0"/>
              </a:stretch>
            </a:blipFill>
          </p:spPr>
        </p:sp>
        <p:sp>
          <p:nvSpPr>
            <p:cNvPr name="TextBox 26" id="26"/>
            <p:cNvSpPr txBox="true"/>
            <p:nvPr/>
          </p:nvSpPr>
          <p:spPr>
            <a:xfrm>
              <a:off x="0" y="-9525"/>
              <a:ext cx="2011680" cy="923925"/>
            </a:xfrm>
            <a:prstGeom prst="rect">
              <a:avLst/>
            </a:prstGeom>
          </p:spPr>
          <p:txBody>
            <a:bodyPr anchor="ctr" rtlCol="false" tIns="0" lIns="0" bIns="0" rIns="0"/>
            <a:lstStyle/>
            <a:p>
              <a:pPr algn="ctr">
                <a:lnSpc>
                  <a:spcPts val="2879"/>
                </a:lnSpc>
              </a:pPr>
              <a:r>
                <a:rPr lang="en-US" sz="2400" b="true">
                  <a:solidFill>
                    <a:srgbClr val="2F3237"/>
                  </a:solidFill>
                  <a:latin typeface="Arial Bold"/>
                  <a:ea typeface="Arial Bold"/>
                  <a:cs typeface="Arial Bold"/>
                  <a:sym typeface="Arial Bold"/>
                </a:rPr>
                <a:t>2NF</a:t>
              </a:r>
            </a:p>
          </p:txBody>
        </p:sp>
      </p:grpSp>
      <p:sp>
        <p:nvSpPr>
          <p:cNvPr name="TextBox 27" id="27"/>
          <p:cNvSpPr txBox="true"/>
          <p:nvPr/>
        </p:nvSpPr>
        <p:spPr>
          <a:xfrm rot="0">
            <a:off x="5271059" y="3272790"/>
            <a:ext cx="3429000" cy="704850"/>
          </a:xfrm>
          <a:prstGeom prst="rect">
            <a:avLst/>
          </a:prstGeom>
        </p:spPr>
        <p:txBody>
          <a:bodyPr anchor="t" rtlCol="false" tIns="0" lIns="0" bIns="0" rIns="0">
            <a:spAutoFit/>
          </a:bodyPr>
          <a:lstStyle/>
          <a:p>
            <a:pPr algn="l">
              <a:lnSpc>
                <a:spcPts val="2160"/>
              </a:lnSpc>
            </a:pPr>
            <a:r>
              <a:rPr lang="en-US" sz="1800" b="true">
                <a:solidFill>
                  <a:srgbClr val="8F6A0A"/>
                </a:solidFill>
                <a:latin typeface="Arial Bold"/>
                <a:ea typeface="Arial Bold"/>
                <a:cs typeface="Arial Bold"/>
                <a:sym typeface="Arial Bold"/>
              </a:rPr>
              <a:t>No partial dependencies</a:t>
            </a:r>
          </a:p>
        </p:txBody>
      </p:sp>
      <p:sp>
        <p:nvSpPr>
          <p:cNvPr name="TextBox 28" id="28"/>
          <p:cNvSpPr txBox="true"/>
          <p:nvPr/>
        </p:nvSpPr>
        <p:spPr>
          <a:xfrm rot="0">
            <a:off x="5271059" y="4095750"/>
            <a:ext cx="3429000" cy="303657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2B2B2B"/>
                </a:solidFill>
                <a:latin typeface="Arial"/>
                <a:ea typeface="Arial"/>
                <a:cs typeface="Arial"/>
                <a:sym typeface="Arial"/>
              </a:rPr>
              <a:t>Separate COLLISION from VEHICLE_TYPE &amp; CONTRIBUTING_FACTOR</a:t>
            </a:r>
          </a:p>
          <a:p>
            <a:pPr algn="l" marL="325755" indent="-162878" lvl="1">
              <a:lnSpc>
                <a:spcPts val="2160"/>
              </a:lnSpc>
              <a:buFont typeface="Arial"/>
              <a:buChar char="•"/>
            </a:pPr>
            <a:r>
              <a:rPr lang="en-US" sz="1800">
                <a:solidFill>
                  <a:srgbClr val="2B2B2B"/>
                </a:solidFill>
                <a:latin typeface="Arial"/>
                <a:ea typeface="Arial"/>
                <a:cs typeface="Arial"/>
                <a:sym typeface="Arial"/>
              </a:rPr>
              <a:t>Junction tables: COLLISION_VEHICLE, COLLISION_FACTOR</a:t>
            </a:r>
          </a:p>
        </p:txBody>
      </p:sp>
      <p:grpSp>
        <p:nvGrpSpPr>
          <p:cNvPr name="Group 29" id="29"/>
          <p:cNvGrpSpPr/>
          <p:nvPr/>
        </p:nvGrpSpPr>
        <p:grpSpPr>
          <a:xfrm rot="0">
            <a:off x="9300534" y="2050256"/>
            <a:ext cx="3991928" cy="5157788"/>
            <a:chOff x="0" y="0"/>
            <a:chExt cx="5322570" cy="6877050"/>
          </a:xfrm>
        </p:grpSpPr>
        <p:sp>
          <p:nvSpPr>
            <p:cNvPr name="Freeform 30" id="30"/>
            <p:cNvSpPr/>
            <p:nvPr/>
          </p:nvSpPr>
          <p:spPr>
            <a:xfrm flipH="false" flipV="false" rot="0">
              <a:off x="0" y="0"/>
              <a:ext cx="5322570" cy="6877050"/>
            </a:xfrm>
            <a:custGeom>
              <a:avLst/>
              <a:gdLst/>
              <a:ahLst/>
              <a:cxnLst/>
              <a:rect r="r" b="b" t="t" l="l"/>
              <a:pathLst>
                <a:path h="6877050" w="5322570">
                  <a:moveTo>
                    <a:pt x="0" y="0"/>
                  </a:moveTo>
                  <a:lnTo>
                    <a:pt x="5322570" y="0"/>
                  </a:lnTo>
                  <a:lnTo>
                    <a:pt x="5322570" y="6877050"/>
                  </a:lnTo>
                  <a:lnTo>
                    <a:pt x="0" y="6877050"/>
                  </a:lnTo>
                  <a:close/>
                </a:path>
              </a:pathLst>
            </a:custGeom>
            <a:solidFill>
              <a:srgbClr val="F2F2F0"/>
            </a:solidFill>
            <a:ln w="14288" cap="sq">
              <a:solidFill>
                <a:srgbClr val="D9D9D6"/>
              </a:solidFill>
              <a:prstDash val="solid"/>
              <a:miter/>
            </a:ln>
          </p:spPr>
        </p:sp>
      </p:grpSp>
      <p:grpSp>
        <p:nvGrpSpPr>
          <p:cNvPr name="Group 31" id="31"/>
          <p:cNvGrpSpPr/>
          <p:nvPr/>
        </p:nvGrpSpPr>
        <p:grpSpPr>
          <a:xfrm rot="0">
            <a:off x="9572473" y="2322195"/>
            <a:ext cx="1527810" cy="704850"/>
            <a:chOff x="0" y="0"/>
            <a:chExt cx="2037080" cy="939800"/>
          </a:xfrm>
        </p:grpSpPr>
        <p:sp>
          <p:nvSpPr>
            <p:cNvPr name="Freeform 32" id="32"/>
            <p:cNvSpPr/>
            <p:nvPr/>
          </p:nvSpPr>
          <p:spPr>
            <a:xfrm flipH="false" flipV="false" rot="0">
              <a:off x="0" y="0"/>
              <a:ext cx="2037080" cy="939800"/>
            </a:xfrm>
            <a:custGeom>
              <a:avLst/>
              <a:gdLst/>
              <a:ahLst/>
              <a:cxnLst/>
              <a:rect r="r" b="b" t="t" l="l"/>
              <a:pathLst>
                <a:path h="939800" w="2037080">
                  <a:moveTo>
                    <a:pt x="0" y="150368"/>
                  </a:moveTo>
                  <a:cubicBezTo>
                    <a:pt x="0" y="67310"/>
                    <a:pt x="67310" y="0"/>
                    <a:pt x="150368" y="0"/>
                  </a:cubicBezTo>
                  <a:lnTo>
                    <a:pt x="1886712" y="0"/>
                  </a:lnTo>
                  <a:cubicBezTo>
                    <a:pt x="1969770" y="0"/>
                    <a:pt x="2037080" y="67310"/>
                    <a:pt x="2037080" y="150368"/>
                  </a:cubicBezTo>
                  <a:lnTo>
                    <a:pt x="2037080" y="789432"/>
                  </a:lnTo>
                  <a:cubicBezTo>
                    <a:pt x="2037080" y="872490"/>
                    <a:pt x="1969770" y="939800"/>
                    <a:pt x="188671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33" id="33"/>
          <p:cNvGrpSpPr/>
          <p:nvPr/>
        </p:nvGrpSpPr>
        <p:grpSpPr>
          <a:xfrm rot="0">
            <a:off x="9581998" y="2331720"/>
            <a:ext cx="1508760" cy="685800"/>
            <a:chOff x="0" y="0"/>
            <a:chExt cx="2011680" cy="914400"/>
          </a:xfrm>
        </p:grpSpPr>
        <p:sp>
          <p:nvSpPr>
            <p:cNvPr name="Freeform 34" id="34"/>
            <p:cNvSpPr/>
            <p:nvPr/>
          </p:nvSpPr>
          <p:spPr>
            <a:xfrm flipH="false" flipV="false" rot="0">
              <a:off x="0" y="0"/>
              <a:ext cx="2011680" cy="914400"/>
            </a:xfrm>
            <a:custGeom>
              <a:avLst/>
              <a:gdLst/>
              <a:ahLst/>
              <a:cxnLst/>
              <a:rect r="r" b="b" t="t" l="l"/>
              <a:pathLst>
                <a:path h="914400" w="2011680">
                  <a:moveTo>
                    <a:pt x="0" y="0"/>
                  </a:moveTo>
                  <a:lnTo>
                    <a:pt x="2011680" y="0"/>
                  </a:lnTo>
                  <a:lnTo>
                    <a:pt x="2011680" y="914400"/>
                  </a:lnTo>
                  <a:lnTo>
                    <a:pt x="0" y="914400"/>
                  </a:lnTo>
                  <a:close/>
                </a:path>
              </a:pathLst>
            </a:custGeom>
            <a:blipFill>
              <a:blip r:embed="rId3">
                <a:alphaModFix amt="0"/>
              </a:blip>
              <a:stretch>
                <a:fillRect l="-8319" t="0" r="-8319" b="0"/>
              </a:stretch>
            </a:blipFill>
          </p:spPr>
        </p:sp>
        <p:sp>
          <p:nvSpPr>
            <p:cNvPr name="TextBox 35" id="35"/>
            <p:cNvSpPr txBox="true"/>
            <p:nvPr/>
          </p:nvSpPr>
          <p:spPr>
            <a:xfrm>
              <a:off x="0" y="-9525"/>
              <a:ext cx="2011680" cy="923925"/>
            </a:xfrm>
            <a:prstGeom prst="rect">
              <a:avLst/>
            </a:prstGeom>
          </p:spPr>
          <p:txBody>
            <a:bodyPr anchor="ctr" rtlCol="false" tIns="0" lIns="0" bIns="0" rIns="0"/>
            <a:lstStyle/>
            <a:p>
              <a:pPr algn="ctr">
                <a:lnSpc>
                  <a:spcPts val="2879"/>
                </a:lnSpc>
              </a:pPr>
              <a:r>
                <a:rPr lang="en-US" sz="2400" b="true">
                  <a:solidFill>
                    <a:srgbClr val="2F3237"/>
                  </a:solidFill>
                  <a:latin typeface="Arial Bold"/>
                  <a:ea typeface="Arial Bold"/>
                  <a:cs typeface="Arial Bold"/>
                  <a:sym typeface="Arial Bold"/>
                </a:rPr>
                <a:t>3NF</a:t>
              </a:r>
            </a:p>
          </p:txBody>
        </p:sp>
      </p:grpSp>
      <p:sp>
        <p:nvSpPr>
          <p:cNvPr name="TextBox 36" id="36"/>
          <p:cNvSpPr txBox="true"/>
          <p:nvPr/>
        </p:nvSpPr>
        <p:spPr>
          <a:xfrm rot="0">
            <a:off x="9581998" y="3272790"/>
            <a:ext cx="3429000" cy="704850"/>
          </a:xfrm>
          <a:prstGeom prst="rect">
            <a:avLst/>
          </a:prstGeom>
        </p:spPr>
        <p:txBody>
          <a:bodyPr anchor="t" rtlCol="false" tIns="0" lIns="0" bIns="0" rIns="0">
            <a:spAutoFit/>
          </a:bodyPr>
          <a:lstStyle/>
          <a:p>
            <a:pPr algn="l">
              <a:lnSpc>
                <a:spcPts val="2160"/>
              </a:lnSpc>
            </a:pPr>
            <a:r>
              <a:rPr lang="en-US" sz="1800" b="true">
                <a:solidFill>
                  <a:srgbClr val="8F6A0A"/>
                </a:solidFill>
                <a:latin typeface="Arial Bold"/>
                <a:ea typeface="Arial Bold"/>
                <a:cs typeface="Arial Bold"/>
                <a:sym typeface="Arial Bold"/>
              </a:rPr>
              <a:t>No transitive dependencies</a:t>
            </a:r>
          </a:p>
        </p:txBody>
      </p:sp>
      <p:sp>
        <p:nvSpPr>
          <p:cNvPr name="TextBox 37" id="37"/>
          <p:cNvSpPr txBox="true"/>
          <p:nvPr/>
        </p:nvSpPr>
        <p:spPr>
          <a:xfrm rot="0">
            <a:off x="9581998" y="4095750"/>
            <a:ext cx="3429000" cy="303657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2B2B2B"/>
                </a:solidFill>
                <a:latin typeface="Arial"/>
                <a:ea typeface="Arial"/>
                <a:cs typeface="Arial"/>
                <a:sym typeface="Arial"/>
              </a:rPr>
              <a:t>COLLISION → ZIP_CODE → BOROUGH</a:t>
            </a:r>
          </a:p>
          <a:p>
            <a:pPr algn="l" marL="325755" indent="-162878" lvl="1">
              <a:lnSpc>
                <a:spcPts val="2160"/>
              </a:lnSpc>
              <a:buFont typeface="Arial"/>
              <a:buChar char="•"/>
            </a:pPr>
            <a:r>
              <a:rPr lang="en-US" sz="1800">
                <a:solidFill>
                  <a:srgbClr val="2B2B2B"/>
                </a:solidFill>
                <a:latin typeface="Arial"/>
                <a:ea typeface="Arial"/>
                <a:cs typeface="Arial"/>
                <a:sym typeface="Arial"/>
              </a:rPr>
              <a:t>Split into BOROUGH &amp; ZIP_CODE tables</a:t>
            </a:r>
          </a:p>
        </p:txBody>
      </p:sp>
      <p:grpSp>
        <p:nvGrpSpPr>
          <p:cNvPr name="Group 38" id="38"/>
          <p:cNvGrpSpPr/>
          <p:nvPr/>
        </p:nvGrpSpPr>
        <p:grpSpPr>
          <a:xfrm rot="0">
            <a:off x="13611473" y="2050256"/>
            <a:ext cx="3991928" cy="5157788"/>
            <a:chOff x="0" y="0"/>
            <a:chExt cx="5322570" cy="6877050"/>
          </a:xfrm>
        </p:grpSpPr>
        <p:sp>
          <p:nvSpPr>
            <p:cNvPr name="Freeform 39" id="39"/>
            <p:cNvSpPr/>
            <p:nvPr/>
          </p:nvSpPr>
          <p:spPr>
            <a:xfrm flipH="false" flipV="false" rot="0">
              <a:off x="0" y="0"/>
              <a:ext cx="5322570" cy="6877050"/>
            </a:xfrm>
            <a:custGeom>
              <a:avLst/>
              <a:gdLst/>
              <a:ahLst/>
              <a:cxnLst/>
              <a:rect r="r" b="b" t="t" l="l"/>
              <a:pathLst>
                <a:path h="6877050" w="5322570">
                  <a:moveTo>
                    <a:pt x="0" y="0"/>
                  </a:moveTo>
                  <a:lnTo>
                    <a:pt x="5322570" y="0"/>
                  </a:lnTo>
                  <a:lnTo>
                    <a:pt x="5322570" y="6877050"/>
                  </a:lnTo>
                  <a:lnTo>
                    <a:pt x="0" y="6877050"/>
                  </a:lnTo>
                  <a:close/>
                </a:path>
              </a:pathLst>
            </a:custGeom>
            <a:solidFill>
              <a:srgbClr val="F2F2F0"/>
            </a:solidFill>
            <a:ln w="14288" cap="sq">
              <a:solidFill>
                <a:srgbClr val="D9D9D6"/>
              </a:solidFill>
              <a:prstDash val="solid"/>
              <a:miter/>
            </a:ln>
          </p:spPr>
        </p:sp>
      </p:grpSp>
      <p:grpSp>
        <p:nvGrpSpPr>
          <p:cNvPr name="Group 40" id="40"/>
          <p:cNvGrpSpPr/>
          <p:nvPr/>
        </p:nvGrpSpPr>
        <p:grpSpPr>
          <a:xfrm rot="0">
            <a:off x="13883411" y="2322195"/>
            <a:ext cx="1527810" cy="704850"/>
            <a:chOff x="0" y="0"/>
            <a:chExt cx="2037080" cy="939800"/>
          </a:xfrm>
        </p:grpSpPr>
        <p:sp>
          <p:nvSpPr>
            <p:cNvPr name="Freeform 41" id="41"/>
            <p:cNvSpPr/>
            <p:nvPr/>
          </p:nvSpPr>
          <p:spPr>
            <a:xfrm flipH="false" flipV="false" rot="0">
              <a:off x="0" y="0"/>
              <a:ext cx="2037080" cy="939800"/>
            </a:xfrm>
            <a:custGeom>
              <a:avLst/>
              <a:gdLst/>
              <a:ahLst/>
              <a:cxnLst/>
              <a:rect r="r" b="b" t="t" l="l"/>
              <a:pathLst>
                <a:path h="939800" w="2037080">
                  <a:moveTo>
                    <a:pt x="0" y="150368"/>
                  </a:moveTo>
                  <a:cubicBezTo>
                    <a:pt x="0" y="67310"/>
                    <a:pt x="67310" y="0"/>
                    <a:pt x="150368" y="0"/>
                  </a:cubicBezTo>
                  <a:lnTo>
                    <a:pt x="1886712" y="0"/>
                  </a:lnTo>
                  <a:cubicBezTo>
                    <a:pt x="1969770" y="0"/>
                    <a:pt x="2037080" y="67310"/>
                    <a:pt x="2037080" y="150368"/>
                  </a:cubicBezTo>
                  <a:lnTo>
                    <a:pt x="2037080" y="789432"/>
                  </a:lnTo>
                  <a:cubicBezTo>
                    <a:pt x="2037080" y="872490"/>
                    <a:pt x="1969770" y="939800"/>
                    <a:pt x="188671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42" id="42"/>
          <p:cNvGrpSpPr/>
          <p:nvPr/>
        </p:nvGrpSpPr>
        <p:grpSpPr>
          <a:xfrm rot="0">
            <a:off x="13892936" y="2331720"/>
            <a:ext cx="1508760" cy="685800"/>
            <a:chOff x="0" y="0"/>
            <a:chExt cx="2011680" cy="914400"/>
          </a:xfrm>
        </p:grpSpPr>
        <p:sp>
          <p:nvSpPr>
            <p:cNvPr name="Freeform 43" id="43"/>
            <p:cNvSpPr/>
            <p:nvPr/>
          </p:nvSpPr>
          <p:spPr>
            <a:xfrm flipH="false" flipV="false" rot="0">
              <a:off x="0" y="0"/>
              <a:ext cx="2011680" cy="914400"/>
            </a:xfrm>
            <a:custGeom>
              <a:avLst/>
              <a:gdLst/>
              <a:ahLst/>
              <a:cxnLst/>
              <a:rect r="r" b="b" t="t" l="l"/>
              <a:pathLst>
                <a:path h="914400" w="2011680">
                  <a:moveTo>
                    <a:pt x="0" y="0"/>
                  </a:moveTo>
                  <a:lnTo>
                    <a:pt x="2011680" y="0"/>
                  </a:lnTo>
                  <a:lnTo>
                    <a:pt x="2011680" y="914400"/>
                  </a:lnTo>
                  <a:lnTo>
                    <a:pt x="0" y="914400"/>
                  </a:lnTo>
                  <a:close/>
                </a:path>
              </a:pathLst>
            </a:custGeom>
            <a:blipFill>
              <a:blip r:embed="rId3">
                <a:alphaModFix amt="0"/>
              </a:blip>
              <a:stretch>
                <a:fillRect l="-8319" t="0" r="-8319" b="0"/>
              </a:stretch>
            </a:blipFill>
          </p:spPr>
        </p:sp>
        <p:sp>
          <p:nvSpPr>
            <p:cNvPr name="TextBox 44" id="44"/>
            <p:cNvSpPr txBox="true"/>
            <p:nvPr/>
          </p:nvSpPr>
          <p:spPr>
            <a:xfrm>
              <a:off x="0" y="-9525"/>
              <a:ext cx="2011680" cy="923925"/>
            </a:xfrm>
            <a:prstGeom prst="rect">
              <a:avLst/>
            </a:prstGeom>
          </p:spPr>
          <p:txBody>
            <a:bodyPr anchor="ctr" rtlCol="false" tIns="0" lIns="0" bIns="0" rIns="0"/>
            <a:lstStyle/>
            <a:p>
              <a:pPr algn="ctr">
                <a:lnSpc>
                  <a:spcPts val="2879"/>
                </a:lnSpc>
              </a:pPr>
              <a:r>
                <a:rPr lang="en-US" sz="2400" b="true">
                  <a:solidFill>
                    <a:srgbClr val="2F3237"/>
                  </a:solidFill>
                  <a:latin typeface="Arial Bold"/>
                  <a:ea typeface="Arial Bold"/>
                  <a:cs typeface="Arial Bold"/>
                  <a:sym typeface="Arial Bold"/>
                </a:rPr>
                <a:t>BCNF</a:t>
              </a:r>
            </a:p>
          </p:txBody>
        </p:sp>
      </p:grpSp>
      <p:sp>
        <p:nvSpPr>
          <p:cNvPr name="TextBox 45" id="45"/>
          <p:cNvSpPr txBox="true"/>
          <p:nvPr/>
        </p:nvSpPr>
        <p:spPr>
          <a:xfrm rot="0">
            <a:off x="13892936" y="3272790"/>
            <a:ext cx="3429000" cy="704850"/>
          </a:xfrm>
          <a:prstGeom prst="rect">
            <a:avLst/>
          </a:prstGeom>
        </p:spPr>
        <p:txBody>
          <a:bodyPr anchor="t" rtlCol="false" tIns="0" lIns="0" bIns="0" rIns="0">
            <a:spAutoFit/>
          </a:bodyPr>
          <a:lstStyle/>
          <a:p>
            <a:pPr algn="l">
              <a:lnSpc>
                <a:spcPts val="2160"/>
              </a:lnSpc>
            </a:pPr>
            <a:r>
              <a:rPr lang="en-US" sz="1800" b="true">
                <a:solidFill>
                  <a:srgbClr val="8F6A0A"/>
                </a:solidFill>
                <a:latin typeface="Arial Bold"/>
                <a:ea typeface="Arial Bold"/>
                <a:cs typeface="Arial Bold"/>
                <a:sym typeface="Arial Bold"/>
              </a:rPr>
              <a:t>Every determinant is a key</a:t>
            </a:r>
          </a:p>
        </p:txBody>
      </p:sp>
      <p:sp>
        <p:nvSpPr>
          <p:cNvPr name="TextBox 46" id="46"/>
          <p:cNvSpPr txBox="true"/>
          <p:nvPr/>
        </p:nvSpPr>
        <p:spPr>
          <a:xfrm rot="0">
            <a:off x="13892936" y="4095750"/>
            <a:ext cx="3429000" cy="303657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2B2B2B"/>
                </a:solidFill>
                <a:latin typeface="Arial"/>
                <a:ea typeface="Arial"/>
                <a:cs typeface="Arial"/>
                <a:sym typeface="Arial"/>
              </a:rPr>
              <a:t>Each X in X → Y is a candidate superkey</a:t>
            </a:r>
          </a:p>
          <a:p>
            <a:pPr algn="l" marL="325755" indent="-162878" lvl="1">
              <a:lnSpc>
                <a:spcPts val="2160"/>
              </a:lnSpc>
              <a:buFont typeface="Arial"/>
              <a:buChar char="•"/>
            </a:pPr>
            <a:r>
              <a:rPr lang="en-US" sz="1800">
                <a:solidFill>
                  <a:srgbClr val="2B2B2B"/>
                </a:solidFill>
                <a:latin typeface="Arial"/>
                <a:ea typeface="Arial"/>
                <a:cs typeface="Arial"/>
                <a:sym typeface="Arial"/>
              </a:rPr>
              <a:t>Result: 9 anomaly-free relations</a:t>
            </a:r>
          </a:p>
        </p:txBody>
      </p:sp>
      <p:grpSp>
        <p:nvGrpSpPr>
          <p:cNvPr name="Group 47" id="47"/>
          <p:cNvGrpSpPr/>
          <p:nvPr/>
        </p:nvGrpSpPr>
        <p:grpSpPr>
          <a:xfrm rot="0">
            <a:off x="676275" y="7671435"/>
            <a:ext cx="5875782" cy="1322070"/>
            <a:chOff x="0" y="0"/>
            <a:chExt cx="7834376" cy="1762760"/>
          </a:xfrm>
        </p:grpSpPr>
        <p:sp>
          <p:nvSpPr>
            <p:cNvPr name="Freeform 48" id="48"/>
            <p:cNvSpPr/>
            <p:nvPr/>
          </p:nvSpPr>
          <p:spPr>
            <a:xfrm flipH="false" flipV="false" rot="0">
              <a:off x="0" y="0"/>
              <a:ext cx="7834376" cy="1762760"/>
            </a:xfrm>
            <a:custGeom>
              <a:avLst/>
              <a:gdLst/>
              <a:ahLst/>
              <a:cxnLst/>
              <a:rect r="r" b="b" t="t" l="l"/>
              <a:pathLst>
                <a:path h="1762760" w="7834376">
                  <a:moveTo>
                    <a:pt x="0" y="0"/>
                  </a:moveTo>
                  <a:lnTo>
                    <a:pt x="6952996" y="0"/>
                  </a:lnTo>
                  <a:lnTo>
                    <a:pt x="7834376" y="881380"/>
                  </a:lnTo>
                  <a:lnTo>
                    <a:pt x="6952996" y="1762760"/>
                  </a:lnTo>
                  <a:lnTo>
                    <a:pt x="0" y="1762760"/>
                  </a:lnTo>
                  <a:close/>
                </a:path>
              </a:pathLst>
            </a:custGeom>
            <a:solidFill>
              <a:srgbClr val="E9E9E6"/>
            </a:solidFill>
            <a:ln w="19050" cap="sq">
              <a:solidFill>
                <a:srgbClr val="E9E9E6"/>
              </a:solidFill>
              <a:prstDash val="solid"/>
              <a:miter/>
            </a:ln>
          </p:spPr>
        </p:sp>
      </p:grpSp>
      <p:grpSp>
        <p:nvGrpSpPr>
          <p:cNvPr name="Group 49" id="49"/>
          <p:cNvGrpSpPr/>
          <p:nvPr/>
        </p:nvGrpSpPr>
        <p:grpSpPr>
          <a:xfrm rot="0">
            <a:off x="891540" y="7680960"/>
            <a:ext cx="5033772" cy="1303020"/>
            <a:chOff x="0" y="0"/>
            <a:chExt cx="6711696" cy="1737360"/>
          </a:xfrm>
        </p:grpSpPr>
        <p:sp>
          <p:nvSpPr>
            <p:cNvPr name="Freeform 50" id="50"/>
            <p:cNvSpPr/>
            <p:nvPr/>
          </p:nvSpPr>
          <p:spPr>
            <a:xfrm flipH="false" flipV="false" rot="0">
              <a:off x="0" y="0"/>
              <a:ext cx="6711696" cy="1737360"/>
            </a:xfrm>
            <a:custGeom>
              <a:avLst/>
              <a:gdLst/>
              <a:ahLst/>
              <a:cxnLst/>
              <a:rect r="r" b="b" t="t" l="l"/>
              <a:pathLst>
                <a:path h="1737360" w="6711696">
                  <a:moveTo>
                    <a:pt x="0" y="0"/>
                  </a:moveTo>
                  <a:lnTo>
                    <a:pt x="6711696" y="0"/>
                  </a:lnTo>
                  <a:lnTo>
                    <a:pt x="6711696" y="1737360"/>
                  </a:lnTo>
                  <a:lnTo>
                    <a:pt x="0" y="1737360"/>
                  </a:lnTo>
                  <a:close/>
                </a:path>
              </a:pathLst>
            </a:custGeom>
            <a:blipFill>
              <a:blip r:embed="rId3">
                <a:alphaModFix amt="0"/>
              </a:blip>
              <a:stretch>
                <a:fillRect l="0" t="-25273" r="0" b="-25273"/>
              </a:stretch>
            </a:blipFill>
          </p:spPr>
        </p:sp>
        <p:sp>
          <p:nvSpPr>
            <p:cNvPr name="TextBox 51" id="51"/>
            <p:cNvSpPr txBox="true"/>
            <p:nvPr/>
          </p:nvSpPr>
          <p:spPr>
            <a:xfrm>
              <a:off x="0" y="-19050"/>
              <a:ext cx="6711696" cy="1756410"/>
            </a:xfrm>
            <a:prstGeom prst="rect">
              <a:avLst/>
            </a:prstGeom>
          </p:spPr>
          <p:txBody>
            <a:bodyPr anchor="ctr" rtlCol="false" tIns="0" lIns="0" bIns="0" rIns="0"/>
            <a:lstStyle/>
            <a:p>
              <a:pPr algn="ctr">
                <a:lnSpc>
                  <a:spcPts val="2340"/>
                </a:lnSpc>
              </a:pPr>
              <a:r>
                <a:rPr lang="en-US" sz="1950" b="true">
                  <a:solidFill>
                    <a:srgbClr val="2F3237"/>
                  </a:solidFill>
                  <a:latin typeface="Arial Bold"/>
                  <a:ea typeface="Arial Bold"/>
                  <a:cs typeface="Arial Bold"/>
                  <a:sym typeface="Arial Bold"/>
                </a:rPr>
                <a:t>Unnormalized CSV</a:t>
              </a:r>
            </a:p>
            <a:p>
              <a:pPr algn="ctr">
                <a:lnSpc>
                  <a:spcPts val="1800"/>
                </a:lnSpc>
              </a:pPr>
              <a:r>
                <a:rPr lang="en-US" sz="1500">
                  <a:solidFill>
                    <a:srgbClr val="2F3237"/>
                  </a:solidFill>
                  <a:latin typeface="Arial"/>
                  <a:ea typeface="Arial"/>
                  <a:cs typeface="Arial"/>
                  <a:sym typeface="Arial"/>
                </a:rPr>
                <a:t>29 columns</a:t>
              </a:r>
            </a:p>
          </p:txBody>
        </p:sp>
      </p:grpSp>
      <p:grpSp>
        <p:nvGrpSpPr>
          <p:cNvPr name="Group 52" id="52"/>
          <p:cNvGrpSpPr/>
          <p:nvPr/>
        </p:nvGrpSpPr>
        <p:grpSpPr>
          <a:xfrm rot="0">
            <a:off x="6203823" y="7671435"/>
            <a:ext cx="5875782" cy="1322070"/>
            <a:chOff x="0" y="0"/>
            <a:chExt cx="7834376" cy="1762760"/>
          </a:xfrm>
        </p:grpSpPr>
        <p:sp>
          <p:nvSpPr>
            <p:cNvPr name="Freeform 53" id="53"/>
            <p:cNvSpPr/>
            <p:nvPr/>
          </p:nvSpPr>
          <p:spPr>
            <a:xfrm flipH="false" flipV="false" rot="0">
              <a:off x="0" y="0"/>
              <a:ext cx="7834376" cy="1762760"/>
            </a:xfrm>
            <a:custGeom>
              <a:avLst/>
              <a:gdLst/>
              <a:ahLst/>
              <a:cxnLst/>
              <a:rect r="r" b="b" t="t" l="l"/>
              <a:pathLst>
                <a:path h="1762760" w="7834376">
                  <a:moveTo>
                    <a:pt x="0" y="0"/>
                  </a:moveTo>
                  <a:lnTo>
                    <a:pt x="6952996" y="0"/>
                  </a:lnTo>
                  <a:lnTo>
                    <a:pt x="7834376" y="881380"/>
                  </a:lnTo>
                  <a:lnTo>
                    <a:pt x="6952996" y="1762760"/>
                  </a:lnTo>
                  <a:lnTo>
                    <a:pt x="0" y="1762760"/>
                  </a:lnTo>
                  <a:close/>
                </a:path>
              </a:pathLst>
            </a:custGeom>
            <a:solidFill>
              <a:srgbClr val="F6E7B5"/>
            </a:solidFill>
            <a:ln w="19050" cap="sq">
              <a:solidFill>
                <a:srgbClr val="F6E7B5"/>
              </a:solidFill>
              <a:prstDash val="solid"/>
              <a:miter/>
            </a:ln>
          </p:spPr>
        </p:sp>
      </p:grpSp>
      <p:grpSp>
        <p:nvGrpSpPr>
          <p:cNvPr name="Group 54" id="54"/>
          <p:cNvGrpSpPr/>
          <p:nvPr/>
        </p:nvGrpSpPr>
        <p:grpSpPr>
          <a:xfrm rot="0">
            <a:off x="6419088" y="7680960"/>
            <a:ext cx="5033772" cy="1303020"/>
            <a:chOff x="0" y="0"/>
            <a:chExt cx="6711696" cy="1737360"/>
          </a:xfrm>
        </p:grpSpPr>
        <p:sp>
          <p:nvSpPr>
            <p:cNvPr name="Freeform 55" id="55"/>
            <p:cNvSpPr/>
            <p:nvPr/>
          </p:nvSpPr>
          <p:spPr>
            <a:xfrm flipH="false" flipV="false" rot="0">
              <a:off x="0" y="0"/>
              <a:ext cx="6711696" cy="1737360"/>
            </a:xfrm>
            <a:custGeom>
              <a:avLst/>
              <a:gdLst/>
              <a:ahLst/>
              <a:cxnLst/>
              <a:rect r="r" b="b" t="t" l="l"/>
              <a:pathLst>
                <a:path h="1737360" w="6711696">
                  <a:moveTo>
                    <a:pt x="0" y="0"/>
                  </a:moveTo>
                  <a:lnTo>
                    <a:pt x="6711696" y="0"/>
                  </a:lnTo>
                  <a:lnTo>
                    <a:pt x="6711696" y="1737360"/>
                  </a:lnTo>
                  <a:lnTo>
                    <a:pt x="0" y="1737360"/>
                  </a:lnTo>
                  <a:close/>
                </a:path>
              </a:pathLst>
            </a:custGeom>
            <a:blipFill>
              <a:blip r:embed="rId3">
                <a:alphaModFix amt="0"/>
              </a:blip>
              <a:stretch>
                <a:fillRect l="0" t="-25273" r="0" b="-25273"/>
              </a:stretch>
            </a:blipFill>
          </p:spPr>
        </p:sp>
        <p:sp>
          <p:nvSpPr>
            <p:cNvPr name="TextBox 56" id="56"/>
            <p:cNvSpPr txBox="true"/>
            <p:nvPr/>
          </p:nvSpPr>
          <p:spPr>
            <a:xfrm>
              <a:off x="0" y="-19050"/>
              <a:ext cx="6711696" cy="1756410"/>
            </a:xfrm>
            <a:prstGeom prst="rect">
              <a:avLst/>
            </a:prstGeom>
          </p:spPr>
          <p:txBody>
            <a:bodyPr anchor="ctr" rtlCol="false" tIns="0" lIns="0" bIns="0" rIns="0"/>
            <a:lstStyle/>
            <a:p>
              <a:pPr algn="ctr">
                <a:lnSpc>
                  <a:spcPts val="2340"/>
                </a:lnSpc>
              </a:pPr>
              <a:r>
                <a:rPr lang="en-US" sz="1950" b="true">
                  <a:solidFill>
                    <a:srgbClr val="2F3237"/>
                  </a:solidFill>
                  <a:latin typeface="Arial Bold"/>
                  <a:ea typeface="Arial Bold"/>
                  <a:cs typeface="Arial Bold"/>
                  <a:sym typeface="Arial Bold"/>
                </a:rPr>
                <a:t>1NF → 2NF → 3NF → BCNF</a:t>
              </a:r>
            </a:p>
          </p:txBody>
        </p:sp>
      </p:grpSp>
      <p:grpSp>
        <p:nvGrpSpPr>
          <p:cNvPr name="Group 57" id="57"/>
          <p:cNvGrpSpPr/>
          <p:nvPr/>
        </p:nvGrpSpPr>
        <p:grpSpPr>
          <a:xfrm rot="0">
            <a:off x="11731371" y="7671435"/>
            <a:ext cx="5875782" cy="1322070"/>
            <a:chOff x="0" y="0"/>
            <a:chExt cx="7834376" cy="1762760"/>
          </a:xfrm>
        </p:grpSpPr>
        <p:sp>
          <p:nvSpPr>
            <p:cNvPr name="Freeform 58" id="58"/>
            <p:cNvSpPr/>
            <p:nvPr/>
          </p:nvSpPr>
          <p:spPr>
            <a:xfrm flipH="false" flipV="false" rot="0">
              <a:off x="0" y="0"/>
              <a:ext cx="7834376" cy="1762760"/>
            </a:xfrm>
            <a:custGeom>
              <a:avLst/>
              <a:gdLst/>
              <a:ahLst/>
              <a:cxnLst/>
              <a:rect r="r" b="b" t="t" l="l"/>
              <a:pathLst>
                <a:path h="1762760" w="7834376">
                  <a:moveTo>
                    <a:pt x="0" y="0"/>
                  </a:moveTo>
                  <a:lnTo>
                    <a:pt x="6952996" y="0"/>
                  </a:lnTo>
                  <a:lnTo>
                    <a:pt x="7834376" y="881380"/>
                  </a:lnTo>
                  <a:lnTo>
                    <a:pt x="6952996" y="1762760"/>
                  </a:lnTo>
                  <a:lnTo>
                    <a:pt x="0" y="1762760"/>
                  </a:lnTo>
                  <a:close/>
                </a:path>
              </a:pathLst>
            </a:custGeom>
            <a:solidFill>
              <a:srgbClr val="D4A62A"/>
            </a:solidFill>
            <a:ln w="19050" cap="sq">
              <a:solidFill>
                <a:srgbClr val="D4A62A"/>
              </a:solidFill>
              <a:prstDash val="solid"/>
              <a:miter/>
            </a:ln>
          </p:spPr>
        </p:sp>
      </p:grpSp>
      <p:grpSp>
        <p:nvGrpSpPr>
          <p:cNvPr name="Group 59" id="59"/>
          <p:cNvGrpSpPr/>
          <p:nvPr/>
        </p:nvGrpSpPr>
        <p:grpSpPr>
          <a:xfrm rot="0">
            <a:off x="11946636" y="7680960"/>
            <a:ext cx="5033772" cy="1303020"/>
            <a:chOff x="0" y="0"/>
            <a:chExt cx="6711696" cy="1737360"/>
          </a:xfrm>
        </p:grpSpPr>
        <p:sp>
          <p:nvSpPr>
            <p:cNvPr name="Freeform 60" id="60"/>
            <p:cNvSpPr/>
            <p:nvPr/>
          </p:nvSpPr>
          <p:spPr>
            <a:xfrm flipH="false" flipV="false" rot="0">
              <a:off x="0" y="0"/>
              <a:ext cx="6711696" cy="1737360"/>
            </a:xfrm>
            <a:custGeom>
              <a:avLst/>
              <a:gdLst/>
              <a:ahLst/>
              <a:cxnLst/>
              <a:rect r="r" b="b" t="t" l="l"/>
              <a:pathLst>
                <a:path h="1737360" w="6711696">
                  <a:moveTo>
                    <a:pt x="0" y="0"/>
                  </a:moveTo>
                  <a:lnTo>
                    <a:pt x="6711696" y="0"/>
                  </a:lnTo>
                  <a:lnTo>
                    <a:pt x="6711696" y="1737360"/>
                  </a:lnTo>
                  <a:lnTo>
                    <a:pt x="0" y="1737360"/>
                  </a:lnTo>
                  <a:close/>
                </a:path>
              </a:pathLst>
            </a:custGeom>
            <a:blipFill>
              <a:blip r:embed="rId3">
                <a:alphaModFix amt="0"/>
              </a:blip>
              <a:stretch>
                <a:fillRect l="0" t="-25273" r="0" b="-25273"/>
              </a:stretch>
            </a:blipFill>
          </p:spPr>
        </p:sp>
        <p:sp>
          <p:nvSpPr>
            <p:cNvPr name="TextBox 61" id="61"/>
            <p:cNvSpPr txBox="true"/>
            <p:nvPr/>
          </p:nvSpPr>
          <p:spPr>
            <a:xfrm>
              <a:off x="0" y="-19050"/>
              <a:ext cx="6711696" cy="1756410"/>
            </a:xfrm>
            <a:prstGeom prst="rect">
              <a:avLst/>
            </a:prstGeom>
          </p:spPr>
          <p:txBody>
            <a:bodyPr anchor="ctr" rtlCol="false" tIns="0" lIns="0" bIns="0" rIns="0"/>
            <a:lstStyle/>
            <a:p>
              <a:pPr algn="ctr">
                <a:lnSpc>
                  <a:spcPts val="2340"/>
                </a:lnSpc>
              </a:pPr>
              <a:r>
                <a:rPr lang="en-US" sz="1950" b="true">
                  <a:solidFill>
                    <a:srgbClr val="2F3237"/>
                  </a:solidFill>
                  <a:latin typeface="Arial Bold"/>
                  <a:ea typeface="Arial Bold"/>
                  <a:cs typeface="Arial Bold"/>
                  <a:sym typeface="Arial Bold"/>
                </a:rPr>
                <a:t>9 Normalized Relations</a:t>
              </a:r>
            </a:p>
          </p:txBody>
        </p:sp>
      </p:grpSp>
      <p:sp>
        <p:nvSpPr>
          <p:cNvPr name="Freeform 62" id="62"/>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4"/>
            <a:stretch>
              <a:fillRect l="0" t="0" r="0" b="0"/>
            </a:stretch>
          </a:blipFill>
        </p:spPr>
      </p:sp>
      <p:sp>
        <p:nvSpPr>
          <p:cNvPr name="Freeform 63" id="63"/>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5"/>
            <a:stretch>
              <a:fillRect l="0" t="-22657" r="-4334" b="-20699"/>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76275" y="539115"/>
            <a:ext cx="842010" cy="842010"/>
            <a:chOff x="0" y="0"/>
            <a:chExt cx="1122680" cy="1122680"/>
          </a:xfrm>
        </p:grpSpPr>
        <p:sp>
          <p:nvSpPr>
            <p:cNvPr name="Freeform 3" id="3"/>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solidFill>
              <a:srgbClr val="D4A62A"/>
            </a:solidFill>
            <a:ln w="19050" cap="sq">
              <a:solidFill>
                <a:srgbClr val="D4A62A"/>
              </a:solidFill>
              <a:prstDash val="solid"/>
              <a:miter/>
            </a:ln>
          </p:spPr>
        </p:sp>
      </p:grpSp>
      <p:grpSp>
        <p:nvGrpSpPr>
          <p:cNvPr name="Group 4" id="4"/>
          <p:cNvGrpSpPr/>
          <p:nvPr/>
        </p:nvGrpSpPr>
        <p:grpSpPr>
          <a:xfrm rot="0">
            <a:off x="68580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9525"/>
              <a:ext cx="1097280" cy="1106805"/>
            </a:xfrm>
            <a:prstGeom prst="rect">
              <a:avLst/>
            </a:prstGeom>
          </p:spPr>
          <p:txBody>
            <a:bodyPr anchor="ctr" rtlCol="false" tIns="0" lIns="0" bIns="0" rIns="0"/>
            <a:lstStyle/>
            <a:p>
              <a:pPr algn="ctr">
                <a:lnSpc>
                  <a:spcPts val="2879"/>
                </a:lnSpc>
              </a:pPr>
              <a:r>
                <a:rPr lang="en-US" sz="2400" b="true">
                  <a:solidFill>
                    <a:srgbClr val="2F3237"/>
                  </a:solidFill>
                  <a:latin typeface="Arial Bold"/>
                  <a:ea typeface="Arial Bold"/>
                  <a:cs typeface="Arial Bold"/>
                  <a:sym typeface="Arial Bold"/>
                </a:rPr>
                <a:t>04</a:t>
              </a:r>
            </a:p>
          </p:txBody>
        </p:sp>
      </p:grpSp>
      <p:grpSp>
        <p:nvGrpSpPr>
          <p:cNvPr name="Group 7" id="7"/>
          <p:cNvGrpSpPr/>
          <p:nvPr/>
        </p:nvGrpSpPr>
        <p:grpSpPr>
          <a:xfrm rot="0">
            <a:off x="1783080" y="480060"/>
            <a:ext cx="11575949" cy="960120"/>
            <a:chOff x="0" y="0"/>
            <a:chExt cx="15434599" cy="1280160"/>
          </a:xfrm>
        </p:grpSpPr>
        <p:sp>
          <p:nvSpPr>
            <p:cNvPr name="Freeform 8" id="8"/>
            <p:cNvSpPr/>
            <p:nvPr/>
          </p:nvSpPr>
          <p:spPr>
            <a:xfrm flipH="false" flipV="false" rot="0">
              <a:off x="0" y="0"/>
              <a:ext cx="15434599" cy="1280160"/>
            </a:xfrm>
            <a:custGeom>
              <a:avLst/>
              <a:gdLst/>
              <a:ahLst/>
              <a:cxnLst/>
              <a:rect r="r" b="b" t="t" l="l"/>
              <a:pathLst>
                <a:path h="1280160" w="15434599">
                  <a:moveTo>
                    <a:pt x="0" y="0"/>
                  </a:moveTo>
                  <a:lnTo>
                    <a:pt x="15434599" y="0"/>
                  </a:lnTo>
                  <a:lnTo>
                    <a:pt x="15434599" y="1280160"/>
                  </a:lnTo>
                  <a:lnTo>
                    <a:pt x="0" y="1280160"/>
                  </a:lnTo>
                  <a:close/>
                </a:path>
              </a:pathLst>
            </a:custGeom>
            <a:blipFill>
              <a:blip r:embed="rId3">
                <a:alphaModFix amt="0"/>
              </a:blip>
              <a:stretch>
                <a:fillRect l="0" t="-270111" r="-36260" b="-270111"/>
              </a:stretch>
            </a:blipFill>
          </p:spPr>
        </p:sp>
        <p:sp>
          <p:nvSpPr>
            <p:cNvPr name="TextBox 9" id="9"/>
            <p:cNvSpPr txBox="true"/>
            <p:nvPr/>
          </p:nvSpPr>
          <p:spPr>
            <a:xfrm>
              <a:off x="0" y="-19050"/>
              <a:ext cx="15434599" cy="1299210"/>
            </a:xfrm>
            <a:prstGeom prst="rect">
              <a:avLst/>
            </a:prstGeom>
          </p:spPr>
          <p:txBody>
            <a:bodyPr anchor="ctr" rtlCol="false" tIns="0" lIns="0" bIns="0" rIns="0"/>
            <a:lstStyle/>
            <a:p>
              <a:pPr algn="l">
                <a:lnSpc>
                  <a:spcPts val="4680"/>
                </a:lnSpc>
              </a:pPr>
              <a:r>
                <a:rPr lang="en-US" sz="3900" b="true">
                  <a:solidFill>
                    <a:srgbClr val="2F3237"/>
                  </a:solidFill>
                  <a:latin typeface="Arial Bold"/>
                  <a:ea typeface="Arial Bold"/>
                  <a:cs typeface="Arial Bold"/>
                  <a:sym typeface="Arial Bold"/>
                </a:rPr>
                <a:t>Database Architecture &amp; Integrity Constraints</a:t>
              </a:r>
            </a:p>
          </p:txBody>
        </p:sp>
      </p:grpSp>
      <p:grpSp>
        <p:nvGrpSpPr>
          <p:cNvPr name="Group 10" id="10"/>
          <p:cNvGrpSpPr/>
          <p:nvPr/>
        </p:nvGrpSpPr>
        <p:grpSpPr>
          <a:xfrm rot="0">
            <a:off x="678656" y="1775936"/>
            <a:ext cx="5432108" cy="2003108"/>
            <a:chOff x="0" y="0"/>
            <a:chExt cx="7242810" cy="2670810"/>
          </a:xfrm>
        </p:grpSpPr>
        <p:sp>
          <p:nvSpPr>
            <p:cNvPr name="Freeform 11" id="11"/>
            <p:cNvSpPr/>
            <p:nvPr/>
          </p:nvSpPr>
          <p:spPr>
            <a:xfrm flipH="false" flipV="false" rot="0">
              <a:off x="0" y="0"/>
              <a:ext cx="7242810" cy="2670810"/>
            </a:xfrm>
            <a:custGeom>
              <a:avLst/>
              <a:gdLst/>
              <a:ahLst/>
              <a:cxnLst/>
              <a:rect r="r" b="b" t="t" l="l"/>
              <a:pathLst>
                <a:path h="2670810" w="7242810">
                  <a:moveTo>
                    <a:pt x="0" y="0"/>
                  </a:moveTo>
                  <a:lnTo>
                    <a:pt x="7242810" y="0"/>
                  </a:lnTo>
                  <a:lnTo>
                    <a:pt x="7242810" y="2670810"/>
                  </a:lnTo>
                  <a:lnTo>
                    <a:pt x="0" y="2670810"/>
                  </a:lnTo>
                  <a:close/>
                </a:path>
              </a:pathLst>
            </a:custGeom>
            <a:solidFill>
              <a:srgbClr val="F2F2F0"/>
            </a:solidFill>
            <a:ln w="14288" cap="sq">
              <a:solidFill>
                <a:srgbClr val="D9D9D6"/>
              </a:solidFill>
              <a:prstDash val="solid"/>
              <a:miter/>
            </a:ln>
          </p:spPr>
        </p:sp>
      </p:grpSp>
      <p:grpSp>
        <p:nvGrpSpPr>
          <p:cNvPr name="Group 12" id="12"/>
          <p:cNvGrpSpPr/>
          <p:nvPr/>
        </p:nvGrpSpPr>
        <p:grpSpPr>
          <a:xfrm rot="0">
            <a:off x="1019175" y="2006727"/>
            <a:ext cx="2625090" cy="512826"/>
            <a:chOff x="0" y="0"/>
            <a:chExt cx="3500120" cy="683768"/>
          </a:xfrm>
        </p:grpSpPr>
        <p:sp>
          <p:nvSpPr>
            <p:cNvPr name="Freeform 13" id="13"/>
            <p:cNvSpPr/>
            <p:nvPr/>
          </p:nvSpPr>
          <p:spPr>
            <a:xfrm flipH="false" flipV="false" rot="0">
              <a:off x="0" y="0"/>
              <a:ext cx="3500120" cy="683768"/>
            </a:xfrm>
            <a:custGeom>
              <a:avLst/>
              <a:gdLst/>
              <a:ahLst/>
              <a:cxnLst/>
              <a:rect r="r" b="b" t="t" l="l"/>
              <a:pathLst>
                <a:path h="683768" w="3500120">
                  <a:moveTo>
                    <a:pt x="0" y="151892"/>
                  </a:moveTo>
                  <a:cubicBezTo>
                    <a:pt x="0" y="68072"/>
                    <a:pt x="68072" y="0"/>
                    <a:pt x="151892" y="0"/>
                  </a:cubicBezTo>
                  <a:lnTo>
                    <a:pt x="3348228" y="0"/>
                  </a:lnTo>
                  <a:cubicBezTo>
                    <a:pt x="3432175" y="0"/>
                    <a:pt x="3500120" y="68072"/>
                    <a:pt x="3500120" y="151892"/>
                  </a:cubicBezTo>
                  <a:lnTo>
                    <a:pt x="3500120" y="531876"/>
                  </a:lnTo>
                  <a:cubicBezTo>
                    <a:pt x="3500120" y="615823"/>
                    <a:pt x="3432048" y="683768"/>
                    <a:pt x="3348228" y="683768"/>
                  </a:cubicBezTo>
                  <a:lnTo>
                    <a:pt x="151892" y="683768"/>
                  </a:lnTo>
                  <a:cubicBezTo>
                    <a:pt x="68072" y="683768"/>
                    <a:pt x="0" y="615696"/>
                    <a:pt x="0" y="531876"/>
                  </a:cubicBezTo>
                  <a:close/>
                </a:path>
              </a:pathLst>
            </a:custGeom>
            <a:solidFill>
              <a:srgbClr val="D4A62A"/>
            </a:solidFill>
            <a:ln w="19050" cap="sq">
              <a:solidFill>
                <a:srgbClr val="D4A62A"/>
              </a:solidFill>
              <a:prstDash val="solid"/>
              <a:miter/>
            </a:ln>
          </p:spPr>
        </p:sp>
      </p:grpSp>
      <p:grpSp>
        <p:nvGrpSpPr>
          <p:cNvPr name="Group 14" id="14"/>
          <p:cNvGrpSpPr/>
          <p:nvPr/>
        </p:nvGrpSpPr>
        <p:grpSpPr>
          <a:xfrm rot="0">
            <a:off x="1028700" y="2016252"/>
            <a:ext cx="2606040" cy="493776"/>
            <a:chOff x="0" y="0"/>
            <a:chExt cx="3474720" cy="658368"/>
          </a:xfrm>
        </p:grpSpPr>
        <p:sp>
          <p:nvSpPr>
            <p:cNvPr name="Freeform 15" id="15"/>
            <p:cNvSpPr/>
            <p:nvPr/>
          </p:nvSpPr>
          <p:spPr>
            <a:xfrm flipH="false" flipV="false" rot="0">
              <a:off x="0" y="0"/>
              <a:ext cx="3474720" cy="658368"/>
            </a:xfrm>
            <a:custGeom>
              <a:avLst/>
              <a:gdLst/>
              <a:ahLst/>
              <a:cxnLst/>
              <a:rect r="r" b="b" t="t" l="l"/>
              <a:pathLst>
                <a:path h="658368" w="3474720">
                  <a:moveTo>
                    <a:pt x="0" y="0"/>
                  </a:moveTo>
                  <a:lnTo>
                    <a:pt x="3474720" y="0"/>
                  </a:lnTo>
                  <a:lnTo>
                    <a:pt x="3474720" y="658368"/>
                  </a:lnTo>
                  <a:lnTo>
                    <a:pt x="0" y="658368"/>
                  </a:lnTo>
                  <a:close/>
                </a:path>
              </a:pathLst>
            </a:custGeom>
            <a:blipFill>
              <a:blip r:embed="rId3">
                <a:alphaModFix amt="0"/>
              </a:blip>
              <a:stretch>
                <a:fillRect l="0" t="-52837" r="0" b="-52837"/>
              </a:stretch>
            </a:blipFill>
          </p:spPr>
        </p:sp>
        <p:sp>
          <p:nvSpPr>
            <p:cNvPr name="TextBox 16" id="16"/>
            <p:cNvSpPr txBox="true"/>
            <p:nvPr/>
          </p:nvSpPr>
          <p:spPr>
            <a:xfrm>
              <a:off x="0" y="-19050"/>
              <a:ext cx="3474720" cy="677418"/>
            </a:xfrm>
            <a:prstGeom prst="rect">
              <a:avLst/>
            </a:prstGeom>
          </p:spPr>
          <p:txBody>
            <a:bodyPr anchor="ctr" rtlCol="false" tIns="0" lIns="0" bIns="0" rIns="0"/>
            <a:lstStyle/>
            <a:p>
              <a:pPr algn="ctr">
                <a:lnSpc>
                  <a:spcPts val="1980"/>
                </a:lnSpc>
              </a:pPr>
              <a:r>
                <a:rPr lang="en-US" sz="1650" b="true">
                  <a:solidFill>
                    <a:srgbClr val="2F3237"/>
                  </a:solidFill>
                  <a:latin typeface="Arial Bold"/>
                  <a:ea typeface="Arial Bold"/>
                  <a:cs typeface="Arial Bold"/>
                  <a:sym typeface="Arial Bold"/>
                </a:rPr>
                <a:t>Territorial</a:t>
              </a:r>
            </a:p>
          </p:txBody>
        </p:sp>
      </p:grpSp>
      <p:sp>
        <p:nvSpPr>
          <p:cNvPr name="TextBox 17" id="17"/>
          <p:cNvSpPr txBox="true"/>
          <p:nvPr/>
        </p:nvSpPr>
        <p:spPr>
          <a:xfrm rot="0">
            <a:off x="1028700" y="2696718"/>
            <a:ext cx="4800600" cy="104775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2B2B2B"/>
                </a:solidFill>
                <a:latin typeface="Arial"/>
                <a:ea typeface="Arial"/>
                <a:cs typeface="Arial"/>
                <a:sym typeface="Arial"/>
              </a:rPr>
              <a:t>BOROUGH</a:t>
            </a:r>
          </a:p>
          <a:p>
            <a:pPr algn="l" marL="325755" indent="-162878" lvl="1">
              <a:lnSpc>
                <a:spcPts val="2160"/>
              </a:lnSpc>
              <a:buFont typeface="Arial"/>
              <a:buChar char="•"/>
            </a:pPr>
            <a:r>
              <a:rPr lang="en-US" sz="1800">
                <a:solidFill>
                  <a:srgbClr val="2B2B2B"/>
                </a:solidFill>
                <a:latin typeface="Arial"/>
                <a:ea typeface="Arial"/>
                <a:cs typeface="Arial"/>
                <a:sym typeface="Arial"/>
              </a:rPr>
              <a:t>ZIP_CODE</a:t>
            </a:r>
          </a:p>
          <a:p>
            <a:pPr algn="l" marL="325755" indent="-162878" lvl="1">
              <a:lnSpc>
                <a:spcPts val="2160"/>
              </a:lnSpc>
              <a:buFont typeface="Arial"/>
              <a:buChar char="•"/>
            </a:pPr>
            <a:r>
              <a:rPr lang="en-US" sz="1800">
                <a:solidFill>
                  <a:srgbClr val="2B2B2B"/>
                </a:solidFill>
                <a:latin typeface="Arial"/>
                <a:ea typeface="Arial"/>
                <a:cs typeface="Arial"/>
                <a:sym typeface="Arial"/>
              </a:rPr>
              <a:t>LOCATION</a:t>
            </a:r>
          </a:p>
        </p:txBody>
      </p:sp>
      <p:grpSp>
        <p:nvGrpSpPr>
          <p:cNvPr name="Group 18" id="18"/>
          <p:cNvGrpSpPr/>
          <p:nvPr/>
        </p:nvGrpSpPr>
        <p:grpSpPr>
          <a:xfrm rot="0">
            <a:off x="6425660" y="1775936"/>
            <a:ext cx="5432108" cy="2003108"/>
            <a:chOff x="0" y="0"/>
            <a:chExt cx="7242810" cy="2670810"/>
          </a:xfrm>
        </p:grpSpPr>
        <p:sp>
          <p:nvSpPr>
            <p:cNvPr name="Freeform 19" id="19"/>
            <p:cNvSpPr/>
            <p:nvPr/>
          </p:nvSpPr>
          <p:spPr>
            <a:xfrm flipH="false" flipV="false" rot="0">
              <a:off x="0" y="0"/>
              <a:ext cx="7242810" cy="2670810"/>
            </a:xfrm>
            <a:custGeom>
              <a:avLst/>
              <a:gdLst/>
              <a:ahLst/>
              <a:cxnLst/>
              <a:rect r="r" b="b" t="t" l="l"/>
              <a:pathLst>
                <a:path h="2670810" w="7242810">
                  <a:moveTo>
                    <a:pt x="0" y="0"/>
                  </a:moveTo>
                  <a:lnTo>
                    <a:pt x="7242810" y="0"/>
                  </a:lnTo>
                  <a:lnTo>
                    <a:pt x="7242810" y="2670810"/>
                  </a:lnTo>
                  <a:lnTo>
                    <a:pt x="0" y="2670810"/>
                  </a:lnTo>
                  <a:close/>
                </a:path>
              </a:pathLst>
            </a:custGeom>
            <a:solidFill>
              <a:srgbClr val="F2F2F0"/>
            </a:solidFill>
            <a:ln w="14288" cap="sq">
              <a:solidFill>
                <a:srgbClr val="D9D9D6"/>
              </a:solidFill>
              <a:prstDash val="solid"/>
              <a:miter/>
            </a:ln>
          </p:spPr>
        </p:sp>
      </p:grpSp>
      <p:grpSp>
        <p:nvGrpSpPr>
          <p:cNvPr name="Group 20" id="20"/>
          <p:cNvGrpSpPr/>
          <p:nvPr/>
        </p:nvGrpSpPr>
        <p:grpSpPr>
          <a:xfrm rot="0">
            <a:off x="6766179" y="2006727"/>
            <a:ext cx="2625090" cy="512826"/>
            <a:chOff x="0" y="0"/>
            <a:chExt cx="3500120" cy="683768"/>
          </a:xfrm>
        </p:grpSpPr>
        <p:sp>
          <p:nvSpPr>
            <p:cNvPr name="Freeform 21" id="21"/>
            <p:cNvSpPr/>
            <p:nvPr/>
          </p:nvSpPr>
          <p:spPr>
            <a:xfrm flipH="false" flipV="false" rot="0">
              <a:off x="0" y="0"/>
              <a:ext cx="3500120" cy="683768"/>
            </a:xfrm>
            <a:custGeom>
              <a:avLst/>
              <a:gdLst/>
              <a:ahLst/>
              <a:cxnLst/>
              <a:rect r="r" b="b" t="t" l="l"/>
              <a:pathLst>
                <a:path h="683768" w="3500120">
                  <a:moveTo>
                    <a:pt x="0" y="151892"/>
                  </a:moveTo>
                  <a:cubicBezTo>
                    <a:pt x="0" y="68072"/>
                    <a:pt x="68072" y="0"/>
                    <a:pt x="151892" y="0"/>
                  </a:cubicBezTo>
                  <a:lnTo>
                    <a:pt x="3348228" y="0"/>
                  </a:lnTo>
                  <a:cubicBezTo>
                    <a:pt x="3432175" y="0"/>
                    <a:pt x="3500120" y="68072"/>
                    <a:pt x="3500120" y="151892"/>
                  </a:cubicBezTo>
                  <a:lnTo>
                    <a:pt x="3500120" y="531876"/>
                  </a:lnTo>
                  <a:cubicBezTo>
                    <a:pt x="3500120" y="615823"/>
                    <a:pt x="3432048" y="683768"/>
                    <a:pt x="3348228" y="683768"/>
                  </a:cubicBezTo>
                  <a:lnTo>
                    <a:pt x="151892" y="683768"/>
                  </a:lnTo>
                  <a:cubicBezTo>
                    <a:pt x="68072" y="683768"/>
                    <a:pt x="0" y="615696"/>
                    <a:pt x="0" y="531876"/>
                  </a:cubicBezTo>
                  <a:close/>
                </a:path>
              </a:pathLst>
            </a:custGeom>
            <a:solidFill>
              <a:srgbClr val="D4A62A"/>
            </a:solidFill>
            <a:ln w="19050" cap="sq">
              <a:solidFill>
                <a:srgbClr val="D4A62A"/>
              </a:solidFill>
              <a:prstDash val="solid"/>
              <a:miter/>
            </a:ln>
          </p:spPr>
        </p:sp>
      </p:grpSp>
      <p:grpSp>
        <p:nvGrpSpPr>
          <p:cNvPr name="Group 22" id="22"/>
          <p:cNvGrpSpPr/>
          <p:nvPr/>
        </p:nvGrpSpPr>
        <p:grpSpPr>
          <a:xfrm rot="0">
            <a:off x="6775704" y="2016252"/>
            <a:ext cx="2606040" cy="493776"/>
            <a:chOff x="0" y="0"/>
            <a:chExt cx="3474720" cy="658368"/>
          </a:xfrm>
        </p:grpSpPr>
        <p:sp>
          <p:nvSpPr>
            <p:cNvPr name="Freeform 23" id="23"/>
            <p:cNvSpPr/>
            <p:nvPr/>
          </p:nvSpPr>
          <p:spPr>
            <a:xfrm flipH="false" flipV="false" rot="0">
              <a:off x="0" y="0"/>
              <a:ext cx="3474720" cy="658368"/>
            </a:xfrm>
            <a:custGeom>
              <a:avLst/>
              <a:gdLst/>
              <a:ahLst/>
              <a:cxnLst/>
              <a:rect r="r" b="b" t="t" l="l"/>
              <a:pathLst>
                <a:path h="658368" w="3474720">
                  <a:moveTo>
                    <a:pt x="0" y="0"/>
                  </a:moveTo>
                  <a:lnTo>
                    <a:pt x="3474720" y="0"/>
                  </a:lnTo>
                  <a:lnTo>
                    <a:pt x="3474720" y="658368"/>
                  </a:lnTo>
                  <a:lnTo>
                    <a:pt x="0" y="658368"/>
                  </a:lnTo>
                  <a:close/>
                </a:path>
              </a:pathLst>
            </a:custGeom>
            <a:blipFill>
              <a:blip r:embed="rId3">
                <a:alphaModFix amt="0"/>
              </a:blip>
              <a:stretch>
                <a:fillRect l="0" t="-52837" r="0" b="-52837"/>
              </a:stretch>
            </a:blipFill>
          </p:spPr>
        </p:sp>
        <p:sp>
          <p:nvSpPr>
            <p:cNvPr name="TextBox 24" id="24"/>
            <p:cNvSpPr txBox="true"/>
            <p:nvPr/>
          </p:nvSpPr>
          <p:spPr>
            <a:xfrm>
              <a:off x="0" y="-19050"/>
              <a:ext cx="3474720" cy="677418"/>
            </a:xfrm>
            <a:prstGeom prst="rect">
              <a:avLst/>
            </a:prstGeom>
          </p:spPr>
          <p:txBody>
            <a:bodyPr anchor="ctr" rtlCol="false" tIns="0" lIns="0" bIns="0" rIns="0"/>
            <a:lstStyle/>
            <a:p>
              <a:pPr algn="ctr">
                <a:lnSpc>
                  <a:spcPts val="1980"/>
                </a:lnSpc>
              </a:pPr>
              <a:r>
                <a:rPr lang="en-US" sz="1650" b="true">
                  <a:solidFill>
                    <a:srgbClr val="2F3237"/>
                  </a:solidFill>
                  <a:latin typeface="Arial Bold"/>
                  <a:ea typeface="Arial Bold"/>
                  <a:cs typeface="Arial Bold"/>
                  <a:sym typeface="Arial Bold"/>
                </a:rPr>
                <a:t>Core Event</a:t>
              </a:r>
            </a:p>
          </p:txBody>
        </p:sp>
      </p:grpSp>
      <p:sp>
        <p:nvSpPr>
          <p:cNvPr name="TextBox 25" id="25"/>
          <p:cNvSpPr txBox="true"/>
          <p:nvPr/>
        </p:nvSpPr>
        <p:spPr>
          <a:xfrm rot="0">
            <a:off x="6775704" y="2696718"/>
            <a:ext cx="4800600" cy="104775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2B2B2B"/>
                </a:solidFill>
                <a:latin typeface="Arial"/>
                <a:ea typeface="Arial"/>
                <a:cs typeface="Arial"/>
                <a:sym typeface="Arial"/>
              </a:rPr>
              <a:t>COLLISION</a:t>
            </a:r>
          </a:p>
        </p:txBody>
      </p:sp>
      <p:grpSp>
        <p:nvGrpSpPr>
          <p:cNvPr name="Group 26" id="26"/>
          <p:cNvGrpSpPr/>
          <p:nvPr/>
        </p:nvGrpSpPr>
        <p:grpSpPr>
          <a:xfrm rot="0">
            <a:off x="12172664" y="1775936"/>
            <a:ext cx="5432108" cy="2003108"/>
            <a:chOff x="0" y="0"/>
            <a:chExt cx="7242810" cy="2670810"/>
          </a:xfrm>
        </p:grpSpPr>
        <p:sp>
          <p:nvSpPr>
            <p:cNvPr name="Freeform 27" id="27"/>
            <p:cNvSpPr/>
            <p:nvPr/>
          </p:nvSpPr>
          <p:spPr>
            <a:xfrm flipH="false" flipV="false" rot="0">
              <a:off x="0" y="0"/>
              <a:ext cx="7242810" cy="2670810"/>
            </a:xfrm>
            <a:custGeom>
              <a:avLst/>
              <a:gdLst/>
              <a:ahLst/>
              <a:cxnLst/>
              <a:rect r="r" b="b" t="t" l="l"/>
              <a:pathLst>
                <a:path h="2670810" w="7242810">
                  <a:moveTo>
                    <a:pt x="0" y="0"/>
                  </a:moveTo>
                  <a:lnTo>
                    <a:pt x="7242810" y="0"/>
                  </a:lnTo>
                  <a:lnTo>
                    <a:pt x="7242810" y="2670810"/>
                  </a:lnTo>
                  <a:lnTo>
                    <a:pt x="0" y="2670810"/>
                  </a:lnTo>
                  <a:close/>
                </a:path>
              </a:pathLst>
            </a:custGeom>
            <a:solidFill>
              <a:srgbClr val="F2F2F0"/>
            </a:solidFill>
            <a:ln w="14288" cap="sq">
              <a:solidFill>
                <a:srgbClr val="D9D9D6"/>
              </a:solidFill>
              <a:prstDash val="solid"/>
              <a:miter/>
            </a:ln>
          </p:spPr>
        </p:sp>
      </p:grpSp>
      <p:grpSp>
        <p:nvGrpSpPr>
          <p:cNvPr name="Group 28" id="28"/>
          <p:cNvGrpSpPr/>
          <p:nvPr/>
        </p:nvGrpSpPr>
        <p:grpSpPr>
          <a:xfrm rot="0">
            <a:off x="12513183" y="2006727"/>
            <a:ext cx="2625090" cy="512826"/>
            <a:chOff x="0" y="0"/>
            <a:chExt cx="3500120" cy="683768"/>
          </a:xfrm>
        </p:grpSpPr>
        <p:sp>
          <p:nvSpPr>
            <p:cNvPr name="Freeform 29" id="29"/>
            <p:cNvSpPr/>
            <p:nvPr/>
          </p:nvSpPr>
          <p:spPr>
            <a:xfrm flipH="false" flipV="false" rot="0">
              <a:off x="0" y="0"/>
              <a:ext cx="3500120" cy="683768"/>
            </a:xfrm>
            <a:custGeom>
              <a:avLst/>
              <a:gdLst/>
              <a:ahLst/>
              <a:cxnLst/>
              <a:rect r="r" b="b" t="t" l="l"/>
              <a:pathLst>
                <a:path h="683768" w="3500120">
                  <a:moveTo>
                    <a:pt x="0" y="151892"/>
                  </a:moveTo>
                  <a:cubicBezTo>
                    <a:pt x="0" y="68072"/>
                    <a:pt x="68072" y="0"/>
                    <a:pt x="151892" y="0"/>
                  </a:cubicBezTo>
                  <a:lnTo>
                    <a:pt x="3348228" y="0"/>
                  </a:lnTo>
                  <a:cubicBezTo>
                    <a:pt x="3432175" y="0"/>
                    <a:pt x="3500120" y="68072"/>
                    <a:pt x="3500120" y="151892"/>
                  </a:cubicBezTo>
                  <a:lnTo>
                    <a:pt x="3500120" y="531876"/>
                  </a:lnTo>
                  <a:cubicBezTo>
                    <a:pt x="3500120" y="615823"/>
                    <a:pt x="3432048" y="683768"/>
                    <a:pt x="3348228" y="683768"/>
                  </a:cubicBezTo>
                  <a:lnTo>
                    <a:pt x="151892" y="683768"/>
                  </a:lnTo>
                  <a:cubicBezTo>
                    <a:pt x="68072" y="683768"/>
                    <a:pt x="0" y="615696"/>
                    <a:pt x="0" y="531876"/>
                  </a:cubicBezTo>
                  <a:close/>
                </a:path>
              </a:pathLst>
            </a:custGeom>
            <a:solidFill>
              <a:srgbClr val="D4A62A"/>
            </a:solidFill>
            <a:ln w="19050" cap="sq">
              <a:solidFill>
                <a:srgbClr val="D4A62A"/>
              </a:solidFill>
              <a:prstDash val="solid"/>
              <a:miter/>
            </a:ln>
          </p:spPr>
        </p:sp>
      </p:grpSp>
      <p:grpSp>
        <p:nvGrpSpPr>
          <p:cNvPr name="Group 30" id="30"/>
          <p:cNvGrpSpPr/>
          <p:nvPr/>
        </p:nvGrpSpPr>
        <p:grpSpPr>
          <a:xfrm rot="0">
            <a:off x="12522708" y="2016252"/>
            <a:ext cx="2606040" cy="493776"/>
            <a:chOff x="0" y="0"/>
            <a:chExt cx="3474720" cy="658368"/>
          </a:xfrm>
        </p:grpSpPr>
        <p:sp>
          <p:nvSpPr>
            <p:cNvPr name="Freeform 31" id="31"/>
            <p:cNvSpPr/>
            <p:nvPr/>
          </p:nvSpPr>
          <p:spPr>
            <a:xfrm flipH="false" flipV="false" rot="0">
              <a:off x="0" y="0"/>
              <a:ext cx="3474720" cy="658368"/>
            </a:xfrm>
            <a:custGeom>
              <a:avLst/>
              <a:gdLst/>
              <a:ahLst/>
              <a:cxnLst/>
              <a:rect r="r" b="b" t="t" l="l"/>
              <a:pathLst>
                <a:path h="658368" w="3474720">
                  <a:moveTo>
                    <a:pt x="0" y="0"/>
                  </a:moveTo>
                  <a:lnTo>
                    <a:pt x="3474720" y="0"/>
                  </a:lnTo>
                  <a:lnTo>
                    <a:pt x="3474720" y="658368"/>
                  </a:lnTo>
                  <a:lnTo>
                    <a:pt x="0" y="658368"/>
                  </a:lnTo>
                  <a:close/>
                </a:path>
              </a:pathLst>
            </a:custGeom>
            <a:blipFill>
              <a:blip r:embed="rId3">
                <a:alphaModFix amt="0"/>
              </a:blip>
              <a:stretch>
                <a:fillRect l="0" t="-52837" r="0" b="-52837"/>
              </a:stretch>
            </a:blipFill>
          </p:spPr>
        </p:sp>
        <p:sp>
          <p:nvSpPr>
            <p:cNvPr name="TextBox 32" id="32"/>
            <p:cNvSpPr txBox="true"/>
            <p:nvPr/>
          </p:nvSpPr>
          <p:spPr>
            <a:xfrm>
              <a:off x="0" y="-19050"/>
              <a:ext cx="3474720" cy="677418"/>
            </a:xfrm>
            <a:prstGeom prst="rect">
              <a:avLst/>
            </a:prstGeom>
          </p:spPr>
          <p:txBody>
            <a:bodyPr anchor="ctr" rtlCol="false" tIns="0" lIns="0" bIns="0" rIns="0"/>
            <a:lstStyle/>
            <a:p>
              <a:pPr algn="ctr">
                <a:lnSpc>
                  <a:spcPts val="1980"/>
                </a:lnSpc>
              </a:pPr>
              <a:r>
                <a:rPr lang="en-US" sz="1650" b="true">
                  <a:solidFill>
                    <a:srgbClr val="2F3237"/>
                  </a:solidFill>
                  <a:latin typeface="Arial Bold"/>
                  <a:ea typeface="Arial Bold"/>
                  <a:cs typeface="Arial Bold"/>
                  <a:sym typeface="Arial Bold"/>
                </a:rPr>
                <a:t>Vehicle Module</a:t>
              </a:r>
            </a:p>
          </p:txBody>
        </p:sp>
      </p:grpSp>
      <p:sp>
        <p:nvSpPr>
          <p:cNvPr name="TextBox 33" id="33"/>
          <p:cNvSpPr txBox="true"/>
          <p:nvPr/>
        </p:nvSpPr>
        <p:spPr>
          <a:xfrm rot="0">
            <a:off x="12522708" y="2696718"/>
            <a:ext cx="4800600" cy="104775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2B2B2B"/>
                </a:solidFill>
                <a:latin typeface="Arial"/>
                <a:ea typeface="Arial"/>
                <a:cs typeface="Arial"/>
                <a:sym typeface="Arial"/>
              </a:rPr>
              <a:t>VEHICLE_TYPE</a:t>
            </a:r>
          </a:p>
          <a:p>
            <a:pPr algn="l" marL="325755" indent="-162878" lvl="1">
              <a:lnSpc>
                <a:spcPts val="2160"/>
              </a:lnSpc>
              <a:buFont typeface="Arial"/>
              <a:buChar char="•"/>
            </a:pPr>
            <a:r>
              <a:rPr lang="en-US" sz="1800">
                <a:solidFill>
                  <a:srgbClr val="2B2B2B"/>
                </a:solidFill>
                <a:latin typeface="Arial"/>
                <a:ea typeface="Arial"/>
                <a:cs typeface="Arial"/>
                <a:sym typeface="Arial"/>
              </a:rPr>
              <a:t>COLLISION_VEHICLE (M:N)</a:t>
            </a:r>
          </a:p>
        </p:txBody>
      </p:sp>
      <p:grpSp>
        <p:nvGrpSpPr>
          <p:cNvPr name="Group 34" id="34"/>
          <p:cNvGrpSpPr/>
          <p:nvPr/>
        </p:nvGrpSpPr>
        <p:grpSpPr>
          <a:xfrm rot="0">
            <a:off x="678656" y="4039076"/>
            <a:ext cx="5432108" cy="2003108"/>
            <a:chOff x="0" y="0"/>
            <a:chExt cx="7242810" cy="2670810"/>
          </a:xfrm>
        </p:grpSpPr>
        <p:sp>
          <p:nvSpPr>
            <p:cNvPr name="Freeform 35" id="35"/>
            <p:cNvSpPr/>
            <p:nvPr/>
          </p:nvSpPr>
          <p:spPr>
            <a:xfrm flipH="false" flipV="false" rot="0">
              <a:off x="0" y="0"/>
              <a:ext cx="7242810" cy="2670810"/>
            </a:xfrm>
            <a:custGeom>
              <a:avLst/>
              <a:gdLst/>
              <a:ahLst/>
              <a:cxnLst/>
              <a:rect r="r" b="b" t="t" l="l"/>
              <a:pathLst>
                <a:path h="2670810" w="7242810">
                  <a:moveTo>
                    <a:pt x="0" y="0"/>
                  </a:moveTo>
                  <a:lnTo>
                    <a:pt x="7242810" y="0"/>
                  </a:lnTo>
                  <a:lnTo>
                    <a:pt x="7242810" y="2670810"/>
                  </a:lnTo>
                  <a:lnTo>
                    <a:pt x="0" y="2670810"/>
                  </a:lnTo>
                  <a:close/>
                </a:path>
              </a:pathLst>
            </a:custGeom>
            <a:solidFill>
              <a:srgbClr val="F2F2F0"/>
            </a:solidFill>
            <a:ln w="14288" cap="sq">
              <a:solidFill>
                <a:srgbClr val="D9D9D6"/>
              </a:solidFill>
              <a:prstDash val="solid"/>
              <a:miter/>
            </a:ln>
          </p:spPr>
        </p:sp>
      </p:grpSp>
      <p:grpSp>
        <p:nvGrpSpPr>
          <p:cNvPr name="Group 36" id="36"/>
          <p:cNvGrpSpPr/>
          <p:nvPr/>
        </p:nvGrpSpPr>
        <p:grpSpPr>
          <a:xfrm rot="0">
            <a:off x="1019175" y="4269867"/>
            <a:ext cx="2625090" cy="512826"/>
            <a:chOff x="0" y="0"/>
            <a:chExt cx="3500120" cy="683768"/>
          </a:xfrm>
        </p:grpSpPr>
        <p:sp>
          <p:nvSpPr>
            <p:cNvPr name="Freeform 37" id="37"/>
            <p:cNvSpPr/>
            <p:nvPr/>
          </p:nvSpPr>
          <p:spPr>
            <a:xfrm flipH="false" flipV="false" rot="0">
              <a:off x="0" y="0"/>
              <a:ext cx="3500120" cy="683768"/>
            </a:xfrm>
            <a:custGeom>
              <a:avLst/>
              <a:gdLst/>
              <a:ahLst/>
              <a:cxnLst/>
              <a:rect r="r" b="b" t="t" l="l"/>
              <a:pathLst>
                <a:path h="683768" w="3500120">
                  <a:moveTo>
                    <a:pt x="0" y="151892"/>
                  </a:moveTo>
                  <a:cubicBezTo>
                    <a:pt x="0" y="68072"/>
                    <a:pt x="68072" y="0"/>
                    <a:pt x="151892" y="0"/>
                  </a:cubicBezTo>
                  <a:lnTo>
                    <a:pt x="3348228" y="0"/>
                  </a:lnTo>
                  <a:cubicBezTo>
                    <a:pt x="3432175" y="0"/>
                    <a:pt x="3500120" y="68072"/>
                    <a:pt x="3500120" y="151892"/>
                  </a:cubicBezTo>
                  <a:lnTo>
                    <a:pt x="3500120" y="531876"/>
                  </a:lnTo>
                  <a:cubicBezTo>
                    <a:pt x="3500120" y="615823"/>
                    <a:pt x="3432048" y="683768"/>
                    <a:pt x="3348228" y="683768"/>
                  </a:cubicBezTo>
                  <a:lnTo>
                    <a:pt x="151892" y="683768"/>
                  </a:lnTo>
                  <a:cubicBezTo>
                    <a:pt x="68072" y="683768"/>
                    <a:pt x="0" y="615696"/>
                    <a:pt x="0" y="531876"/>
                  </a:cubicBezTo>
                  <a:close/>
                </a:path>
              </a:pathLst>
            </a:custGeom>
            <a:solidFill>
              <a:srgbClr val="D4A62A"/>
            </a:solidFill>
            <a:ln w="19050" cap="sq">
              <a:solidFill>
                <a:srgbClr val="D4A62A"/>
              </a:solidFill>
              <a:prstDash val="solid"/>
              <a:miter/>
            </a:ln>
          </p:spPr>
        </p:sp>
      </p:grpSp>
      <p:grpSp>
        <p:nvGrpSpPr>
          <p:cNvPr name="Group 38" id="38"/>
          <p:cNvGrpSpPr/>
          <p:nvPr/>
        </p:nvGrpSpPr>
        <p:grpSpPr>
          <a:xfrm rot="0">
            <a:off x="1028700" y="4279392"/>
            <a:ext cx="2606040" cy="493776"/>
            <a:chOff x="0" y="0"/>
            <a:chExt cx="3474720" cy="658368"/>
          </a:xfrm>
        </p:grpSpPr>
        <p:sp>
          <p:nvSpPr>
            <p:cNvPr name="Freeform 39" id="39"/>
            <p:cNvSpPr/>
            <p:nvPr/>
          </p:nvSpPr>
          <p:spPr>
            <a:xfrm flipH="false" flipV="false" rot="0">
              <a:off x="0" y="0"/>
              <a:ext cx="3474720" cy="658368"/>
            </a:xfrm>
            <a:custGeom>
              <a:avLst/>
              <a:gdLst/>
              <a:ahLst/>
              <a:cxnLst/>
              <a:rect r="r" b="b" t="t" l="l"/>
              <a:pathLst>
                <a:path h="658368" w="3474720">
                  <a:moveTo>
                    <a:pt x="0" y="0"/>
                  </a:moveTo>
                  <a:lnTo>
                    <a:pt x="3474720" y="0"/>
                  </a:lnTo>
                  <a:lnTo>
                    <a:pt x="3474720" y="658368"/>
                  </a:lnTo>
                  <a:lnTo>
                    <a:pt x="0" y="658368"/>
                  </a:lnTo>
                  <a:close/>
                </a:path>
              </a:pathLst>
            </a:custGeom>
            <a:blipFill>
              <a:blip r:embed="rId3">
                <a:alphaModFix amt="0"/>
              </a:blip>
              <a:stretch>
                <a:fillRect l="0" t="-52837" r="0" b="-52837"/>
              </a:stretch>
            </a:blipFill>
          </p:spPr>
        </p:sp>
        <p:sp>
          <p:nvSpPr>
            <p:cNvPr name="TextBox 40" id="40"/>
            <p:cNvSpPr txBox="true"/>
            <p:nvPr/>
          </p:nvSpPr>
          <p:spPr>
            <a:xfrm>
              <a:off x="0" y="-19050"/>
              <a:ext cx="3474720" cy="677418"/>
            </a:xfrm>
            <a:prstGeom prst="rect">
              <a:avLst/>
            </a:prstGeom>
          </p:spPr>
          <p:txBody>
            <a:bodyPr anchor="ctr" rtlCol="false" tIns="0" lIns="0" bIns="0" rIns="0"/>
            <a:lstStyle/>
            <a:p>
              <a:pPr algn="ctr">
                <a:lnSpc>
                  <a:spcPts val="1980"/>
                </a:lnSpc>
              </a:pPr>
              <a:r>
                <a:rPr lang="en-US" sz="1650" b="true">
                  <a:solidFill>
                    <a:srgbClr val="2F3237"/>
                  </a:solidFill>
                  <a:latin typeface="Arial Bold"/>
                  <a:ea typeface="Arial Bold"/>
                  <a:cs typeface="Arial Bold"/>
                  <a:sym typeface="Arial Bold"/>
                </a:rPr>
                <a:t>Factor Module</a:t>
              </a:r>
            </a:p>
          </p:txBody>
        </p:sp>
      </p:grpSp>
      <p:sp>
        <p:nvSpPr>
          <p:cNvPr name="TextBox 41" id="41"/>
          <p:cNvSpPr txBox="true"/>
          <p:nvPr/>
        </p:nvSpPr>
        <p:spPr>
          <a:xfrm rot="0">
            <a:off x="1028700" y="4959858"/>
            <a:ext cx="4800600" cy="104775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2B2B2B"/>
                </a:solidFill>
                <a:latin typeface="Arial"/>
                <a:ea typeface="Arial"/>
                <a:cs typeface="Arial"/>
                <a:sym typeface="Arial"/>
              </a:rPr>
              <a:t>CONTRIBUTING_FACTOR</a:t>
            </a:r>
          </a:p>
          <a:p>
            <a:pPr algn="l" marL="325755" indent="-162878" lvl="1">
              <a:lnSpc>
                <a:spcPts val="2160"/>
              </a:lnSpc>
              <a:buFont typeface="Arial"/>
              <a:buChar char="•"/>
            </a:pPr>
            <a:r>
              <a:rPr lang="en-US" sz="1800">
                <a:solidFill>
                  <a:srgbClr val="2B2B2B"/>
                </a:solidFill>
                <a:latin typeface="Arial"/>
                <a:ea typeface="Arial"/>
                <a:cs typeface="Arial"/>
                <a:sym typeface="Arial"/>
              </a:rPr>
              <a:t>COLLISION_FACTOR (M:N)</a:t>
            </a:r>
          </a:p>
        </p:txBody>
      </p:sp>
      <p:grpSp>
        <p:nvGrpSpPr>
          <p:cNvPr name="Group 42" id="42"/>
          <p:cNvGrpSpPr/>
          <p:nvPr/>
        </p:nvGrpSpPr>
        <p:grpSpPr>
          <a:xfrm rot="0">
            <a:off x="6425660" y="4039076"/>
            <a:ext cx="5432108" cy="2003108"/>
            <a:chOff x="0" y="0"/>
            <a:chExt cx="7242810" cy="2670810"/>
          </a:xfrm>
        </p:grpSpPr>
        <p:sp>
          <p:nvSpPr>
            <p:cNvPr name="Freeform 43" id="43"/>
            <p:cNvSpPr/>
            <p:nvPr/>
          </p:nvSpPr>
          <p:spPr>
            <a:xfrm flipH="false" flipV="false" rot="0">
              <a:off x="0" y="0"/>
              <a:ext cx="7242810" cy="2670810"/>
            </a:xfrm>
            <a:custGeom>
              <a:avLst/>
              <a:gdLst/>
              <a:ahLst/>
              <a:cxnLst/>
              <a:rect r="r" b="b" t="t" l="l"/>
              <a:pathLst>
                <a:path h="2670810" w="7242810">
                  <a:moveTo>
                    <a:pt x="0" y="0"/>
                  </a:moveTo>
                  <a:lnTo>
                    <a:pt x="7242810" y="0"/>
                  </a:lnTo>
                  <a:lnTo>
                    <a:pt x="7242810" y="2670810"/>
                  </a:lnTo>
                  <a:lnTo>
                    <a:pt x="0" y="2670810"/>
                  </a:lnTo>
                  <a:close/>
                </a:path>
              </a:pathLst>
            </a:custGeom>
            <a:solidFill>
              <a:srgbClr val="F2F2F0"/>
            </a:solidFill>
            <a:ln w="14288" cap="sq">
              <a:solidFill>
                <a:srgbClr val="D9D9D6"/>
              </a:solidFill>
              <a:prstDash val="solid"/>
              <a:miter/>
            </a:ln>
          </p:spPr>
        </p:sp>
      </p:grpSp>
      <p:grpSp>
        <p:nvGrpSpPr>
          <p:cNvPr name="Group 44" id="44"/>
          <p:cNvGrpSpPr/>
          <p:nvPr/>
        </p:nvGrpSpPr>
        <p:grpSpPr>
          <a:xfrm rot="0">
            <a:off x="6766179" y="4269867"/>
            <a:ext cx="2625090" cy="512826"/>
            <a:chOff x="0" y="0"/>
            <a:chExt cx="3500120" cy="683768"/>
          </a:xfrm>
        </p:grpSpPr>
        <p:sp>
          <p:nvSpPr>
            <p:cNvPr name="Freeform 45" id="45"/>
            <p:cNvSpPr/>
            <p:nvPr/>
          </p:nvSpPr>
          <p:spPr>
            <a:xfrm flipH="false" flipV="false" rot="0">
              <a:off x="0" y="0"/>
              <a:ext cx="3500120" cy="683768"/>
            </a:xfrm>
            <a:custGeom>
              <a:avLst/>
              <a:gdLst/>
              <a:ahLst/>
              <a:cxnLst/>
              <a:rect r="r" b="b" t="t" l="l"/>
              <a:pathLst>
                <a:path h="683768" w="3500120">
                  <a:moveTo>
                    <a:pt x="0" y="151892"/>
                  </a:moveTo>
                  <a:cubicBezTo>
                    <a:pt x="0" y="68072"/>
                    <a:pt x="68072" y="0"/>
                    <a:pt x="151892" y="0"/>
                  </a:cubicBezTo>
                  <a:lnTo>
                    <a:pt x="3348228" y="0"/>
                  </a:lnTo>
                  <a:cubicBezTo>
                    <a:pt x="3432175" y="0"/>
                    <a:pt x="3500120" y="68072"/>
                    <a:pt x="3500120" y="151892"/>
                  </a:cubicBezTo>
                  <a:lnTo>
                    <a:pt x="3500120" y="531876"/>
                  </a:lnTo>
                  <a:cubicBezTo>
                    <a:pt x="3500120" y="615823"/>
                    <a:pt x="3432048" y="683768"/>
                    <a:pt x="3348228" y="683768"/>
                  </a:cubicBezTo>
                  <a:lnTo>
                    <a:pt x="151892" y="683768"/>
                  </a:lnTo>
                  <a:cubicBezTo>
                    <a:pt x="68072" y="683768"/>
                    <a:pt x="0" y="615696"/>
                    <a:pt x="0" y="531876"/>
                  </a:cubicBezTo>
                  <a:close/>
                </a:path>
              </a:pathLst>
            </a:custGeom>
            <a:solidFill>
              <a:srgbClr val="D4A62A"/>
            </a:solidFill>
            <a:ln w="19050" cap="sq">
              <a:solidFill>
                <a:srgbClr val="D4A62A"/>
              </a:solidFill>
              <a:prstDash val="solid"/>
              <a:miter/>
            </a:ln>
          </p:spPr>
        </p:sp>
      </p:grpSp>
      <p:grpSp>
        <p:nvGrpSpPr>
          <p:cNvPr name="Group 46" id="46"/>
          <p:cNvGrpSpPr/>
          <p:nvPr/>
        </p:nvGrpSpPr>
        <p:grpSpPr>
          <a:xfrm rot="0">
            <a:off x="6775704" y="4279392"/>
            <a:ext cx="2606040" cy="493776"/>
            <a:chOff x="0" y="0"/>
            <a:chExt cx="3474720" cy="658368"/>
          </a:xfrm>
        </p:grpSpPr>
        <p:sp>
          <p:nvSpPr>
            <p:cNvPr name="Freeform 47" id="47"/>
            <p:cNvSpPr/>
            <p:nvPr/>
          </p:nvSpPr>
          <p:spPr>
            <a:xfrm flipH="false" flipV="false" rot="0">
              <a:off x="0" y="0"/>
              <a:ext cx="3474720" cy="658368"/>
            </a:xfrm>
            <a:custGeom>
              <a:avLst/>
              <a:gdLst/>
              <a:ahLst/>
              <a:cxnLst/>
              <a:rect r="r" b="b" t="t" l="l"/>
              <a:pathLst>
                <a:path h="658368" w="3474720">
                  <a:moveTo>
                    <a:pt x="0" y="0"/>
                  </a:moveTo>
                  <a:lnTo>
                    <a:pt x="3474720" y="0"/>
                  </a:lnTo>
                  <a:lnTo>
                    <a:pt x="3474720" y="658368"/>
                  </a:lnTo>
                  <a:lnTo>
                    <a:pt x="0" y="658368"/>
                  </a:lnTo>
                  <a:close/>
                </a:path>
              </a:pathLst>
            </a:custGeom>
            <a:blipFill>
              <a:blip r:embed="rId3">
                <a:alphaModFix amt="0"/>
              </a:blip>
              <a:stretch>
                <a:fillRect l="0" t="-52837" r="0" b="-52837"/>
              </a:stretch>
            </a:blipFill>
          </p:spPr>
        </p:sp>
        <p:sp>
          <p:nvSpPr>
            <p:cNvPr name="TextBox 48" id="48"/>
            <p:cNvSpPr txBox="true"/>
            <p:nvPr/>
          </p:nvSpPr>
          <p:spPr>
            <a:xfrm>
              <a:off x="0" y="-19050"/>
              <a:ext cx="3474720" cy="677418"/>
            </a:xfrm>
            <a:prstGeom prst="rect">
              <a:avLst/>
            </a:prstGeom>
          </p:spPr>
          <p:txBody>
            <a:bodyPr anchor="ctr" rtlCol="false" tIns="0" lIns="0" bIns="0" rIns="0"/>
            <a:lstStyle/>
            <a:p>
              <a:pPr algn="ctr">
                <a:lnSpc>
                  <a:spcPts val="1980"/>
                </a:lnSpc>
              </a:pPr>
              <a:r>
                <a:rPr lang="en-US" sz="1650" b="true">
                  <a:solidFill>
                    <a:srgbClr val="2F3237"/>
                  </a:solidFill>
                  <a:latin typeface="Arial Bold"/>
                  <a:ea typeface="Arial Bold"/>
                  <a:cs typeface="Arial Bold"/>
                  <a:sym typeface="Arial Bold"/>
                </a:rPr>
                <a:t>Casualty Module</a:t>
              </a:r>
            </a:p>
          </p:txBody>
        </p:sp>
      </p:grpSp>
      <p:sp>
        <p:nvSpPr>
          <p:cNvPr name="TextBox 49" id="49"/>
          <p:cNvSpPr txBox="true"/>
          <p:nvPr/>
        </p:nvSpPr>
        <p:spPr>
          <a:xfrm rot="0">
            <a:off x="6775704" y="4959858"/>
            <a:ext cx="4800600" cy="104775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2B2B2B"/>
                </a:solidFill>
                <a:latin typeface="Arial"/>
                <a:ea typeface="Arial"/>
                <a:cs typeface="Arial"/>
                <a:sym typeface="Arial"/>
              </a:rPr>
              <a:t>CASUALTY (1:1 with COLLISION)</a:t>
            </a:r>
          </a:p>
        </p:txBody>
      </p:sp>
      <p:grpSp>
        <p:nvGrpSpPr>
          <p:cNvPr name="Group 50" id="50"/>
          <p:cNvGrpSpPr/>
          <p:nvPr/>
        </p:nvGrpSpPr>
        <p:grpSpPr>
          <a:xfrm rot="0">
            <a:off x="12172664" y="4039076"/>
            <a:ext cx="5432108" cy="2003108"/>
            <a:chOff x="0" y="0"/>
            <a:chExt cx="7242810" cy="2670810"/>
          </a:xfrm>
        </p:grpSpPr>
        <p:sp>
          <p:nvSpPr>
            <p:cNvPr name="Freeform 51" id="51"/>
            <p:cNvSpPr/>
            <p:nvPr/>
          </p:nvSpPr>
          <p:spPr>
            <a:xfrm flipH="false" flipV="false" rot="0">
              <a:off x="0" y="0"/>
              <a:ext cx="7242810" cy="2670810"/>
            </a:xfrm>
            <a:custGeom>
              <a:avLst/>
              <a:gdLst/>
              <a:ahLst/>
              <a:cxnLst/>
              <a:rect r="r" b="b" t="t" l="l"/>
              <a:pathLst>
                <a:path h="2670810" w="7242810">
                  <a:moveTo>
                    <a:pt x="0" y="0"/>
                  </a:moveTo>
                  <a:lnTo>
                    <a:pt x="7242810" y="0"/>
                  </a:lnTo>
                  <a:lnTo>
                    <a:pt x="7242810" y="2670810"/>
                  </a:lnTo>
                  <a:lnTo>
                    <a:pt x="0" y="2670810"/>
                  </a:lnTo>
                  <a:close/>
                </a:path>
              </a:pathLst>
            </a:custGeom>
            <a:solidFill>
              <a:srgbClr val="F2F2F0"/>
            </a:solidFill>
            <a:ln w="14288" cap="sq">
              <a:solidFill>
                <a:srgbClr val="D9D9D6"/>
              </a:solidFill>
              <a:prstDash val="solid"/>
              <a:miter/>
            </a:ln>
          </p:spPr>
        </p:sp>
      </p:grpSp>
      <p:grpSp>
        <p:nvGrpSpPr>
          <p:cNvPr name="Group 52" id="52"/>
          <p:cNvGrpSpPr/>
          <p:nvPr/>
        </p:nvGrpSpPr>
        <p:grpSpPr>
          <a:xfrm rot="0">
            <a:off x="12513183" y="4269867"/>
            <a:ext cx="2625090" cy="512826"/>
            <a:chOff x="0" y="0"/>
            <a:chExt cx="3500120" cy="683768"/>
          </a:xfrm>
        </p:grpSpPr>
        <p:sp>
          <p:nvSpPr>
            <p:cNvPr name="Freeform 53" id="53"/>
            <p:cNvSpPr/>
            <p:nvPr/>
          </p:nvSpPr>
          <p:spPr>
            <a:xfrm flipH="false" flipV="false" rot="0">
              <a:off x="0" y="0"/>
              <a:ext cx="3500120" cy="683768"/>
            </a:xfrm>
            <a:custGeom>
              <a:avLst/>
              <a:gdLst/>
              <a:ahLst/>
              <a:cxnLst/>
              <a:rect r="r" b="b" t="t" l="l"/>
              <a:pathLst>
                <a:path h="683768" w="3500120">
                  <a:moveTo>
                    <a:pt x="0" y="151892"/>
                  </a:moveTo>
                  <a:cubicBezTo>
                    <a:pt x="0" y="68072"/>
                    <a:pt x="68072" y="0"/>
                    <a:pt x="151892" y="0"/>
                  </a:cubicBezTo>
                  <a:lnTo>
                    <a:pt x="3348228" y="0"/>
                  </a:lnTo>
                  <a:cubicBezTo>
                    <a:pt x="3432175" y="0"/>
                    <a:pt x="3500120" y="68072"/>
                    <a:pt x="3500120" y="151892"/>
                  </a:cubicBezTo>
                  <a:lnTo>
                    <a:pt x="3500120" y="531876"/>
                  </a:lnTo>
                  <a:cubicBezTo>
                    <a:pt x="3500120" y="615823"/>
                    <a:pt x="3432048" y="683768"/>
                    <a:pt x="3348228" y="683768"/>
                  </a:cubicBezTo>
                  <a:lnTo>
                    <a:pt x="151892" y="683768"/>
                  </a:lnTo>
                  <a:cubicBezTo>
                    <a:pt x="68072" y="683768"/>
                    <a:pt x="0" y="615696"/>
                    <a:pt x="0" y="531876"/>
                  </a:cubicBezTo>
                  <a:close/>
                </a:path>
              </a:pathLst>
            </a:custGeom>
            <a:solidFill>
              <a:srgbClr val="D4A62A"/>
            </a:solidFill>
            <a:ln w="19050" cap="sq">
              <a:solidFill>
                <a:srgbClr val="D4A62A"/>
              </a:solidFill>
              <a:prstDash val="solid"/>
              <a:miter/>
            </a:ln>
          </p:spPr>
        </p:sp>
      </p:grpSp>
      <p:grpSp>
        <p:nvGrpSpPr>
          <p:cNvPr name="Group 54" id="54"/>
          <p:cNvGrpSpPr/>
          <p:nvPr/>
        </p:nvGrpSpPr>
        <p:grpSpPr>
          <a:xfrm rot="0">
            <a:off x="12522708" y="4279392"/>
            <a:ext cx="2606040" cy="493776"/>
            <a:chOff x="0" y="0"/>
            <a:chExt cx="3474720" cy="658368"/>
          </a:xfrm>
        </p:grpSpPr>
        <p:sp>
          <p:nvSpPr>
            <p:cNvPr name="Freeform 55" id="55"/>
            <p:cNvSpPr/>
            <p:nvPr/>
          </p:nvSpPr>
          <p:spPr>
            <a:xfrm flipH="false" flipV="false" rot="0">
              <a:off x="0" y="0"/>
              <a:ext cx="3474720" cy="658368"/>
            </a:xfrm>
            <a:custGeom>
              <a:avLst/>
              <a:gdLst/>
              <a:ahLst/>
              <a:cxnLst/>
              <a:rect r="r" b="b" t="t" l="l"/>
              <a:pathLst>
                <a:path h="658368" w="3474720">
                  <a:moveTo>
                    <a:pt x="0" y="0"/>
                  </a:moveTo>
                  <a:lnTo>
                    <a:pt x="3474720" y="0"/>
                  </a:lnTo>
                  <a:lnTo>
                    <a:pt x="3474720" y="658368"/>
                  </a:lnTo>
                  <a:lnTo>
                    <a:pt x="0" y="658368"/>
                  </a:lnTo>
                  <a:close/>
                </a:path>
              </a:pathLst>
            </a:custGeom>
            <a:blipFill>
              <a:blip r:embed="rId3">
                <a:alphaModFix amt="0"/>
              </a:blip>
              <a:stretch>
                <a:fillRect l="0" t="-52837" r="0" b="-52837"/>
              </a:stretch>
            </a:blipFill>
          </p:spPr>
        </p:sp>
        <p:sp>
          <p:nvSpPr>
            <p:cNvPr name="TextBox 56" id="56"/>
            <p:cNvSpPr txBox="true"/>
            <p:nvPr/>
          </p:nvSpPr>
          <p:spPr>
            <a:xfrm>
              <a:off x="0" y="-19050"/>
              <a:ext cx="3474720" cy="677418"/>
            </a:xfrm>
            <a:prstGeom prst="rect">
              <a:avLst/>
            </a:prstGeom>
          </p:spPr>
          <p:txBody>
            <a:bodyPr anchor="ctr" rtlCol="false" tIns="0" lIns="0" bIns="0" rIns="0"/>
            <a:lstStyle/>
            <a:p>
              <a:pPr algn="ctr">
                <a:lnSpc>
                  <a:spcPts val="1980"/>
                </a:lnSpc>
              </a:pPr>
              <a:r>
                <a:rPr lang="en-US" sz="1650" b="true">
                  <a:solidFill>
                    <a:srgbClr val="2F3237"/>
                  </a:solidFill>
                  <a:latin typeface="Arial Bold"/>
                  <a:ea typeface="Arial Bold"/>
                  <a:cs typeface="Arial Bold"/>
                  <a:sym typeface="Arial Bold"/>
                </a:rPr>
                <a:t>Audit &amp; Security</a:t>
              </a:r>
            </a:p>
          </p:txBody>
        </p:sp>
      </p:grpSp>
      <p:sp>
        <p:nvSpPr>
          <p:cNvPr name="TextBox 57" id="57"/>
          <p:cNvSpPr txBox="true"/>
          <p:nvPr/>
        </p:nvSpPr>
        <p:spPr>
          <a:xfrm rot="0">
            <a:off x="12522708" y="4959858"/>
            <a:ext cx="4800600" cy="1047750"/>
          </a:xfrm>
          <a:prstGeom prst="rect">
            <a:avLst/>
          </a:prstGeom>
        </p:spPr>
        <p:txBody>
          <a:bodyPr anchor="t" rtlCol="false" tIns="0" lIns="0" bIns="0" rIns="0">
            <a:spAutoFit/>
          </a:bodyPr>
          <a:lstStyle/>
          <a:p>
            <a:pPr algn="l" marL="325755" indent="-162878" lvl="1">
              <a:lnSpc>
                <a:spcPts val="2160"/>
              </a:lnSpc>
              <a:buFont typeface="Arial"/>
              <a:buChar char="•"/>
            </a:pPr>
            <a:r>
              <a:rPr lang="en-US" sz="1800">
                <a:solidFill>
                  <a:srgbClr val="2B2B2B"/>
                </a:solidFill>
                <a:latin typeface="Arial"/>
                <a:ea typeface="Arial"/>
                <a:cs typeface="Arial"/>
                <a:sym typeface="Arial"/>
              </a:rPr>
              <a:t>COLLISION_AUDIT (audit table)</a:t>
            </a:r>
          </a:p>
        </p:txBody>
      </p:sp>
      <p:grpSp>
        <p:nvGrpSpPr>
          <p:cNvPr name="Group 58" id="58"/>
          <p:cNvGrpSpPr/>
          <p:nvPr/>
        </p:nvGrpSpPr>
        <p:grpSpPr>
          <a:xfrm rot="0">
            <a:off x="676275" y="6436995"/>
            <a:ext cx="704850" cy="704850"/>
            <a:chOff x="0" y="0"/>
            <a:chExt cx="939800" cy="939800"/>
          </a:xfrm>
        </p:grpSpPr>
        <p:sp>
          <p:nvSpPr>
            <p:cNvPr name="Freeform 59" id="59"/>
            <p:cNvSpPr/>
            <p:nvPr/>
          </p:nvSpPr>
          <p:spPr>
            <a:xfrm flipH="false" flipV="false" rot="0">
              <a:off x="0" y="0"/>
              <a:ext cx="939800" cy="939800"/>
            </a:xfrm>
            <a:custGeom>
              <a:avLst/>
              <a:gdLst/>
              <a:ahLst/>
              <a:cxnLst/>
              <a:rect r="r" b="b" t="t" l="l"/>
              <a:pathLst>
                <a:path h="939800" w="939800">
                  <a:moveTo>
                    <a:pt x="0" y="150368"/>
                  </a:moveTo>
                  <a:cubicBezTo>
                    <a:pt x="0" y="67310"/>
                    <a:pt x="67310" y="0"/>
                    <a:pt x="150368" y="0"/>
                  </a:cubicBezTo>
                  <a:lnTo>
                    <a:pt x="789432" y="0"/>
                  </a:lnTo>
                  <a:cubicBezTo>
                    <a:pt x="872490" y="0"/>
                    <a:pt x="939800" y="67310"/>
                    <a:pt x="939800" y="150368"/>
                  </a:cubicBezTo>
                  <a:lnTo>
                    <a:pt x="939800" y="789432"/>
                  </a:lnTo>
                  <a:cubicBezTo>
                    <a:pt x="939800" y="872490"/>
                    <a:pt x="872490" y="939800"/>
                    <a:pt x="78943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60" id="60"/>
          <p:cNvGrpSpPr/>
          <p:nvPr/>
        </p:nvGrpSpPr>
        <p:grpSpPr>
          <a:xfrm rot="0">
            <a:off x="836676" y="6597396"/>
            <a:ext cx="384048" cy="384048"/>
            <a:chOff x="0" y="0"/>
            <a:chExt cx="512064" cy="512064"/>
          </a:xfrm>
        </p:grpSpPr>
        <p:sp>
          <p:nvSpPr>
            <p:cNvPr name="Freeform 61" id="61"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4"/>
              <a:stretch>
                <a:fillRect l="0" t="0" r="0" b="0"/>
              </a:stretch>
            </a:blipFill>
          </p:spPr>
        </p:sp>
      </p:grpSp>
      <p:grpSp>
        <p:nvGrpSpPr>
          <p:cNvPr name="Group 62" id="62"/>
          <p:cNvGrpSpPr/>
          <p:nvPr/>
        </p:nvGrpSpPr>
        <p:grpSpPr>
          <a:xfrm rot="0">
            <a:off x="1577340" y="6446520"/>
            <a:ext cx="8229600" cy="685800"/>
            <a:chOff x="0" y="0"/>
            <a:chExt cx="10972800" cy="914400"/>
          </a:xfrm>
        </p:grpSpPr>
        <p:sp>
          <p:nvSpPr>
            <p:cNvPr name="Freeform 63" id="63"/>
            <p:cNvSpPr/>
            <p:nvPr/>
          </p:nvSpPr>
          <p:spPr>
            <a:xfrm flipH="false" flipV="false" rot="0">
              <a:off x="0" y="0"/>
              <a:ext cx="10972800" cy="914400"/>
            </a:xfrm>
            <a:custGeom>
              <a:avLst/>
              <a:gdLst/>
              <a:ahLst/>
              <a:cxnLst/>
              <a:rect r="r" b="b" t="t" l="l"/>
              <a:pathLst>
                <a:path h="914400" w="10972800">
                  <a:moveTo>
                    <a:pt x="0" y="0"/>
                  </a:moveTo>
                  <a:lnTo>
                    <a:pt x="10972800" y="0"/>
                  </a:lnTo>
                  <a:lnTo>
                    <a:pt x="10972800" y="914400"/>
                  </a:lnTo>
                  <a:lnTo>
                    <a:pt x="0" y="914400"/>
                  </a:lnTo>
                  <a:close/>
                </a:path>
              </a:pathLst>
            </a:custGeom>
            <a:blipFill>
              <a:blip r:embed="rId3">
                <a:alphaModFix amt="0"/>
              </a:blip>
              <a:stretch>
                <a:fillRect l="0" t="-183820" r="0" b="-183820"/>
              </a:stretch>
            </a:blipFill>
          </p:spPr>
        </p:sp>
        <p:sp>
          <p:nvSpPr>
            <p:cNvPr name="TextBox 64" id="64"/>
            <p:cNvSpPr txBox="true"/>
            <p:nvPr/>
          </p:nvSpPr>
          <p:spPr>
            <a:xfrm>
              <a:off x="0" y="-19050"/>
              <a:ext cx="10972800" cy="933450"/>
            </a:xfrm>
            <a:prstGeom prst="rect">
              <a:avLst/>
            </a:prstGeom>
          </p:spPr>
          <p:txBody>
            <a:bodyPr anchor="ctr" rtlCol="false" tIns="0" lIns="0" bIns="0" rIns="0"/>
            <a:lstStyle/>
            <a:p>
              <a:pPr algn="l">
                <a:lnSpc>
                  <a:spcPts val="2700"/>
                </a:lnSpc>
              </a:pPr>
              <a:r>
                <a:rPr lang="en-US" sz="2250" b="true">
                  <a:solidFill>
                    <a:srgbClr val="2F3237"/>
                  </a:solidFill>
                  <a:latin typeface="Arial Bold"/>
                  <a:ea typeface="Arial Bold"/>
                  <a:cs typeface="Arial Bold"/>
                  <a:sym typeface="Arial Bold"/>
                </a:rPr>
                <a:t>SQL USED  →  WHY?</a:t>
              </a:r>
            </a:p>
          </p:txBody>
        </p:sp>
      </p:grpSp>
      <p:grpSp>
        <p:nvGrpSpPr>
          <p:cNvPr name="Group 65" id="65"/>
          <p:cNvGrpSpPr/>
          <p:nvPr/>
        </p:nvGrpSpPr>
        <p:grpSpPr>
          <a:xfrm rot="0">
            <a:off x="10012680" y="6446520"/>
            <a:ext cx="7584948" cy="685800"/>
            <a:chOff x="0" y="0"/>
            <a:chExt cx="10113264" cy="914400"/>
          </a:xfrm>
        </p:grpSpPr>
        <p:sp>
          <p:nvSpPr>
            <p:cNvPr name="Freeform 66" id="66"/>
            <p:cNvSpPr/>
            <p:nvPr/>
          </p:nvSpPr>
          <p:spPr>
            <a:xfrm flipH="false" flipV="false" rot="0">
              <a:off x="0" y="0"/>
              <a:ext cx="10113264" cy="914400"/>
            </a:xfrm>
            <a:custGeom>
              <a:avLst/>
              <a:gdLst/>
              <a:ahLst/>
              <a:cxnLst/>
              <a:rect r="r" b="b" t="t" l="l"/>
              <a:pathLst>
                <a:path h="914400" w="10113264">
                  <a:moveTo>
                    <a:pt x="0" y="0"/>
                  </a:moveTo>
                  <a:lnTo>
                    <a:pt x="10113264" y="0"/>
                  </a:lnTo>
                  <a:lnTo>
                    <a:pt x="10113264" y="914400"/>
                  </a:lnTo>
                  <a:lnTo>
                    <a:pt x="0" y="914400"/>
                  </a:lnTo>
                  <a:close/>
                </a:path>
              </a:pathLst>
            </a:custGeom>
            <a:blipFill>
              <a:blip r:embed="rId3">
                <a:alphaModFix amt="0"/>
              </a:blip>
              <a:stretch>
                <a:fillRect l="0" t="-165504" r="0" b="-165504"/>
              </a:stretch>
            </a:blipFill>
          </p:spPr>
        </p:sp>
        <p:sp>
          <p:nvSpPr>
            <p:cNvPr name="TextBox 67" id="67"/>
            <p:cNvSpPr txBox="true"/>
            <p:nvPr/>
          </p:nvSpPr>
          <p:spPr>
            <a:xfrm>
              <a:off x="0" y="-9525"/>
              <a:ext cx="10113264" cy="923925"/>
            </a:xfrm>
            <a:prstGeom prst="rect">
              <a:avLst/>
            </a:prstGeom>
          </p:spPr>
          <p:txBody>
            <a:bodyPr anchor="ctr" rtlCol="false" tIns="0" lIns="0" bIns="0" rIns="0"/>
            <a:lstStyle/>
            <a:p>
              <a:pPr algn="r">
                <a:lnSpc>
                  <a:spcPts val="1889"/>
                </a:lnSpc>
              </a:pPr>
              <a:r>
                <a:rPr lang="en-US" sz="1575" i="true">
                  <a:solidFill>
                    <a:srgbClr val="666A70"/>
                  </a:solidFill>
                  <a:latin typeface="Arial Italics"/>
                  <a:ea typeface="Arial Italics"/>
                  <a:cs typeface="Arial Italics"/>
                  <a:sym typeface="Arial Italics"/>
                </a:rPr>
                <a:t>9 core normalized entities + 1 audit table</a:t>
              </a:r>
            </a:p>
          </p:txBody>
        </p:sp>
      </p:grpSp>
      <p:grpSp>
        <p:nvGrpSpPr>
          <p:cNvPr name="Group 68" id="68"/>
          <p:cNvGrpSpPr/>
          <p:nvPr/>
        </p:nvGrpSpPr>
        <p:grpSpPr>
          <a:xfrm rot="0">
            <a:off x="676275" y="7397115"/>
            <a:ext cx="2350770" cy="704850"/>
            <a:chOff x="0" y="0"/>
            <a:chExt cx="3134360" cy="939800"/>
          </a:xfrm>
        </p:grpSpPr>
        <p:sp>
          <p:nvSpPr>
            <p:cNvPr name="Freeform 69" id="69"/>
            <p:cNvSpPr/>
            <p:nvPr/>
          </p:nvSpPr>
          <p:spPr>
            <a:xfrm flipH="false" flipV="false" rot="0">
              <a:off x="0" y="0"/>
              <a:ext cx="3134360" cy="939800"/>
            </a:xfrm>
            <a:custGeom>
              <a:avLst/>
              <a:gdLst/>
              <a:ahLst/>
              <a:cxnLst/>
              <a:rect r="r" b="b" t="t" l="l"/>
              <a:pathLst>
                <a:path h="939800" w="3134360">
                  <a:moveTo>
                    <a:pt x="0" y="150368"/>
                  </a:moveTo>
                  <a:cubicBezTo>
                    <a:pt x="0" y="67310"/>
                    <a:pt x="67310" y="0"/>
                    <a:pt x="150368" y="0"/>
                  </a:cubicBezTo>
                  <a:lnTo>
                    <a:pt x="2983992" y="0"/>
                  </a:lnTo>
                  <a:cubicBezTo>
                    <a:pt x="3067050" y="0"/>
                    <a:pt x="3134360" y="67310"/>
                    <a:pt x="3134360" y="150368"/>
                  </a:cubicBezTo>
                  <a:lnTo>
                    <a:pt x="3134360" y="789432"/>
                  </a:lnTo>
                  <a:cubicBezTo>
                    <a:pt x="3134360" y="872490"/>
                    <a:pt x="3067050" y="939800"/>
                    <a:pt x="298399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70" id="70"/>
          <p:cNvGrpSpPr/>
          <p:nvPr/>
        </p:nvGrpSpPr>
        <p:grpSpPr>
          <a:xfrm rot="0">
            <a:off x="685800" y="7406640"/>
            <a:ext cx="2331720" cy="685800"/>
            <a:chOff x="0" y="0"/>
            <a:chExt cx="3108960" cy="914400"/>
          </a:xfrm>
        </p:grpSpPr>
        <p:sp>
          <p:nvSpPr>
            <p:cNvPr name="Freeform 71" id="71"/>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72" id="72"/>
            <p:cNvSpPr txBox="true"/>
            <p:nvPr/>
          </p:nvSpPr>
          <p:spPr>
            <a:xfrm>
              <a:off x="0" y="-19050"/>
              <a:ext cx="3108960" cy="933450"/>
            </a:xfrm>
            <a:prstGeom prst="rect">
              <a:avLst/>
            </a:prstGeom>
          </p:spPr>
          <p:txBody>
            <a:bodyPr anchor="ctr" rtlCol="false" tIns="0" lIns="0" bIns="0" rIns="0"/>
            <a:lstStyle/>
            <a:p>
              <a:pPr algn="ctr">
                <a:lnSpc>
                  <a:spcPts val="1800"/>
                </a:lnSpc>
              </a:pPr>
              <a:r>
                <a:rPr lang="en-US" sz="1500" b="true">
                  <a:solidFill>
                    <a:srgbClr val="2F3237"/>
                  </a:solidFill>
                  <a:latin typeface="Arial Bold"/>
                  <a:ea typeface="Arial Bold"/>
                  <a:cs typeface="Arial Bold"/>
                  <a:sym typeface="Arial Bold"/>
                </a:rPr>
                <a:t>PRIMARY KEY</a:t>
              </a:r>
            </a:p>
          </p:txBody>
        </p:sp>
      </p:grpSp>
      <p:grpSp>
        <p:nvGrpSpPr>
          <p:cNvPr name="Group 73" id="73"/>
          <p:cNvGrpSpPr/>
          <p:nvPr/>
        </p:nvGrpSpPr>
        <p:grpSpPr>
          <a:xfrm rot="0">
            <a:off x="3223260" y="7338060"/>
            <a:ext cx="6035040" cy="822960"/>
            <a:chOff x="0" y="0"/>
            <a:chExt cx="8046720" cy="1097280"/>
          </a:xfrm>
        </p:grpSpPr>
        <p:sp>
          <p:nvSpPr>
            <p:cNvPr name="Freeform 74" id="74"/>
            <p:cNvSpPr/>
            <p:nvPr/>
          </p:nvSpPr>
          <p:spPr>
            <a:xfrm flipH="false" flipV="false" rot="0">
              <a:off x="0" y="0"/>
              <a:ext cx="8046720" cy="1097280"/>
            </a:xfrm>
            <a:custGeom>
              <a:avLst/>
              <a:gdLst/>
              <a:ahLst/>
              <a:cxnLst/>
              <a:rect r="r" b="b" t="t" l="l"/>
              <a:pathLst>
                <a:path h="1097280" w="8046720">
                  <a:moveTo>
                    <a:pt x="0" y="0"/>
                  </a:moveTo>
                  <a:lnTo>
                    <a:pt x="8046720" y="0"/>
                  </a:lnTo>
                  <a:lnTo>
                    <a:pt x="8046720" y="1097280"/>
                  </a:lnTo>
                  <a:lnTo>
                    <a:pt x="0" y="1097280"/>
                  </a:lnTo>
                  <a:close/>
                </a:path>
              </a:pathLst>
            </a:custGeom>
            <a:blipFill>
              <a:blip r:embed="rId3">
                <a:alphaModFix amt="0"/>
              </a:blip>
              <a:stretch>
                <a:fillRect l="0" t="-92890" r="0" b="-92890"/>
              </a:stretch>
            </a:blipFill>
          </p:spPr>
        </p:sp>
        <p:sp>
          <p:nvSpPr>
            <p:cNvPr name="TextBox 75" id="75"/>
            <p:cNvSpPr txBox="true"/>
            <p:nvPr/>
          </p:nvSpPr>
          <p:spPr>
            <a:xfrm>
              <a:off x="0" y="-19050"/>
              <a:ext cx="8046720" cy="1116330"/>
            </a:xfrm>
            <a:prstGeom prst="rect">
              <a:avLst/>
            </a:prstGeom>
          </p:spPr>
          <p:txBody>
            <a:bodyPr anchor="ctr" rtlCol="false" tIns="0" lIns="0" bIns="0" rIns="0"/>
            <a:lstStyle/>
            <a:p>
              <a:pPr algn="l">
                <a:lnSpc>
                  <a:spcPts val="1980"/>
                </a:lnSpc>
              </a:pPr>
              <a:r>
                <a:rPr lang="en-US" sz="1650">
                  <a:solidFill>
                    <a:srgbClr val="2B2B2B"/>
                  </a:solidFill>
                  <a:latin typeface="Arial"/>
                  <a:ea typeface="Arial"/>
                  <a:cs typeface="Arial"/>
                  <a:sym typeface="Arial"/>
                </a:rPr>
                <a:t>→  Composite key for LOCATION; 1:1 shared key for CASUALTY</a:t>
              </a:r>
            </a:p>
          </p:txBody>
        </p:sp>
      </p:grpSp>
      <p:grpSp>
        <p:nvGrpSpPr>
          <p:cNvPr name="Group 76" id="76"/>
          <p:cNvGrpSpPr/>
          <p:nvPr/>
        </p:nvGrpSpPr>
        <p:grpSpPr>
          <a:xfrm rot="0">
            <a:off x="9454515" y="7397115"/>
            <a:ext cx="2350770" cy="704850"/>
            <a:chOff x="0" y="0"/>
            <a:chExt cx="3134360" cy="939800"/>
          </a:xfrm>
        </p:grpSpPr>
        <p:sp>
          <p:nvSpPr>
            <p:cNvPr name="Freeform 77" id="77"/>
            <p:cNvSpPr/>
            <p:nvPr/>
          </p:nvSpPr>
          <p:spPr>
            <a:xfrm flipH="false" flipV="false" rot="0">
              <a:off x="0" y="0"/>
              <a:ext cx="3134360" cy="939800"/>
            </a:xfrm>
            <a:custGeom>
              <a:avLst/>
              <a:gdLst/>
              <a:ahLst/>
              <a:cxnLst/>
              <a:rect r="r" b="b" t="t" l="l"/>
              <a:pathLst>
                <a:path h="939800" w="3134360">
                  <a:moveTo>
                    <a:pt x="0" y="150368"/>
                  </a:moveTo>
                  <a:cubicBezTo>
                    <a:pt x="0" y="67310"/>
                    <a:pt x="67310" y="0"/>
                    <a:pt x="150368" y="0"/>
                  </a:cubicBezTo>
                  <a:lnTo>
                    <a:pt x="2983992" y="0"/>
                  </a:lnTo>
                  <a:cubicBezTo>
                    <a:pt x="3067050" y="0"/>
                    <a:pt x="3134360" y="67310"/>
                    <a:pt x="3134360" y="150368"/>
                  </a:cubicBezTo>
                  <a:lnTo>
                    <a:pt x="3134360" y="789432"/>
                  </a:lnTo>
                  <a:cubicBezTo>
                    <a:pt x="3134360" y="872490"/>
                    <a:pt x="3067050" y="939800"/>
                    <a:pt x="2983992" y="939800"/>
                  </a:cubicBezTo>
                  <a:lnTo>
                    <a:pt x="150368" y="939800"/>
                  </a:lnTo>
                  <a:cubicBezTo>
                    <a:pt x="67310" y="939800"/>
                    <a:pt x="0" y="872490"/>
                    <a:pt x="0" y="789432"/>
                  </a:cubicBezTo>
                  <a:close/>
                </a:path>
              </a:pathLst>
            </a:custGeom>
            <a:solidFill>
              <a:srgbClr val="F6E7B5"/>
            </a:solidFill>
            <a:ln w="19050" cap="sq">
              <a:solidFill>
                <a:srgbClr val="F6E7B5"/>
              </a:solidFill>
              <a:prstDash val="solid"/>
              <a:miter/>
            </a:ln>
          </p:spPr>
        </p:sp>
      </p:grpSp>
      <p:grpSp>
        <p:nvGrpSpPr>
          <p:cNvPr name="Group 78" id="78"/>
          <p:cNvGrpSpPr/>
          <p:nvPr/>
        </p:nvGrpSpPr>
        <p:grpSpPr>
          <a:xfrm rot="0">
            <a:off x="9464040" y="7406640"/>
            <a:ext cx="2331720" cy="685800"/>
            <a:chOff x="0" y="0"/>
            <a:chExt cx="3108960" cy="914400"/>
          </a:xfrm>
        </p:grpSpPr>
        <p:sp>
          <p:nvSpPr>
            <p:cNvPr name="Freeform 79" id="79"/>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80" id="80"/>
            <p:cNvSpPr txBox="true"/>
            <p:nvPr/>
          </p:nvSpPr>
          <p:spPr>
            <a:xfrm>
              <a:off x="0" y="-19050"/>
              <a:ext cx="3108960" cy="933450"/>
            </a:xfrm>
            <a:prstGeom prst="rect">
              <a:avLst/>
            </a:prstGeom>
          </p:spPr>
          <p:txBody>
            <a:bodyPr anchor="ctr" rtlCol="false" tIns="0" lIns="0" bIns="0" rIns="0"/>
            <a:lstStyle/>
            <a:p>
              <a:pPr algn="ctr">
                <a:lnSpc>
                  <a:spcPts val="1800"/>
                </a:lnSpc>
              </a:pPr>
              <a:r>
                <a:rPr lang="en-US" sz="1500" b="true">
                  <a:solidFill>
                    <a:srgbClr val="2F3237"/>
                  </a:solidFill>
                  <a:latin typeface="Arial Bold"/>
                  <a:ea typeface="Arial Bold"/>
                  <a:cs typeface="Arial Bold"/>
                  <a:sym typeface="Arial Bold"/>
                </a:rPr>
                <a:t>FOREIGN KEY</a:t>
              </a:r>
            </a:p>
          </p:txBody>
        </p:sp>
      </p:grpSp>
      <p:grpSp>
        <p:nvGrpSpPr>
          <p:cNvPr name="Group 81" id="81"/>
          <p:cNvGrpSpPr/>
          <p:nvPr/>
        </p:nvGrpSpPr>
        <p:grpSpPr>
          <a:xfrm rot="0">
            <a:off x="12001500" y="7338060"/>
            <a:ext cx="6035040" cy="822960"/>
            <a:chOff x="0" y="0"/>
            <a:chExt cx="8046720" cy="1097280"/>
          </a:xfrm>
        </p:grpSpPr>
        <p:sp>
          <p:nvSpPr>
            <p:cNvPr name="Freeform 82" id="82"/>
            <p:cNvSpPr/>
            <p:nvPr/>
          </p:nvSpPr>
          <p:spPr>
            <a:xfrm flipH="false" flipV="false" rot="0">
              <a:off x="0" y="0"/>
              <a:ext cx="8046720" cy="1097280"/>
            </a:xfrm>
            <a:custGeom>
              <a:avLst/>
              <a:gdLst/>
              <a:ahLst/>
              <a:cxnLst/>
              <a:rect r="r" b="b" t="t" l="l"/>
              <a:pathLst>
                <a:path h="1097280" w="8046720">
                  <a:moveTo>
                    <a:pt x="0" y="0"/>
                  </a:moveTo>
                  <a:lnTo>
                    <a:pt x="8046720" y="0"/>
                  </a:lnTo>
                  <a:lnTo>
                    <a:pt x="8046720" y="1097280"/>
                  </a:lnTo>
                  <a:lnTo>
                    <a:pt x="0" y="1097280"/>
                  </a:lnTo>
                  <a:close/>
                </a:path>
              </a:pathLst>
            </a:custGeom>
            <a:blipFill>
              <a:blip r:embed="rId3">
                <a:alphaModFix amt="0"/>
              </a:blip>
              <a:stretch>
                <a:fillRect l="0" t="-92890" r="0" b="-92890"/>
              </a:stretch>
            </a:blipFill>
          </p:spPr>
        </p:sp>
        <p:sp>
          <p:nvSpPr>
            <p:cNvPr name="TextBox 83" id="83"/>
            <p:cNvSpPr txBox="true"/>
            <p:nvPr/>
          </p:nvSpPr>
          <p:spPr>
            <a:xfrm>
              <a:off x="0" y="-19050"/>
              <a:ext cx="8046720" cy="1116330"/>
            </a:xfrm>
            <a:prstGeom prst="rect">
              <a:avLst/>
            </a:prstGeom>
          </p:spPr>
          <p:txBody>
            <a:bodyPr anchor="ctr" rtlCol="false" tIns="0" lIns="0" bIns="0" rIns="0"/>
            <a:lstStyle/>
            <a:p>
              <a:pPr algn="l">
                <a:lnSpc>
                  <a:spcPts val="1980"/>
                </a:lnSpc>
              </a:pPr>
              <a:r>
                <a:rPr lang="en-US" sz="1650">
                  <a:solidFill>
                    <a:srgbClr val="2B2B2B"/>
                  </a:solidFill>
                  <a:latin typeface="Arial"/>
                  <a:ea typeface="Arial"/>
                  <a:cs typeface="Arial"/>
                  <a:sym typeface="Arial"/>
                </a:rPr>
                <a:t>→  Links tables; ON DELETE / UPDATE CASCADE</a:t>
              </a:r>
            </a:p>
          </p:txBody>
        </p:sp>
      </p:grpSp>
      <p:grpSp>
        <p:nvGrpSpPr>
          <p:cNvPr name="Group 84" id="84"/>
          <p:cNvGrpSpPr/>
          <p:nvPr/>
        </p:nvGrpSpPr>
        <p:grpSpPr>
          <a:xfrm rot="0">
            <a:off x="676275" y="8384667"/>
            <a:ext cx="2350770" cy="704850"/>
            <a:chOff x="0" y="0"/>
            <a:chExt cx="3134360" cy="939800"/>
          </a:xfrm>
        </p:grpSpPr>
        <p:sp>
          <p:nvSpPr>
            <p:cNvPr name="Freeform 85" id="85"/>
            <p:cNvSpPr/>
            <p:nvPr/>
          </p:nvSpPr>
          <p:spPr>
            <a:xfrm flipH="false" flipV="false" rot="0">
              <a:off x="0" y="0"/>
              <a:ext cx="3134360" cy="939800"/>
            </a:xfrm>
            <a:custGeom>
              <a:avLst/>
              <a:gdLst/>
              <a:ahLst/>
              <a:cxnLst/>
              <a:rect r="r" b="b" t="t" l="l"/>
              <a:pathLst>
                <a:path h="939800" w="3134360">
                  <a:moveTo>
                    <a:pt x="0" y="150368"/>
                  </a:moveTo>
                  <a:cubicBezTo>
                    <a:pt x="0" y="67310"/>
                    <a:pt x="67310" y="0"/>
                    <a:pt x="150368" y="0"/>
                  </a:cubicBezTo>
                  <a:lnTo>
                    <a:pt x="2983992" y="0"/>
                  </a:lnTo>
                  <a:cubicBezTo>
                    <a:pt x="3067050" y="0"/>
                    <a:pt x="3134360" y="67310"/>
                    <a:pt x="3134360" y="150368"/>
                  </a:cubicBezTo>
                  <a:lnTo>
                    <a:pt x="3134360" y="789432"/>
                  </a:lnTo>
                  <a:cubicBezTo>
                    <a:pt x="3134360" y="872490"/>
                    <a:pt x="3067050" y="939800"/>
                    <a:pt x="2983992" y="939800"/>
                  </a:cubicBezTo>
                  <a:lnTo>
                    <a:pt x="150368" y="939800"/>
                  </a:lnTo>
                  <a:cubicBezTo>
                    <a:pt x="67310" y="939800"/>
                    <a:pt x="0" y="872490"/>
                    <a:pt x="0" y="789432"/>
                  </a:cubicBezTo>
                  <a:close/>
                </a:path>
              </a:pathLst>
            </a:custGeom>
            <a:solidFill>
              <a:srgbClr val="F6E7B5"/>
            </a:solidFill>
            <a:ln w="19050" cap="sq">
              <a:solidFill>
                <a:srgbClr val="F6E7B5"/>
              </a:solidFill>
              <a:prstDash val="solid"/>
              <a:miter/>
            </a:ln>
          </p:spPr>
        </p:sp>
      </p:grpSp>
      <p:grpSp>
        <p:nvGrpSpPr>
          <p:cNvPr name="Group 86" id="86"/>
          <p:cNvGrpSpPr/>
          <p:nvPr/>
        </p:nvGrpSpPr>
        <p:grpSpPr>
          <a:xfrm rot="0">
            <a:off x="685800" y="8394192"/>
            <a:ext cx="2331720" cy="685800"/>
            <a:chOff x="0" y="0"/>
            <a:chExt cx="3108960" cy="914400"/>
          </a:xfrm>
        </p:grpSpPr>
        <p:sp>
          <p:nvSpPr>
            <p:cNvPr name="Freeform 87" id="87"/>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88" id="88"/>
            <p:cNvSpPr txBox="true"/>
            <p:nvPr/>
          </p:nvSpPr>
          <p:spPr>
            <a:xfrm>
              <a:off x="0" y="-19050"/>
              <a:ext cx="3108960" cy="933450"/>
            </a:xfrm>
            <a:prstGeom prst="rect">
              <a:avLst/>
            </a:prstGeom>
          </p:spPr>
          <p:txBody>
            <a:bodyPr anchor="ctr" rtlCol="false" tIns="0" lIns="0" bIns="0" rIns="0"/>
            <a:lstStyle/>
            <a:p>
              <a:pPr algn="ctr">
                <a:lnSpc>
                  <a:spcPts val="1800"/>
                </a:lnSpc>
              </a:pPr>
              <a:r>
                <a:rPr lang="en-US" sz="1500" b="true">
                  <a:solidFill>
                    <a:srgbClr val="2F3237"/>
                  </a:solidFill>
                  <a:latin typeface="Arial Bold"/>
                  <a:ea typeface="Arial Bold"/>
                  <a:cs typeface="Arial Bold"/>
                  <a:sym typeface="Arial Bold"/>
                </a:rPr>
                <a:t>CHECK</a:t>
              </a:r>
            </a:p>
          </p:txBody>
        </p:sp>
      </p:grpSp>
      <p:grpSp>
        <p:nvGrpSpPr>
          <p:cNvPr name="Group 89" id="89"/>
          <p:cNvGrpSpPr/>
          <p:nvPr/>
        </p:nvGrpSpPr>
        <p:grpSpPr>
          <a:xfrm rot="0">
            <a:off x="3223260" y="8325612"/>
            <a:ext cx="6035040" cy="822960"/>
            <a:chOff x="0" y="0"/>
            <a:chExt cx="8046720" cy="1097280"/>
          </a:xfrm>
        </p:grpSpPr>
        <p:sp>
          <p:nvSpPr>
            <p:cNvPr name="Freeform 90" id="90"/>
            <p:cNvSpPr/>
            <p:nvPr/>
          </p:nvSpPr>
          <p:spPr>
            <a:xfrm flipH="false" flipV="false" rot="0">
              <a:off x="0" y="0"/>
              <a:ext cx="8046720" cy="1097280"/>
            </a:xfrm>
            <a:custGeom>
              <a:avLst/>
              <a:gdLst/>
              <a:ahLst/>
              <a:cxnLst/>
              <a:rect r="r" b="b" t="t" l="l"/>
              <a:pathLst>
                <a:path h="1097280" w="8046720">
                  <a:moveTo>
                    <a:pt x="0" y="0"/>
                  </a:moveTo>
                  <a:lnTo>
                    <a:pt x="8046720" y="0"/>
                  </a:lnTo>
                  <a:lnTo>
                    <a:pt x="8046720" y="1097280"/>
                  </a:lnTo>
                  <a:lnTo>
                    <a:pt x="0" y="1097280"/>
                  </a:lnTo>
                  <a:close/>
                </a:path>
              </a:pathLst>
            </a:custGeom>
            <a:blipFill>
              <a:blip r:embed="rId3">
                <a:alphaModFix amt="0"/>
              </a:blip>
              <a:stretch>
                <a:fillRect l="0" t="-92890" r="0" b="-92890"/>
              </a:stretch>
            </a:blipFill>
          </p:spPr>
        </p:sp>
        <p:sp>
          <p:nvSpPr>
            <p:cNvPr name="TextBox 91" id="91"/>
            <p:cNvSpPr txBox="true"/>
            <p:nvPr/>
          </p:nvSpPr>
          <p:spPr>
            <a:xfrm>
              <a:off x="0" y="-19050"/>
              <a:ext cx="8046720" cy="1116330"/>
            </a:xfrm>
            <a:prstGeom prst="rect">
              <a:avLst/>
            </a:prstGeom>
          </p:spPr>
          <p:txBody>
            <a:bodyPr anchor="ctr" rtlCol="false" tIns="0" lIns="0" bIns="0" rIns="0"/>
            <a:lstStyle/>
            <a:p>
              <a:pPr algn="l">
                <a:lnSpc>
                  <a:spcPts val="1980"/>
                </a:lnSpc>
              </a:pPr>
              <a:r>
                <a:rPr lang="en-US" sz="1650">
                  <a:solidFill>
                    <a:srgbClr val="2B2B2B"/>
                  </a:solidFill>
                  <a:latin typeface="Arial"/>
                  <a:ea typeface="Arial"/>
                  <a:cs typeface="Arial"/>
                  <a:sym typeface="Arial"/>
                </a:rPr>
                <a:t>→  Injuries ≥ 0; restricted vehicle categories</a:t>
              </a:r>
            </a:p>
          </p:txBody>
        </p:sp>
      </p:grpSp>
      <p:grpSp>
        <p:nvGrpSpPr>
          <p:cNvPr name="Group 92" id="92"/>
          <p:cNvGrpSpPr/>
          <p:nvPr/>
        </p:nvGrpSpPr>
        <p:grpSpPr>
          <a:xfrm rot="0">
            <a:off x="9454515" y="8384667"/>
            <a:ext cx="2350770" cy="704850"/>
            <a:chOff x="0" y="0"/>
            <a:chExt cx="3134360" cy="939800"/>
          </a:xfrm>
        </p:grpSpPr>
        <p:sp>
          <p:nvSpPr>
            <p:cNvPr name="Freeform 93" id="93"/>
            <p:cNvSpPr/>
            <p:nvPr/>
          </p:nvSpPr>
          <p:spPr>
            <a:xfrm flipH="false" flipV="false" rot="0">
              <a:off x="0" y="0"/>
              <a:ext cx="3134360" cy="939800"/>
            </a:xfrm>
            <a:custGeom>
              <a:avLst/>
              <a:gdLst/>
              <a:ahLst/>
              <a:cxnLst/>
              <a:rect r="r" b="b" t="t" l="l"/>
              <a:pathLst>
                <a:path h="939800" w="3134360">
                  <a:moveTo>
                    <a:pt x="0" y="150368"/>
                  </a:moveTo>
                  <a:cubicBezTo>
                    <a:pt x="0" y="67310"/>
                    <a:pt x="67310" y="0"/>
                    <a:pt x="150368" y="0"/>
                  </a:cubicBezTo>
                  <a:lnTo>
                    <a:pt x="2983992" y="0"/>
                  </a:lnTo>
                  <a:cubicBezTo>
                    <a:pt x="3067050" y="0"/>
                    <a:pt x="3134360" y="67310"/>
                    <a:pt x="3134360" y="150368"/>
                  </a:cubicBezTo>
                  <a:lnTo>
                    <a:pt x="3134360" y="789432"/>
                  </a:lnTo>
                  <a:cubicBezTo>
                    <a:pt x="3134360" y="872490"/>
                    <a:pt x="3067050" y="939800"/>
                    <a:pt x="298399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94" id="94"/>
          <p:cNvGrpSpPr/>
          <p:nvPr/>
        </p:nvGrpSpPr>
        <p:grpSpPr>
          <a:xfrm rot="0">
            <a:off x="9464040" y="8394192"/>
            <a:ext cx="2331720" cy="685800"/>
            <a:chOff x="0" y="0"/>
            <a:chExt cx="3108960" cy="914400"/>
          </a:xfrm>
        </p:grpSpPr>
        <p:sp>
          <p:nvSpPr>
            <p:cNvPr name="Freeform 95" id="95"/>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96" id="96"/>
            <p:cNvSpPr txBox="true"/>
            <p:nvPr/>
          </p:nvSpPr>
          <p:spPr>
            <a:xfrm>
              <a:off x="0" y="-19050"/>
              <a:ext cx="3108960" cy="933450"/>
            </a:xfrm>
            <a:prstGeom prst="rect">
              <a:avLst/>
            </a:prstGeom>
          </p:spPr>
          <p:txBody>
            <a:bodyPr anchor="ctr" rtlCol="false" tIns="0" lIns="0" bIns="0" rIns="0"/>
            <a:lstStyle/>
            <a:p>
              <a:pPr algn="ctr">
                <a:lnSpc>
                  <a:spcPts val="1800"/>
                </a:lnSpc>
              </a:pPr>
              <a:r>
                <a:rPr lang="en-US" sz="1500" b="true">
                  <a:solidFill>
                    <a:srgbClr val="2F3237"/>
                  </a:solidFill>
                  <a:latin typeface="Arial Bold"/>
                  <a:ea typeface="Arial Bold"/>
                  <a:cs typeface="Arial Bold"/>
                  <a:sym typeface="Arial Bold"/>
                </a:rPr>
                <a:t>DATA</a:t>
              </a:r>
            </a:p>
          </p:txBody>
        </p:sp>
      </p:grpSp>
      <p:grpSp>
        <p:nvGrpSpPr>
          <p:cNvPr name="Group 97" id="97"/>
          <p:cNvGrpSpPr/>
          <p:nvPr/>
        </p:nvGrpSpPr>
        <p:grpSpPr>
          <a:xfrm rot="0">
            <a:off x="12001500" y="8325612"/>
            <a:ext cx="6035040" cy="822960"/>
            <a:chOff x="0" y="0"/>
            <a:chExt cx="8046720" cy="1097280"/>
          </a:xfrm>
        </p:grpSpPr>
        <p:sp>
          <p:nvSpPr>
            <p:cNvPr name="Freeform 98" id="98"/>
            <p:cNvSpPr/>
            <p:nvPr/>
          </p:nvSpPr>
          <p:spPr>
            <a:xfrm flipH="false" flipV="false" rot="0">
              <a:off x="0" y="0"/>
              <a:ext cx="8046720" cy="1097280"/>
            </a:xfrm>
            <a:custGeom>
              <a:avLst/>
              <a:gdLst/>
              <a:ahLst/>
              <a:cxnLst/>
              <a:rect r="r" b="b" t="t" l="l"/>
              <a:pathLst>
                <a:path h="1097280" w="8046720">
                  <a:moveTo>
                    <a:pt x="0" y="0"/>
                  </a:moveTo>
                  <a:lnTo>
                    <a:pt x="8046720" y="0"/>
                  </a:lnTo>
                  <a:lnTo>
                    <a:pt x="8046720" y="1097280"/>
                  </a:lnTo>
                  <a:lnTo>
                    <a:pt x="0" y="1097280"/>
                  </a:lnTo>
                  <a:close/>
                </a:path>
              </a:pathLst>
            </a:custGeom>
            <a:blipFill>
              <a:blip r:embed="rId3">
                <a:alphaModFix amt="0"/>
              </a:blip>
              <a:stretch>
                <a:fillRect l="0" t="-92890" r="0" b="-92890"/>
              </a:stretch>
            </a:blipFill>
          </p:spPr>
        </p:sp>
        <p:sp>
          <p:nvSpPr>
            <p:cNvPr name="TextBox 99" id="99"/>
            <p:cNvSpPr txBox="true"/>
            <p:nvPr/>
          </p:nvSpPr>
          <p:spPr>
            <a:xfrm>
              <a:off x="0" y="-19050"/>
              <a:ext cx="8046720" cy="1116330"/>
            </a:xfrm>
            <a:prstGeom prst="rect">
              <a:avLst/>
            </a:prstGeom>
          </p:spPr>
          <p:txBody>
            <a:bodyPr anchor="ctr" rtlCol="false" tIns="0" lIns="0" bIns="0" rIns="0"/>
            <a:lstStyle/>
            <a:p>
              <a:pPr algn="l">
                <a:lnSpc>
                  <a:spcPts val="1980"/>
                </a:lnSpc>
              </a:pPr>
              <a:r>
                <a:rPr lang="en-US" sz="1650">
                  <a:solidFill>
                    <a:srgbClr val="2B2B2B"/>
                  </a:solidFill>
                  <a:latin typeface="Arial"/>
                  <a:ea typeface="Arial"/>
                  <a:cs typeface="Arial"/>
                  <a:sym typeface="Arial"/>
                </a:rPr>
                <a:t>→  300+ real NYPD records loaded (data.sql)</a:t>
              </a:r>
            </a:p>
          </p:txBody>
        </p:sp>
      </p:grpSp>
      <p:sp>
        <p:nvSpPr>
          <p:cNvPr name="Freeform 100" id="100"/>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5"/>
            <a:stretch>
              <a:fillRect l="0" t="0" r="0" b="0"/>
            </a:stretch>
          </a:blipFill>
        </p:spPr>
      </p:sp>
      <p:sp>
        <p:nvSpPr>
          <p:cNvPr name="Freeform 101" id="101"/>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6"/>
            <a:stretch>
              <a:fillRect l="0" t="-22657" r="-4334" b="-20699"/>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76275" y="539115"/>
            <a:ext cx="842010" cy="842010"/>
            <a:chOff x="0" y="0"/>
            <a:chExt cx="1122680" cy="1122680"/>
          </a:xfrm>
        </p:grpSpPr>
        <p:sp>
          <p:nvSpPr>
            <p:cNvPr name="Freeform 3" id="3"/>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solidFill>
              <a:srgbClr val="D4A62A"/>
            </a:solidFill>
            <a:ln w="19050" cap="sq">
              <a:solidFill>
                <a:srgbClr val="D4A62A"/>
              </a:solidFill>
              <a:prstDash val="solid"/>
              <a:miter/>
            </a:ln>
          </p:spPr>
        </p:sp>
      </p:grpSp>
      <p:grpSp>
        <p:nvGrpSpPr>
          <p:cNvPr name="Group 4" id="4"/>
          <p:cNvGrpSpPr/>
          <p:nvPr/>
        </p:nvGrpSpPr>
        <p:grpSpPr>
          <a:xfrm rot="0">
            <a:off x="68580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9525"/>
              <a:ext cx="1097280" cy="1106805"/>
            </a:xfrm>
            <a:prstGeom prst="rect">
              <a:avLst/>
            </a:prstGeom>
          </p:spPr>
          <p:txBody>
            <a:bodyPr anchor="ctr" rtlCol="false" tIns="0" lIns="0" bIns="0" rIns="0"/>
            <a:lstStyle/>
            <a:p>
              <a:pPr algn="ctr">
                <a:lnSpc>
                  <a:spcPts val="2879"/>
                </a:lnSpc>
              </a:pPr>
              <a:r>
                <a:rPr lang="en-US" sz="2400" b="true">
                  <a:solidFill>
                    <a:srgbClr val="2F3237"/>
                  </a:solidFill>
                  <a:latin typeface="Arial Bold"/>
                  <a:ea typeface="Arial Bold"/>
                  <a:cs typeface="Arial Bold"/>
                  <a:sym typeface="Arial Bold"/>
                </a:rPr>
                <a:t>05</a:t>
              </a:r>
            </a:p>
          </p:txBody>
        </p:sp>
      </p:grpSp>
      <p:grpSp>
        <p:nvGrpSpPr>
          <p:cNvPr name="Group 7" id="7"/>
          <p:cNvGrpSpPr/>
          <p:nvPr/>
        </p:nvGrpSpPr>
        <p:grpSpPr>
          <a:xfrm rot="0">
            <a:off x="1783080" y="480060"/>
            <a:ext cx="9518904" cy="960120"/>
            <a:chOff x="0" y="0"/>
            <a:chExt cx="12691872" cy="1280160"/>
          </a:xfrm>
        </p:grpSpPr>
        <p:sp>
          <p:nvSpPr>
            <p:cNvPr name="Freeform 8" id="8"/>
            <p:cNvSpPr/>
            <p:nvPr/>
          </p:nvSpPr>
          <p:spPr>
            <a:xfrm flipH="false" flipV="false" rot="0">
              <a:off x="0" y="0"/>
              <a:ext cx="12691872" cy="1280160"/>
            </a:xfrm>
            <a:custGeom>
              <a:avLst/>
              <a:gdLst/>
              <a:ahLst/>
              <a:cxnLst/>
              <a:rect r="r" b="b" t="t" l="l"/>
              <a:pathLst>
                <a:path h="1280160" w="12691872">
                  <a:moveTo>
                    <a:pt x="0" y="0"/>
                  </a:moveTo>
                  <a:lnTo>
                    <a:pt x="12691872" y="0"/>
                  </a:lnTo>
                  <a:lnTo>
                    <a:pt x="12691872" y="1280160"/>
                  </a:lnTo>
                  <a:lnTo>
                    <a:pt x="0" y="1280160"/>
                  </a:lnTo>
                  <a:close/>
                </a:path>
              </a:pathLst>
            </a:custGeom>
            <a:blipFill>
              <a:blip r:embed="rId3">
                <a:alphaModFix amt="0"/>
              </a:blip>
              <a:stretch>
                <a:fillRect l="0" t="-270111" r="-65706" b="-270111"/>
              </a:stretch>
            </a:blipFill>
          </p:spPr>
        </p:sp>
        <p:sp>
          <p:nvSpPr>
            <p:cNvPr name="TextBox 9" id="9"/>
            <p:cNvSpPr txBox="true"/>
            <p:nvPr/>
          </p:nvSpPr>
          <p:spPr>
            <a:xfrm>
              <a:off x="0" y="-19050"/>
              <a:ext cx="12691872" cy="1299210"/>
            </a:xfrm>
            <a:prstGeom prst="rect">
              <a:avLst/>
            </a:prstGeom>
          </p:spPr>
          <p:txBody>
            <a:bodyPr anchor="ctr" rtlCol="false" tIns="0" lIns="0" bIns="0" rIns="0"/>
            <a:lstStyle/>
            <a:p>
              <a:pPr algn="l">
                <a:lnSpc>
                  <a:spcPts val="4680"/>
                </a:lnSpc>
              </a:pPr>
              <a:r>
                <a:rPr lang="en-US" sz="3900" b="true">
                  <a:solidFill>
                    <a:srgbClr val="2F3237"/>
                  </a:solidFill>
                  <a:latin typeface="Arial Bold"/>
                  <a:ea typeface="Arial Bold"/>
                  <a:cs typeface="Arial Bold"/>
                  <a:sym typeface="Arial Bold"/>
                </a:rPr>
                <a:t>SQL Analytics &amp; Advanced Features</a:t>
              </a:r>
            </a:p>
          </p:txBody>
        </p:sp>
      </p:grpSp>
      <p:grpSp>
        <p:nvGrpSpPr>
          <p:cNvPr name="Group 10" id="10"/>
          <p:cNvGrpSpPr/>
          <p:nvPr/>
        </p:nvGrpSpPr>
        <p:grpSpPr>
          <a:xfrm rot="0">
            <a:off x="678656" y="1775936"/>
            <a:ext cx="5432108" cy="7558088"/>
            <a:chOff x="0" y="0"/>
            <a:chExt cx="7242810" cy="10077450"/>
          </a:xfrm>
        </p:grpSpPr>
        <p:sp>
          <p:nvSpPr>
            <p:cNvPr name="Freeform 11" id="11"/>
            <p:cNvSpPr/>
            <p:nvPr/>
          </p:nvSpPr>
          <p:spPr>
            <a:xfrm flipH="false" flipV="false" rot="0">
              <a:off x="0" y="0"/>
              <a:ext cx="7242810" cy="10077450"/>
            </a:xfrm>
            <a:custGeom>
              <a:avLst/>
              <a:gdLst/>
              <a:ahLst/>
              <a:cxnLst/>
              <a:rect r="r" b="b" t="t" l="l"/>
              <a:pathLst>
                <a:path h="10077450" w="7242810">
                  <a:moveTo>
                    <a:pt x="0" y="0"/>
                  </a:moveTo>
                  <a:lnTo>
                    <a:pt x="7242810" y="0"/>
                  </a:lnTo>
                  <a:lnTo>
                    <a:pt x="7242810" y="10077450"/>
                  </a:lnTo>
                  <a:lnTo>
                    <a:pt x="0" y="10077450"/>
                  </a:lnTo>
                  <a:close/>
                </a:path>
              </a:pathLst>
            </a:custGeom>
            <a:solidFill>
              <a:srgbClr val="F2F2F0"/>
            </a:solidFill>
            <a:ln w="14288" cap="sq">
              <a:solidFill>
                <a:srgbClr val="D9D9D6"/>
              </a:solidFill>
              <a:prstDash val="solid"/>
              <a:miter/>
            </a:ln>
          </p:spPr>
        </p:sp>
      </p:grpSp>
      <p:grpSp>
        <p:nvGrpSpPr>
          <p:cNvPr name="Group 12" id="12"/>
          <p:cNvGrpSpPr/>
          <p:nvPr/>
        </p:nvGrpSpPr>
        <p:grpSpPr>
          <a:xfrm rot="0">
            <a:off x="1019175" y="2047875"/>
            <a:ext cx="704850" cy="704850"/>
            <a:chOff x="0" y="0"/>
            <a:chExt cx="939800" cy="939800"/>
          </a:xfrm>
        </p:grpSpPr>
        <p:sp>
          <p:nvSpPr>
            <p:cNvPr name="Freeform 13" id="13"/>
            <p:cNvSpPr/>
            <p:nvPr/>
          </p:nvSpPr>
          <p:spPr>
            <a:xfrm flipH="false" flipV="false" rot="0">
              <a:off x="0" y="0"/>
              <a:ext cx="939800" cy="939800"/>
            </a:xfrm>
            <a:custGeom>
              <a:avLst/>
              <a:gdLst/>
              <a:ahLst/>
              <a:cxnLst/>
              <a:rect r="r" b="b" t="t" l="l"/>
              <a:pathLst>
                <a:path h="939800" w="939800">
                  <a:moveTo>
                    <a:pt x="0" y="150368"/>
                  </a:moveTo>
                  <a:cubicBezTo>
                    <a:pt x="0" y="67310"/>
                    <a:pt x="67310" y="0"/>
                    <a:pt x="150368" y="0"/>
                  </a:cubicBezTo>
                  <a:lnTo>
                    <a:pt x="789432" y="0"/>
                  </a:lnTo>
                  <a:cubicBezTo>
                    <a:pt x="872490" y="0"/>
                    <a:pt x="939800" y="67310"/>
                    <a:pt x="939800" y="150368"/>
                  </a:cubicBezTo>
                  <a:lnTo>
                    <a:pt x="939800" y="789432"/>
                  </a:lnTo>
                  <a:cubicBezTo>
                    <a:pt x="939800" y="872490"/>
                    <a:pt x="872490" y="939800"/>
                    <a:pt x="78943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14" id="14"/>
          <p:cNvGrpSpPr/>
          <p:nvPr/>
        </p:nvGrpSpPr>
        <p:grpSpPr>
          <a:xfrm rot="0">
            <a:off x="1179576" y="2208276"/>
            <a:ext cx="384048" cy="384048"/>
            <a:chOff x="0" y="0"/>
            <a:chExt cx="512064" cy="512064"/>
          </a:xfrm>
        </p:grpSpPr>
        <p:sp>
          <p:nvSpPr>
            <p:cNvPr name="Freeform 15" id="15"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4"/>
              <a:stretch>
                <a:fillRect l="0" t="0" r="0" b="0"/>
              </a:stretch>
            </a:blipFill>
          </p:spPr>
        </p:sp>
      </p:grpSp>
      <p:grpSp>
        <p:nvGrpSpPr>
          <p:cNvPr name="Group 16" id="16"/>
          <p:cNvGrpSpPr/>
          <p:nvPr/>
        </p:nvGrpSpPr>
        <p:grpSpPr>
          <a:xfrm rot="0">
            <a:off x="1920240" y="2057400"/>
            <a:ext cx="4114800" cy="685800"/>
            <a:chOff x="0" y="0"/>
            <a:chExt cx="5486400" cy="914400"/>
          </a:xfrm>
        </p:grpSpPr>
        <p:sp>
          <p:nvSpPr>
            <p:cNvPr name="Freeform 17" id="17"/>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18" id="18"/>
            <p:cNvSpPr txBox="true"/>
            <p:nvPr/>
          </p:nvSpPr>
          <p:spPr>
            <a:xfrm>
              <a:off x="0" y="-19050"/>
              <a:ext cx="5486400" cy="933450"/>
            </a:xfrm>
            <a:prstGeom prst="rect">
              <a:avLst/>
            </a:prstGeom>
          </p:spPr>
          <p:txBody>
            <a:bodyPr anchor="ctr" rtlCol="false" tIns="0" lIns="0" bIns="0" rIns="0"/>
            <a:lstStyle/>
            <a:p>
              <a:pPr algn="l">
                <a:lnSpc>
                  <a:spcPts val="2340"/>
                </a:lnSpc>
              </a:pPr>
              <a:r>
                <a:rPr lang="en-US" sz="1950" b="true">
                  <a:solidFill>
                    <a:srgbClr val="2F3237"/>
                  </a:solidFill>
                  <a:latin typeface="Arial Bold"/>
                  <a:ea typeface="Arial Bold"/>
                  <a:cs typeface="Arial Bold"/>
                  <a:sym typeface="Arial Bold"/>
                </a:rPr>
                <a:t>JOINS</a:t>
              </a:r>
            </a:p>
          </p:txBody>
        </p:sp>
      </p:grpSp>
      <p:sp>
        <p:nvSpPr>
          <p:cNvPr name="TextBox 19" id="19"/>
          <p:cNvSpPr txBox="true"/>
          <p:nvPr/>
        </p:nvSpPr>
        <p:spPr>
          <a:xfrm rot="0">
            <a:off x="1028700" y="2998470"/>
            <a:ext cx="4800600" cy="4271010"/>
          </a:xfrm>
          <a:prstGeom prst="rect">
            <a:avLst/>
          </a:prstGeom>
        </p:spPr>
        <p:txBody>
          <a:bodyPr anchor="t" rtlCol="false" tIns="0" lIns="0" bIns="0" rIns="0">
            <a:spAutoFit/>
          </a:bodyPr>
          <a:lstStyle/>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INNER JOIN</a:t>
            </a:r>
            <a:r>
              <a:rPr lang="en-US" sz="1800">
                <a:solidFill>
                  <a:srgbClr val="2B2B2B"/>
                </a:solidFill>
                <a:latin typeface="Arial"/>
                <a:ea typeface="Arial"/>
                <a:cs typeface="Arial"/>
                <a:sym typeface="Arial"/>
              </a:rPr>
              <a:t> – all 9 tables into one collision dossier</a:t>
            </a:r>
          </a:p>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LEFT JOIN</a:t>
            </a:r>
            <a:r>
              <a:rPr lang="en-US" sz="1800">
                <a:solidFill>
                  <a:srgbClr val="2B2B2B"/>
                </a:solidFill>
                <a:latin typeface="Arial"/>
                <a:ea typeface="Arial"/>
                <a:cs typeface="Arial"/>
                <a:sym typeface="Arial"/>
              </a:rPr>
              <a:t> – unrecorded contributing factors</a:t>
            </a:r>
          </a:p>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RIGHT JOIN</a:t>
            </a:r>
            <a:r>
              <a:rPr lang="en-US" sz="1800">
                <a:solidFill>
                  <a:srgbClr val="2B2B2B"/>
                </a:solidFill>
                <a:latin typeface="Arial"/>
                <a:ea typeface="Arial"/>
                <a:cs typeface="Arial"/>
                <a:sym typeface="Arial"/>
              </a:rPr>
              <a:t> – unused vehicle types</a:t>
            </a:r>
          </a:p>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SELF JOIN</a:t>
            </a:r>
            <a:r>
              <a:rPr lang="en-US" sz="1800">
                <a:solidFill>
                  <a:srgbClr val="2B2B2B"/>
                </a:solidFill>
                <a:latin typeface="Arial"/>
                <a:ea typeface="Arial"/>
                <a:cs typeface="Arial"/>
                <a:sym typeface="Arial"/>
              </a:rPr>
              <a:t> – repeat accident spots at same GPS point</a:t>
            </a:r>
          </a:p>
        </p:txBody>
      </p:sp>
      <p:grpSp>
        <p:nvGrpSpPr>
          <p:cNvPr name="Group 20" id="20"/>
          <p:cNvGrpSpPr/>
          <p:nvPr/>
        </p:nvGrpSpPr>
        <p:grpSpPr>
          <a:xfrm rot="0">
            <a:off x="1021556" y="7673816"/>
            <a:ext cx="4746308" cy="1317308"/>
            <a:chOff x="0" y="0"/>
            <a:chExt cx="6328410" cy="1756410"/>
          </a:xfrm>
        </p:grpSpPr>
        <p:sp>
          <p:nvSpPr>
            <p:cNvPr name="Freeform 21" id="21"/>
            <p:cNvSpPr/>
            <p:nvPr/>
          </p:nvSpPr>
          <p:spPr>
            <a:xfrm flipH="false" flipV="false" rot="0">
              <a:off x="0" y="0"/>
              <a:ext cx="6328410" cy="1756410"/>
            </a:xfrm>
            <a:custGeom>
              <a:avLst/>
              <a:gdLst/>
              <a:ahLst/>
              <a:cxnLst/>
              <a:rect r="r" b="b" t="t" l="l"/>
              <a:pathLst>
                <a:path h="1756410" w="6328410">
                  <a:moveTo>
                    <a:pt x="0" y="0"/>
                  </a:moveTo>
                  <a:lnTo>
                    <a:pt x="6328410" y="0"/>
                  </a:lnTo>
                  <a:lnTo>
                    <a:pt x="6328410" y="1756410"/>
                  </a:lnTo>
                  <a:lnTo>
                    <a:pt x="0" y="1756410"/>
                  </a:lnTo>
                  <a:close/>
                </a:path>
              </a:pathLst>
            </a:custGeom>
            <a:solidFill>
              <a:srgbClr val="FFFFFF"/>
            </a:solidFill>
            <a:ln w="14288" cap="sq">
              <a:solidFill>
                <a:srgbClr val="D4A62A"/>
              </a:solidFill>
              <a:prstDash val="solid"/>
              <a:miter/>
            </a:ln>
          </p:spPr>
        </p:sp>
      </p:grpSp>
      <p:grpSp>
        <p:nvGrpSpPr>
          <p:cNvPr name="Group 22" id="22"/>
          <p:cNvGrpSpPr/>
          <p:nvPr/>
        </p:nvGrpSpPr>
        <p:grpSpPr>
          <a:xfrm rot="0">
            <a:off x="1234440" y="7680960"/>
            <a:ext cx="4320540" cy="1303020"/>
            <a:chOff x="0" y="0"/>
            <a:chExt cx="5760720" cy="1737360"/>
          </a:xfrm>
        </p:grpSpPr>
        <p:sp>
          <p:nvSpPr>
            <p:cNvPr name="Freeform 23" id="23"/>
            <p:cNvSpPr/>
            <p:nvPr/>
          </p:nvSpPr>
          <p:spPr>
            <a:xfrm flipH="false" flipV="false" rot="0">
              <a:off x="0" y="0"/>
              <a:ext cx="5760720" cy="1737360"/>
            </a:xfrm>
            <a:custGeom>
              <a:avLst/>
              <a:gdLst/>
              <a:ahLst/>
              <a:cxnLst/>
              <a:rect r="r" b="b" t="t" l="l"/>
              <a:pathLst>
                <a:path h="1737360" w="5760720">
                  <a:moveTo>
                    <a:pt x="0" y="0"/>
                  </a:moveTo>
                  <a:lnTo>
                    <a:pt x="5760720" y="0"/>
                  </a:lnTo>
                  <a:lnTo>
                    <a:pt x="5760720" y="1737360"/>
                  </a:lnTo>
                  <a:lnTo>
                    <a:pt x="0" y="1737360"/>
                  </a:lnTo>
                  <a:close/>
                </a:path>
              </a:pathLst>
            </a:custGeom>
            <a:blipFill>
              <a:blip r:embed="rId3">
                <a:alphaModFix amt="0"/>
              </a:blip>
              <a:stretch>
                <a:fillRect l="0" t="-14608" r="0" b="-14608"/>
              </a:stretch>
            </a:blipFill>
          </p:spPr>
        </p:sp>
        <p:sp>
          <p:nvSpPr>
            <p:cNvPr name="TextBox 24" id="24"/>
            <p:cNvSpPr txBox="true"/>
            <p:nvPr/>
          </p:nvSpPr>
          <p:spPr>
            <a:xfrm>
              <a:off x="0" y="-9525"/>
              <a:ext cx="5760720" cy="1746885"/>
            </a:xfrm>
            <a:prstGeom prst="rect">
              <a:avLst/>
            </a:prstGeom>
          </p:spPr>
          <p:txBody>
            <a:bodyPr anchor="ctr" rtlCol="false" tIns="0" lIns="0" bIns="0" rIns="0"/>
            <a:lstStyle/>
            <a:p>
              <a:pPr algn="l">
                <a:lnSpc>
                  <a:spcPts val="1800"/>
                </a:lnSpc>
              </a:pPr>
              <a:r>
                <a:rPr lang="en-US" sz="1500">
                  <a:solidFill>
                    <a:srgbClr val="2F3237"/>
                  </a:solidFill>
                  <a:latin typeface="Courier New"/>
                  <a:ea typeface="Courier New"/>
                  <a:cs typeface="Courier New"/>
                  <a:sym typeface="Courier New"/>
                </a:rPr>
                <a:t>FROM COLLISION c1 JOIN COLLISION c2</a:t>
              </a:r>
            </a:p>
            <a:p>
              <a:pPr algn="l">
                <a:lnSpc>
                  <a:spcPts val="1800"/>
                </a:lnSpc>
              </a:pPr>
              <a:r>
                <a:rPr lang="en-US" sz="1500">
                  <a:solidFill>
                    <a:srgbClr val="2F3237"/>
                  </a:solidFill>
                  <a:latin typeface="Courier New"/>
                  <a:ea typeface="Courier New"/>
                  <a:cs typeface="Courier New"/>
                  <a:sym typeface="Courier New"/>
                </a:rPr>
                <a:t> ON c1.LATITUDE = c2.LATITUDE</a:t>
              </a:r>
            </a:p>
            <a:p>
              <a:pPr algn="l">
                <a:lnSpc>
                  <a:spcPts val="1800"/>
                </a:lnSpc>
              </a:pPr>
              <a:r>
                <a:rPr lang="en-US" sz="1500">
                  <a:solidFill>
                    <a:srgbClr val="2F3237"/>
                  </a:solidFill>
                  <a:latin typeface="Courier New"/>
                  <a:ea typeface="Courier New"/>
                  <a:cs typeface="Courier New"/>
                  <a:sym typeface="Courier New"/>
                </a:rPr>
                <a:t> AND c1.LONGITUDE = c2.LONGITUDE</a:t>
              </a:r>
            </a:p>
          </p:txBody>
        </p:sp>
      </p:grpSp>
      <p:grpSp>
        <p:nvGrpSpPr>
          <p:cNvPr name="Group 25" id="25"/>
          <p:cNvGrpSpPr/>
          <p:nvPr/>
        </p:nvGrpSpPr>
        <p:grpSpPr>
          <a:xfrm rot="0">
            <a:off x="6425660" y="1775936"/>
            <a:ext cx="5432108" cy="7558088"/>
            <a:chOff x="0" y="0"/>
            <a:chExt cx="7242810" cy="10077450"/>
          </a:xfrm>
        </p:grpSpPr>
        <p:sp>
          <p:nvSpPr>
            <p:cNvPr name="Freeform 26" id="26"/>
            <p:cNvSpPr/>
            <p:nvPr/>
          </p:nvSpPr>
          <p:spPr>
            <a:xfrm flipH="false" flipV="false" rot="0">
              <a:off x="0" y="0"/>
              <a:ext cx="7242810" cy="10077450"/>
            </a:xfrm>
            <a:custGeom>
              <a:avLst/>
              <a:gdLst/>
              <a:ahLst/>
              <a:cxnLst/>
              <a:rect r="r" b="b" t="t" l="l"/>
              <a:pathLst>
                <a:path h="10077450" w="7242810">
                  <a:moveTo>
                    <a:pt x="0" y="0"/>
                  </a:moveTo>
                  <a:lnTo>
                    <a:pt x="7242810" y="0"/>
                  </a:lnTo>
                  <a:lnTo>
                    <a:pt x="7242810" y="10077450"/>
                  </a:lnTo>
                  <a:lnTo>
                    <a:pt x="0" y="10077450"/>
                  </a:lnTo>
                  <a:close/>
                </a:path>
              </a:pathLst>
            </a:custGeom>
            <a:solidFill>
              <a:srgbClr val="F2F2F0"/>
            </a:solidFill>
            <a:ln w="14288" cap="sq">
              <a:solidFill>
                <a:srgbClr val="D9D9D6"/>
              </a:solidFill>
              <a:prstDash val="solid"/>
              <a:miter/>
            </a:ln>
          </p:spPr>
        </p:sp>
      </p:grpSp>
      <p:grpSp>
        <p:nvGrpSpPr>
          <p:cNvPr name="Group 27" id="27"/>
          <p:cNvGrpSpPr/>
          <p:nvPr/>
        </p:nvGrpSpPr>
        <p:grpSpPr>
          <a:xfrm rot="0">
            <a:off x="6766179" y="2047875"/>
            <a:ext cx="704850" cy="704850"/>
            <a:chOff x="0" y="0"/>
            <a:chExt cx="939800" cy="939800"/>
          </a:xfrm>
        </p:grpSpPr>
        <p:sp>
          <p:nvSpPr>
            <p:cNvPr name="Freeform 28" id="28"/>
            <p:cNvSpPr/>
            <p:nvPr/>
          </p:nvSpPr>
          <p:spPr>
            <a:xfrm flipH="false" flipV="false" rot="0">
              <a:off x="0" y="0"/>
              <a:ext cx="939800" cy="939800"/>
            </a:xfrm>
            <a:custGeom>
              <a:avLst/>
              <a:gdLst/>
              <a:ahLst/>
              <a:cxnLst/>
              <a:rect r="r" b="b" t="t" l="l"/>
              <a:pathLst>
                <a:path h="939800" w="939800">
                  <a:moveTo>
                    <a:pt x="0" y="150368"/>
                  </a:moveTo>
                  <a:cubicBezTo>
                    <a:pt x="0" y="67310"/>
                    <a:pt x="67310" y="0"/>
                    <a:pt x="150368" y="0"/>
                  </a:cubicBezTo>
                  <a:lnTo>
                    <a:pt x="789432" y="0"/>
                  </a:lnTo>
                  <a:cubicBezTo>
                    <a:pt x="872490" y="0"/>
                    <a:pt x="939800" y="67310"/>
                    <a:pt x="939800" y="150368"/>
                  </a:cubicBezTo>
                  <a:lnTo>
                    <a:pt x="939800" y="789432"/>
                  </a:lnTo>
                  <a:cubicBezTo>
                    <a:pt x="939800" y="872490"/>
                    <a:pt x="872490" y="939800"/>
                    <a:pt x="78943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29" id="29"/>
          <p:cNvGrpSpPr/>
          <p:nvPr/>
        </p:nvGrpSpPr>
        <p:grpSpPr>
          <a:xfrm rot="0">
            <a:off x="6926580" y="2208276"/>
            <a:ext cx="384048" cy="384048"/>
            <a:chOff x="0" y="0"/>
            <a:chExt cx="512064" cy="512064"/>
          </a:xfrm>
        </p:grpSpPr>
        <p:sp>
          <p:nvSpPr>
            <p:cNvPr name="Freeform 30" id="30"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5"/>
              <a:stretch>
                <a:fillRect l="0" t="0" r="0" b="0"/>
              </a:stretch>
            </a:blipFill>
          </p:spPr>
        </p:sp>
      </p:grpSp>
      <p:grpSp>
        <p:nvGrpSpPr>
          <p:cNvPr name="Group 31" id="31"/>
          <p:cNvGrpSpPr/>
          <p:nvPr/>
        </p:nvGrpSpPr>
        <p:grpSpPr>
          <a:xfrm rot="0">
            <a:off x="7667244" y="2057400"/>
            <a:ext cx="4114800" cy="685800"/>
            <a:chOff x="0" y="0"/>
            <a:chExt cx="5486400" cy="914400"/>
          </a:xfrm>
        </p:grpSpPr>
        <p:sp>
          <p:nvSpPr>
            <p:cNvPr name="Freeform 32" id="32"/>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33" id="33"/>
            <p:cNvSpPr txBox="true"/>
            <p:nvPr/>
          </p:nvSpPr>
          <p:spPr>
            <a:xfrm>
              <a:off x="0" y="-19050"/>
              <a:ext cx="5486400" cy="933450"/>
            </a:xfrm>
            <a:prstGeom prst="rect">
              <a:avLst/>
            </a:prstGeom>
          </p:spPr>
          <p:txBody>
            <a:bodyPr anchor="ctr" rtlCol="false" tIns="0" lIns="0" bIns="0" rIns="0"/>
            <a:lstStyle/>
            <a:p>
              <a:pPr algn="l">
                <a:lnSpc>
                  <a:spcPts val="2340"/>
                </a:lnSpc>
              </a:pPr>
              <a:r>
                <a:rPr lang="en-US" sz="1950" b="true">
                  <a:solidFill>
                    <a:srgbClr val="2F3237"/>
                  </a:solidFill>
                  <a:latin typeface="Arial Bold"/>
                  <a:ea typeface="Arial Bold"/>
                  <a:cs typeface="Arial Bold"/>
                  <a:sym typeface="Arial Bold"/>
                </a:rPr>
                <a:t>SUBQUERIES &amp; AGGREGATES</a:t>
              </a:r>
            </a:p>
          </p:txBody>
        </p:sp>
      </p:grpSp>
      <p:sp>
        <p:nvSpPr>
          <p:cNvPr name="TextBox 34" id="34"/>
          <p:cNvSpPr txBox="true"/>
          <p:nvPr/>
        </p:nvSpPr>
        <p:spPr>
          <a:xfrm rot="0">
            <a:off x="6775704" y="2998470"/>
            <a:ext cx="4800600" cy="4271010"/>
          </a:xfrm>
          <a:prstGeom prst="rect">
            <a:avLst/>
          </a:prstGeom>
        </p:spPr>
        <p:txBody>
          <a:bodyPr anchor="t" rtlCol="false" tIns="0" lIns="0" bIns="0" rIns="0">
            <a:spAutoFit/>
          </a:bodyPr>
          <a:lstStyle/>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Correlated subquery</a:t>
            </a:r>
            <a:r>
              <a:rPr lang="en-US" sz="1800">
                <a:solidFill>
                  <a:srgbClr val="2B2B2B"/>
                </a:solidFill>
                <a:latin typeface="Arial"/>
                <a:ea typeface="Arial"/>
                <a:cs typeface="Arial"/>
                <a:sym typeface="Arial"/>
              </a:rPr>
              <a:t> – injuries above the borough average</a:t>
            </a:r>
          </a:p>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GROUP BY + HAVING</a:t>
            </a:r>
            <a:r>
              <a:rPr lang="en-US" sz="1800">
                <a:solidFill>
                  <a:srgbClr val="2B2B2B"/>
                </a:solidFill>
                <a:latin typeface="Arial"/>
                <a:ea typeface="Arial"/>
                <a:cs typeface="Arial"/>
                <a:sym typeface="Arial"/>
              </a:rPr>
              <a:t> – ranks high-risk zip codes</a:t>
            </a:r>
          </a:p>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Aggregates</a:t>
            </a:r>
            <a:r>
              <a:rPr lang="en-US" sz="1800">
                <a:solidFill>
                  <a:srgbClr val="2B2B2B"/>
                </a:solidFill>
                <a:latin typeface="Arial"/>
                <a:ea typeface="Arial"/>
                <a:cs typeface="Arial"/>
                <a:sym typeface="Arial"/>
              </a:rPr>
              <a:t> – COUNT / SUM of collisions &amp; injuries</a:t>
            </a:r>
          </a:p>
        </p:txBody>
      </p:sp>
      <p:grpSp>
        <p:nvGrpSpPr>
          <p:cNvPr name="Group 35" id="35"/>
          <p:cNvGrpSpPr/>
          <p:nvPr/>
        </p:nvGrpSpPr>
        <p:grpSpPr>
          <a:xfrm rot="0">
            <a:off x="6768560" y="7673816"/>
            <a:ext cx="4746308" cy="1317308"/>
            <a:chOff x="0" y="0"/>
            <a:chExt cx="6328410" cy="1756410"/>
          </a:xfrm>
        </p:grpSpPr>
        <p:sp>
          <p:nvSpPr>
            <p:cNvPr name="Freeform 36" id="36"/>
            <p:cNvSpPr/>
            <p:nvPr/>
          </p:nvSpPr>
          <p:spPr>
            <a:xfrm flipH="false" flipV="false" rot="0">
              <a:off x="0" y="0"/>
              <a:ext cx="6328410" cy="1756410"/>
            </a:xfrm>
            <a:custGeom>
              <a:avLst/>
              <a:gdLst/>
              <a:ahLst/>
              <a:cxnLst/>
              <a:rect r="r" b="b" t="t" l="l"/>
              <a:pathLst>
                <a:path h="1756410" w="6328410">
                  <a:moveTo>
                    <a:pt x="0" y="0"/>
                  </a:moveTo>
                  <a:lnTo>
                    <a:pt x="6328410" y="0"/>
                  </a:lnTo>
                  <a:lnTo>
                    <a:pt x="6328410" y="1756410"/>
                  </a:lnTo>
                  <a:lnTo>
                    <a:pt x="0" y="1756410"/>
                  </a:lnTo>
                  <a:close/>
                </a:path>
              </a:pathLst>
            </a:custGeom>
            <a:solidFill>
              <a:srgbClr val="FFFFFF"/>
            </a:solidFill>
            <a:ln w="14288" cap="sq">
              <a:solidFill>
                <a:srgbClr val="D4A62A"/>
              </a:solidFill>
              <a:prstDash val="solid"/>
              <a:miter/>
            </a:ln>
          </p:spPr>
        </p:sp>
      </p:grpSp>
      <p:grpSp>
        <p:nvGrpSpPr>
          <p:cNvPr name="Group 37" id="37"/>
          <p:cNvGrpSpPr/>
          <p:nvPr/>
        </p:nvGrpSpPr>
        <p:grpSpPr>
          <a:xfrm rot="0">
            <a:off x="6981444" y="7680960"/>
            <a:ext cx="4320540" cy="1303020"/>
            <a:chOff x="0" y="0"/>
            <a:chExt cx="5760720" cy="1737360"/>
          </a:xfrm>
        </p:grpSpPr>
        <p:sp>
          <p:nvSpPr>
            <p:cNvPr name="Freeform 38" id="38"/>
            <p:cNvSpPr/>
            <p:nvPr/>
          </p:nvSpPr>
          <p:spPr>
            <a:xfrm flipH="false" flipV="false" rot="0">
              <a:off x="0" y="0"/>
              <a:ext cx="5760720" cy="1737360"/>
            </a:xfrm>
            <a:custGeom>
              <a:avLst/>
              <a:gdLst/>
              <a:ahLst/>
              <a:cxnLst/>
              <a:rect r="r" b="b" t="t" l="l"/>
              <a:pathLst>
                <a:path h="1737360" w="5760720">
                  <a:moveTo>
                    <a:pt x="0" y="0"/>
                  </a:moveTo>
                  <a:lnTo>
                    <a:pt x="5760720" y="0"/>
                  </a:lnTo>
                  <a:lnTo>
                    <a:pt x="5760720" y="1737360"/>
                  </a:lnTo>
                  <a:lnTo>
                    <a:pt x="0" y="1737360"/>
                  </a:lnTo>
                  <a:close/>
                </a:path>
              </a:pathLst>
            </a:custGeom>
            <a:blipFill>
              <a:blip r:embed="rId3">
                <a:alphaModFix amt="0"/>
              </a:blip>
              <a:stretch>
                <a:fillRect l="0" t="-14608" r="0" b="-14608"/>
              </a:stretch>
            </a:blipFill>
          </p:spPr>
        </p:sp>
        <p:sp>
          <p:nvSpPr>
            <p:cNvPr name="TextBox 39" id="39"/>
            <p:cNvSpPr txBox="true"/>
            <p:nvPr/>
          </p:nvSpPr>
          <p:spPr>
            <a:xfrm>
              <a:off x="0" y="-9525"/>
              <a:ext cx="5760720" cy="1746885"/>
            </a:xfrm>
            <a:prstGeom prst="rect">
              <a:avLst/>
            </a:prstGeom>
          </p:spPr>
          <p:txBody>
            <a:bodyPr anchor="ctr" rtlCol="false" tIns="0" lIns="0" bIns="0" rIns="0"/>
            <a:lstStyle/>
            <a:p>
              <a:pPr algn="l">
                <a:lnSpc>
                  <a:spcPts val="1800"/>
                </a:lnSpc>
              </a:pPr>
              <a:r>
                <a:rPr lang="en-US" sz="1500">
                  <a:solidFill>
                    <a:srgbClr val="2F3237"/>
                  </a:solidFill>
                  <a:latin typeface="Courier New"/>
                  <a:ea typeface="Courier New"/>
                  <a:cs typeface="Courier New"/>
                  <a:sym typeface="Courier New"/>
                </a:rPr>
                <a:t>WHERE injured &gt; (</a:t>
              </a:r>
            </a:p>
            <a:p>
              <a:pPr algn="l">
                <a:lnSpc>
                  <a:spcPts val="1800"/>
                </a:lnSpc>
              </a:pPr>
              <a:r>
                <a:rPr lang="en-US" sz="1500">
                  <a:solidFill>
                    <a:srgbClr val="2F3237"/>
                  </a:solidFill>
                  <a:latin typeface="Courier New"/>
                  <a:ea typeface="Courier New"/>
                  <a:cs typeface="Courier New"/>
                  <a:sym typeface="Courier New"/>
                </a:rPr>
                <a:t>  SELECT AVG(injured)</a:t>
              </a:r>
            </a:p>
            <a:p>
              <a:pPr algn="l">
                <a:lnSpc>
                  <a:spcPts val="1800"/>
                </a:lnSpc>
              </a:pPr>
              <a:r>
                <a:rPr lang="en-US" sz="1500">
                  <a:solidFill>
                    <a:srgbClr val="2F3237"/>
                  </a:solidFill>
                  <a:latin typeface="Courier New"/>
                  <a:ea typeface="Courier New"/>
                  <a:cs typeface="Courier New"/>
                  <a:sym typeface="Courier New"/>
                </a:rPr>
                <a:t>  FROM … same borough)</a:t>
              </a:r>
            </a:p>
          </p:txBody>
        </p:sp>
      </p:grpSp>
      <p:grpSp>
        <p:nvGrpSpPr>
          <p:cNvPr name="Group 40" id="40"/>
          <p:cNvGrpSpPr/>
          <p:nvPr/>
        </p:nvGrpSpPr>
        <p:grpSpPr>
          <a:xfrm rot="0">
            <a:off x="12172664" y="1775936"/>
            <a:ext cx="5432108" cy="7558088"/>
            <a:chOff x="0" y="0"/>
            <a:chExt cx="7242810" cy="10077450"/>
          </a:xfrm>
        </p:grpSpPr>
        <p:sp>
          <p:nvSpPr>
            <p:cNvPr name="Freeform 41" id="41"/>
            <p:cNvSpPr/>
            <p:nvPr/>
          </p:nvSpPr>
          <p:spPr>
            <a:xfrm flipH="false" flipV="false" rot="0">
              <a:off x="0" y="0"/>
              <a:ext cx="7242810" cy="10077450"/>
            </a:xfrm>
            <a:custGeom>
              <a:avLst/>
              <a:gdLst/>
              <a:ahLst/>
              <a:cxnLst/>
              <a:rect r="r" b="b" t="t" l="l"/>
              <a:pathLst>
                <a:path h="10077450" w="7242810">
                  <a:moveTo>
                    <a:pt x="0" y="0"/>
                  </a:moveTo>
                  <a:lnTo>
                    <a:pt x="7242810" y="0"/>
                  </a:lnTo>
                  <a:lnTo>
                    <a:pt x="7242810" y="10077450"/>
                  </a:lnTo>
                  <a:lnTo>
                    <a:pt x="0" y="10077450"/>
                  </a:lnTo>
                  <a:close/>
                </a:path>
              </a:pathLst>
            </a:custGeom>
            <a:solidFill>
              <a:srgbClr val="F2F2F0"/>
            </a:solidFill>
            <a:ln w="14288" cap="sq">
              <a:solidFill>
                <a:srgbClr val="D9D9D6"/>
              </a:solidFill>
              <a:prstDash val="solid"/>
              <a:miter/>
            </a:ln>
          </p:spPr>
        </p:sp>
      </p:grpSp>
      <p:grpSp>
        <p:nvGrpSpPr>
          <p:cNvPr name="Group 42" id="42"/>
          <p:cNvGrpSpPr/>
          <p:nvPr/>
        </p:nvGrpSpPr>
        <p:grpSpPr>
          <a:xfrm rot="0">
            <a:off x="12513183" y="2047875"/>
            <a:ext cx="704850" cy="704850"/>
            <a:chOff x="0" y="0"/>
            <a:chExt cx="939800" cy="939800"/>
          </a:xfrm>
        </p:grpSpPr>
        <p:sp>
          <p:nvSpPr>
            <p:cNvPr name="Freeform 43" id="43"/>
            <p:cNvSpPr/>
            <p:nvPr/>
          </p:nvSpPr>
          <p:spPr>
            <a:xfrm flipH="false" flipV="false" rot="0">
              <a:off x="0" y="0"/>
              <a:ext cx="939800" cy="939800"/>
            </a:xfrm>
            <a:custGeom>
              <a:avLst/>
              <a:gdLst/>
              <a:ahLst/>
              <a:cxnLst/>
              <a:rect r="r" b="b" t="t" l="l"/>
              <a:pathLst>
                <a:path h="939800" w="939800">
                  <a:moveTo>
                    <a:pt x="0" y="150368"/>
                  </a:moveTo>
                  <a:cubicBezTo>
                    <a:pt x="0" y="67310"/>
                    <a:pt x="67310" y="0"/>
                    <a:pt x="150368" y="0"/>
                  </a:cubicBezTo>
                  <a:lnTo>
                    <a:pt x="789432" y="0"/>
                  </a:lnTo>
                  <a:cubicBezTo>
                    <a:pt x="872490" y="0"/>
                    <a:pt x="939800" y="67310"/>
                    <a:pt x="939800" y="150368"/>
                  </a:cubicBezTo>
                  <a:lnTo>
                    <a:pt x="939800" y="789432"/>
                  </a:lnTo>
                  <a:cubicBezTo>
                    <a:pt x="939800" y="872490"/>
                    <a:pt x="872490" y="939800"/>
                    <a:pt x="78943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44" id="44"/>
          <p:cNvGrpSpPr/>
          <p:nvPr/>
        </p:nvGrpSpPr>
        <p:grpSpPr>
          <a:xfrm rot="0">
            <a:off x="12673584" y="2208276"/>
            <a:ext cx="384048" cy="384048"/>
            <a:chOff x="0" y="0"/>
            <a:chExt cx="512064" cy="512064"/>
          </a:xfrm>
        </p:grpSpPr>
        <p:sp>
          <p:nvSpPr>
            <p:cNvPr name="Freeform 45" id="45"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6"/>
              <a:stretch>
                <a:fillRect l="0" t="0" r="0" b="0"/>
              </a:stretch>
            </a:blipFill>
          </p:spPr>
        </p:sp>
      </p:grpSp>
      <p:grpSp>
        <p:nvGrpSpPr>
          <p:cNvPr name="Group 46" id="46"/>
          <p:cNvGrpSpPr/>
          <p:nvPr/>
        </p:nvGrpSpPr>
        <p:grpSpPr>
          <a:xfrm rot="0">
            <a:off x="13414248" y="2057400"/>
            <a:ext cx="4114800" cy="685800"/>
            <a:chOff x="0" y="0"/>
            <a:chExt cx="5486400" cy="914400"/>
          </a:xfrm>
        </p:grpSpPr>
        <p:sp>
          <p:nvSpPr>
            <p:cNvPr name="Freeform 47" id="47"/>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48" id="48"/>
            <p:cNvSpPr txBox="true"/>
            <p:nvPr/>
          </p:nvSpPr>
          <p:spPr>
            <a:xfrm>
              <a:off x="0" y="-19050"/>
              <a:ext cx="5486400" cy="933450"/>
            </a:xfrm>
            <a:prstGeom prst="rect">
              <a:avLst/>
            </a:prstGeom>
          </p:spPr>
          <p:txBody>
            <a:bodyPr anchor="ctr" rtlCol="false" tIns="0" lIns="0" bIns="0" rIns="0"/>
            <a:lstStyle/>
            <a:p>
              <a:pPr algn="l">
                <a:lnSpc>
                  <a:spcPts val="2340"/>
                </a:lnSpc>
              </a:pPr>
              <a:r>
                <a:rPr lang="en-US" sz="1950" b="true">
                  <a:solidFill>
                    <a:srgbClr val="2F3237"/>
                  </a:solidFill>
                  <a:latin typeface="Arial Bold"/>
                  <a:ea typeface="Arial Bold"/>
                  <a:cs typeface="Arial Bold"/>
                  <a:sym typeface="Arial Bold"/>
                </a:rPr>
                <a:t>REPORTING VIEWS</a:t>
              </a:r>
            </a:p>
          </p:txBody>
        </p:sp>
      </p:grpSp>
      <p:sp>
        <p:nvSpPr>
          <p:cNvPr name="TextBox 49" id="49"/>
          <p:cNvSpPr txBox="true"/>
          <p:nvPr/>
        </p:nvSpPr>
        <p:spPr>
          <a:xfrm rot="0">
            <a:off x="12522708" y="2998470"/>
            <a:ext cx="4800600" cy="4271010"/>
          </a:xfrm>
          <a:prstGeom prst="rect">
            <a:avLst/>
          </a:prstGeom>
        </p:spPr>
        <p:txBody>
          <a:bodyPr anchor="t" rtlCol="false" tIns="0" lIns="0" bIns="0" rIns="0">
            <a:spAutoFit/>
          </a:bodyPr>
          <a:lstStyle/>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vw_BoroughAccidentSummary</a:t>
            </a:r>
            <a:r>
              <a:rPr lang="en-US" sz="1800">
                <a:solidFill>
                  <a:srgbClr val="2B2B2B"/>
                </a:solidFill>
                <a:latin typeface="Arial"/>
                <a:ea typeface="Arial"/>
                <a:cs typeface="Arial"/>
                <a:sym typeface="Arial"/>
              </a:rPr>
              <a:t> – live borough totals: collisions, injured, fatalities</a:t>
            </a:r>
          </a:p>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vw_HighRiskFactorAnalysis</a:t>
            </a:r>
            <a:r>
              <a:rPr lang="en-US" sz="1800">
                <a:solidFill>
                  <a:srgbClr val="2B2B2B"/>
                </a:solidFill>
                <a:latin typeface="Arial"/>
                <a:ea typeface="Arial"/>
                <a:cs typeface="Arial"/>
                <a:sym typeface="Arial"/>
              </a:rPr>
              <a:t> – casualties by vehicle type &amp; factor</a:t>
            </a:r>
          </a:p>
        </p:txBody>
      </p:sp>
      <p:grpSp>
        <p:nvGrpSpPr>
          <p:cNvPr name="Group 50" id="50"/>
          <p:cNvGrpSpPr/>
          <p:nvPr/>
        </p:nvGrpSpPr>
        <p:grpSpPr>
          <a:xfrm rot="0">
            <a:off x="12515564" y="6027896"/>
            <a:ext cx="4746308" cy="1317308"/>
            <a:chOff x="0" y="0"/>
            <a:chExt cx="6328410" cy="1756410"/>
          </a:xfrm>
        </p:grpSpPr>
        <p:sp>
          <p:nvSpPr>
            <p:cNvPr name="Freeform 51" id="51"/>
            <p:cNvSpPr/>
            <p:nvPr/>
          </p:nvSpPr>
          <p:spPr>
            <a:xfrm flipH="false" flipV="false" rot="0">
              <a:off x="0" y="0"/>
              <a:ext cx="6328410" cy="1756410"/>
            </a:xfrm>
            <a:custGeom>
              <a:avLst/>
              <a:gdLst/>
              <a:ahLst/>
              <a:cxnLst/>
              <a:rect r="r" b="b" t="t" l="l"/>
              <a:pathLst>
                <a:path h="1756410" w="6328410">
                  <a:moveTo>
                    <a:pt x="0" y="0"/>
                  </a:moveTo>
                  <a:lnTo>
                    <a:pt x="6328410" y="0"/>
                  </a:lnTo>
                  <a:lnTo>
                    <a:pt x="6328410" y="1756410"/>
                  </a:lnTo>
                  <a:lnTo>
                    <a:pt x="0" y="1756410"/>
                  </a:lnTo>
                  <a:close/>
                </a:path>
              </a:pathLst>
            </a:custGeom>
            <a:solidFill>
              <a:srgbClr val="D4A62A"/>
            </a:solidFill>
            <a:ln w="14288" cap="sq">
              <a:solidFill>
                <a:srgbClr val="D4A62A"/>
              </a:solidFill>
              <a:prstDash val="solid"/>
              <a:miter/>
            </a:ln>
          </p:spPr>
        </p:sp>
      </p:grpSp>
      <p:grpSp>
        <p:nvGrpSpPr>
          <p:cNvPr name="Group 52" id="52"/>
          <p:cNvGrpSpPr/>
          <p:nvPr/>
        </p:nvGrpSpPr>
        <p:grpSpPr>
          <a:xfrm rot="0">
            <a:off x="12728448" y="6035040"/>
            <a:ext cx="4320540" cy="1303020"/>
            <a:chOff x="0" y="0"/>
            <a:chExt cx="5760720" cy="1737360"/>
          </a:xfrm>
        </p:grpSpPr>
        <p:sp>
          <p:nvSpPr>
            <p:cNvPr name="Freeform 53" id="53"/>
            <p:cNvSpPr/>
            <p:nvPr/>
          </p:nvSpPr>
          <p:spPr>
            <a:xfrm flipH="false" flipV="false" rot="0">
              <a:off x="0" y="0"/>
              <a:ext cx="5760720" cy="1737360"/>
            </a:xfrm>
            <a:custGeom>
              <a:avLst/>
              <a:gdLst/>
              <a:ahLst/>
              <a:cxnLst/>
              <a:rect r="r" b="b" t="t" l="l"/>
              <a:pathLst>
                <a:path h="1737360" w="5760720">
                  <a:moveTo>
                    <a:pt x="0" y="0"/>
                  </a:moveTo>
                  <a:lnTo>
                    <a:pt x="5760720" y="0"/>
                  </a:lnTo>
                  <a:lnTo>
                    <a:pt x="5760720" y="1737360"/>
                  </a:lnTo>
                  <a:lnTo>
                    <a:pt x="0" y="1737360"/>
                  </a:lnTo>
                  <a:close/>
                </a:path>
              </a:pathLst>
            </a:custGeom>
            <a:blipFill>
              <a:blip r:embed="rId3">
                <a:alphaModFix amt="0"/>
              </a:blip>
              <a:stretch>
                <a:fillRect l="0" t="-14608" r="0" b="-14608"/>
              </a:stretch>
            </a:blipFill>
          </p:spPr>
        </p:sp>
        <p:sp>
          <p:nvSpPr>
            <p:cNvPr name="TextBox 54" id="54"/>
            <p:cNvSpPr txBox="true"/>
            <p:nvPr/>
          </p:nvSpPr>
          <p:spPr>
            <a:xfrm>
              <a:off x="0" y="-19050"/>
              <a:ext cx="5760720" cy="1756410"/>
            </a:xfrm>
            <a:prstGeom prst="rect">
              <a:avLst/>
            </a:prstGeom>
          </p:spPr>
          <p:txBody>
            <a:bodyPr anchor="ctr" rtlCol="false" tIns="0" lIns="0" bIns="0" rIns="0"/>
            <a:lstStyle/>
            <a:p>
              <a:pPr algn="l">
                <a:lnSpc>
                  <a:spcPts val="2160"/>
                </a:lnSpc>
              </a:pPr>
              <a:r>
                <a:rPr lang="en-US" sz="1800" b="true">
                  <a:solidFill>
                    <a:srgbClr val="2F3237"/>
                  </a:solidFill>
                  <a:latin typeface="Arial Bold"/>
                  <a:ea typeface="Arial Bold"/>
                  <a:cs typeface="Arial Bold"/>
                  <a:sym typeface="Arial Bold"/>
                </a:rPr>
                <a:t>Why views?</a:t>
              </a:r>
            </a:p>
            <a:p>
              <a:pPr algn="l">
                <a:lnSpc>
                  <a:spcPts val="1980"/>
                </a:lnSpc>
              </a:pPr>
              <a:r>
                <a:rPr lang="en-US" sz="1650">
                  <a:solidFill>
                    <a:srgbClr val="2F3237"/>
                  </a:solidFill>
                  <a:latin typeface="Arial"/>
                  <a:ea typeface="Arial"/>
                  <a:cs typeface="Arial"/>
                  <a:sym typeface="Arial"/>
                </a:rPr>
                <a:t>Write the query once, then reuse it like a table.</a:t>
              </a:r>
            </a:p>
          </p:txBody>
        </p:sp>
      </p:grpSp>
      <p:grpSp>
        <p:nvGrpSpPr>
          <p:cNvPr name="Group 55" id="55"/>
          <p:cNvGrpSpPr/>
          <p:nvPr/>
        </p:nvGrpSpPr>
        <p:grpSpPr>
          <a:xfrm rot="0">
            <a:off x="12515564" y="7673816"/>
            <a:ext cx="4746308" cy="1317308"/>
            <a:chOff x="0" y="0"/>
            <a:chExt cx="6328410" cy="1756410"/>
          </a:xfrm>
        </p:grpSpPr>
        <p:sp>
          <p:nvSpPr>
            <p:cNvPr name="Freeform 56" id="56"/>
            <p:cNvSpPr/>
            <p:nvPr/>
          </p:nvSpPr>
          <p:spPr>
            <a:xfrm flipH="false" flipV="false" rot="0">
              <a:off x="0" y="0"/>
              <a:ext cx="6328410" cy="1756410"/>
            </a:xfrm>
            <a:custGeom>
              <a:avLst/>
              <a:gdLst/>
              <a:ahLst/>
              <a:cxnLst/>
              <a:rect r="r" b="b" t="t" l="l"/>
              <a:pathLst>
                <a:path h="1756410" w="6328410">
                  <a:moveTo>
                    <a:pt x="0" y="0"/>
                  </a:moveTo>
                  <a:lnTo>
                    <a:pt x="6328410" y="0"/>
                  </a:lnTo>
                  <a:lnTo>
                    <a:pt x="6328410" y="1756410"/>
                  </a:lnTo>
                  <a:lnTo>
                    <a:pt x="0" y="1756410"/>
                  </a:lnTo>
                  <a:close/>
                </a:path>
              </a:pathLst>
            </a:custGeom>
            <a:solidFill>
              <a:srgbClr val="FFFFFF"/>
            </a:solidFill>
            <a:ln w="14288" cap="sq">
              <a:solidFill>
                <a:srgbClr val="D4A62A"/>
              </a:solidFill>
              <a:prstDash val="solid"/>
              <a:miter/>
            </a:ln>
          </p:spPr>
        </p:sp>
      </p:grpSp>
      <p:grpSp>
        <p:nvGrpSpPr>
          <p:cNvPr name="Group 57" id="57"/>
          <p:cNvGrpSpPr/>
          <p:nvPr/>
        </p:nvGrpSpPr>
        <p:grpSpPr>
          <a:xfrm rot="0">
            <a:off x="12728448" y="7680960"/>
            <a:ext cx="4320540" cy="1303020"/>
            <a:chOff x="0" y="0"/>
            <a:chExt cx="5760720" cy="1737360"/>
          </a:xfrm>
        </p:grpSpPr>
        <p:sp>
          <p:nvSpPr>
            <p:cNvPr name="Freeform 58" id="58"/>
            <p:cNvSpPr/>
            <p:nvPr/>
          </p:nvSpPr>
          <p:spPr>
            <a:xfrm flipH="false" flipV="false" rot="0">
              <a:off x="0" y="0"/>
              <a:ext cx="5760720" cy="1737360"/>
            </a:xfrm>
            <a:custGeom>
              <a:avLst/>
              <a:gdLst/>
              <a:ahLst/>
              <a:cxnLst/>
              <a:rect r="r" b="b" t="t" l="l"/>
              <a:pathLst>
                <a:path h="1737360" w="5760720">
                  <a:moveTo>
                    <a:pt x="0" y="0"/>
                  </a:moveTo>
                  <a:lnTo>
                    <a:pt x="5760720" y="0"/>
                  </a:lnTo>
                  <a:lnTo>
                    <a:pt x="5760720" y="1737360"/>
                  </a:lnTo>
                  <a:lnTo>
                    <a:pt x="0" y="1737360"/>
                  </a:lnTo>
                  <a:close/>
                </a:path>
              </a:pathLst>
            </a:custGeom>
            <a:blipFill>
              <a:blip r:embed="rId3">
                <a:alphaModFix amt="0"/>
              </a:blip>
              <a:stretch>
                <a:fillRect l="0" t="-14608" r="0" b="-14608"/>
              </a:stretch>
            </a:blipFill>
          </p:spPr>
        </p:sp>
        <p:sp>
          <p:nvSpPr>
            <p:cNvPr name="TextBox 59" id="59"/>
            <p:cNvSpPr txBox="true"/>
            <p:nvPr/>
          </p:nvSpPr>
          <p:spPr>
            <a:xfrm>
              <a:off x="0" y="-9525"/>
              <a:ext cx="5760720" cy="1746885"/>
            </a:xfrm>
            <a:prstGeom prst="rect">
              <a:avLst/>
            </a:prstGeom>
          </p:spPr>
          <p:txBody>
            <a:bodyPr anchor="ctr" rtlCol="false" tIns="0" lIns="0" bIns="0" rIns="0"/>
            <a:lstStyle/>
            <a:p>
              <a:pPr algn="l">
                <a:lnSpc>
                  <a:spcPts val="1800"/>
                </a:lnSpc>
              </a:pPr>
              <a:r>
                <a:rPr lang="en-US" sz="1500">
                  <a:solidFill>
                    <a:srgbClr val="2F3237"/>
                  </a:solidFill>
                  <a:latin typeface="Courier New"/>
                  <a:ea typeface="Courier New"/>
                  <a:cs typeface="Courier New"/>
                  <a:sym typeface="Courier New"/>
                </a:rPr>
                <a:t>CREATE VIEW view_name AS</a:t>
              </a:r>
            </a:p>
            <a:p>
              <a:pPr algn="l">
                <a:lnSpc>
                  <a:spcPts val="1800"/>
                </a:lnSpc>
              </a:pPr>
              <a:r>
                <a:rPr lang="en-US" sz="1500">
                  <a:solidFill>
                    <a:srgbClr val="2F3237"/>
                  </a:solidFill>
                  <a:latin typeface="Courier New"/>
                  <a:ea typeface="Courier New"/>
                  <a:cs typeface="Courier New"/>
                  <a:sym typeface="Courier New"/>
                </a:rPr>
                <a:t>SELECT … FROM …</a:t>
              </a:r>
            </a:p>
          </p:txBody>
        </p:sp>
      </p:grpSp>
      <p:sp>
        <p:nvSpPr>
          <p:cNvPr name="Freeform 60" id="60"/>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76275" y="539115"/>
            <a:ext cx="842010" cy="842010"/>
            <a:chOff x="0" y="0"/>
            <a:chExt cx="1122680" cy="1122680"/>
          </a:xfrm>
        </p:grpSpPr>
        <p:sp>
          <p:nvSpPr>
            <p:cNvPr name="Freeform 3" id="3"/>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solidFill>
              <a:srgbClr val="D4A62A"/>
            </a:solidFill>
            <a:ln w="19050" cap="sq">
              <a:solidFill>
                <a:srgbClr val="D4A62A"/>
              </a:solidFill>
              <a:prstDash val="solid"/>
              <a:miter/>
            </a:ln>
          </p:spPr>
        </p:sp>
      </p:grpSp>
      <p:grpSp>
        <p:nvGrpSpPr>
          <p:cNvPr name="Group 4" id="4"/>
          <p:cNvGrpSpPr/>
          <p:nvPr/>
        </p:nvGrpSpPr>
        <p:grpSpPr>
          <a:xfrm rot="0">
            <a:off x="68580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9525"/>
              <a:ext cx="1097280" cy="1106805"/>
            </a:xfrm>
            <a:prstGeom prst="rect">
              <a:avLst/>
            </a:prstGeom>
          </p:spPr>
          <p:txBody>
            <a:bodyPr anchor="ctr" rtlCol="false" tIns="0" lIns="0" bIns="0" rIns="0"/>
            <a:lstStyle/>
            <a:p>
              <a:pPr algn="ctr">
                <a:lnSpc>
                  <a:spcPts val="2879"/>
                </a:lnSpc>
              </a:pPr>
              <a:r>
                <a:rPr lang="en-US" sz="2400" b="true">
                  <a:solidFill>
                    <a:srgbClr val="2F3237"/>
                  </a:solidFill>
                  <a:latin typeface="Arial Bold"/>
                  <a:ea typeface="Arial Bold"/>
                  <a:cs typeface="Arial Bold"/>
                  <a:sym typeface="Arial Bold"/>
                </a:rPr>
                <a:t>06</a:t>
              </a:r>
            </a:p>
          </p:txBody>
        </p:sp>
      </p:grpSp>
      <p:grpSp>
        <p:nvGrpSpPr>
          <p:cNvPr name="Group 7" id="7"/>
          <p:cNvGrpSpPr/>
          <p:nvPr/>
        </p:nvGrpSpPr>
        <p:grpSpPr>
          <a:xfrm rot="0">
            <a:off x="1783080" y="480060"/>
            <a:ext cx="10739628" cy="960120"/>
            <a:chOff x="0" y="0"/>
            <a:chExt cx="14319504" cy="1280160"/>
          </a:xfrm>
        </p:grpSpPr>
        <p:sp>
          <p:nvSpPr>
            <p:cNvPr name="Freeform 8" id="8"/>
            <p:cNvSpPr/>
            <p:nvPr/>
          </p:nvSpPr>
          <p:spPr>
            <a:xfrm flipH="false" flipV="false" rot="0">
              <a:off x="0" y="0"/>
              <a:ext cx="14319504" cy="1280160"/>
            </a:xfrm>
            <a:custGeom>
              <a:avLst/>
              <a:gdLst/>
              <a:ahLst/>
              <a:cxnLst/>
              <a:rect r="r" b="b" t="t" l="l"/>
              <a:pathLst>
                <a:path h="1280160" w="14319504">
                  <a:moveTo>
                    <a:pt x="0" y="0"/>
                  </a:moveTo>
                  <a:lnTo>
                    <a:pt x="14319504" y="0"/>
                  </a:lnTo>
                  <a:lnTo>
                    <a:pt x="14319504" y="1280160"/>
                  </a:lnTo>
                  <a:lnTo>
                    <a:pt x="0" y="1280160"/>
                  </a:lnTo>
                  <a:close/>
                </a:path>
              </a:pathLst>
            </a:custGeom>
            <a:blipFill>
              <a:blip r:embed="rId3">
                <a:alphaModFix amt="0"/>
              </a:blip>
              <a:stretch>
                <a:fillRect l="0" t="-270111" r="-46871" b="-270111"/>
              </a:stretch>
            </a:blipFill>
          </p:spPr>
        </p:sp>
        <p:sp>
          <p:nvSpPr>
            <p:cNvPr name="TextBox 9" id="9"/>
            <p:cNvSpPr txBox="true"/>
            <p:nvPr/>
          </p:nvSpPr>
          <p:spPr>
            <a:xfrm>
              <a:off x="0" y="-19050"/>
              <a:ext cx="14319504" cy="1299210"/>
            </a:xfrm>
            <a:prstGeom prst="rect">
              <a:avLst/>
            </a:prstGeom>
          </p:spPr>
          <p:txBody>
            <a:bodyPr anchor="ctr" rtlCol="false" tIns="0" lIns="0" bIns="0" rIns="0"/>
            <a:lstStyle/>
            <a:p>
              <a:pPr algn="l">
                <a:lnSpc>
                  <a:spcPts val="4680"/>
                </a:lnSpc>
              </a:pPr>
              <a:r>
                <a:rPr lang="en-US" sz="3900" b="true">
                  <a:solidFill>
                    <a:srgbClr val="2F3237"/>
                  </a:solidFill>
                  <a:latin typeface="Arial Bold"/>
                  <a:ea typeface="Arial Bold"/>
                  <a:cs typeface="Arial Bold"/>
                  <a:sym typeface="Arial Bold"/>
                </a:rPr>
                <a:t>Advanced Implementation &amp; Business Rules</a:t>
              </a:r>
            </a:p>
          </p:txBody>
        </p:sp>
      </p:grpSp>
      <p:grpSp>
        <p:nvGrpSpPr>
          <p:cNvPr name="Group 10" id="10"/>
          <p:cNvGrpSpPr/>
          <p:nvPr/>
        </p:nvGrpSpPr>
        <p:grpSpPr>
          <a:xfrm rot="0">
            <a:off x="678656" y="1775936"/>
            <a:ext cx="5432108" cy="5432108"/>
            <a:chOff x="0" y="0"/>
            <a:chExt cx="7242810" cy="7242810"/>
          </a:xfrm>
        </p:grpSpPr>
        <p:sp>
          <p:nvSpPr>
            <p:cNvPr name="Freeform 11" id="11"/>
            <p:cNvSpPr/>
            <p:nvPr/>
          </p:nvSpPr>
          <p:spPr>
            <a:xfrm flipH="false" flipV="false" rot="0">
              <a:off x="0" y="0"/>
              <a:ext cx="7242810" cy="7242810"/>
            </a:xfrm>
            <a:custGeom>
              <a:avLst/>
              <a:gdLst/>
              <a:ahLst/>
              <a:cxnLst/>
              <a:rect r="r" b="b" t="t" l="l"/>
              <a:pathLst>
                <a:path h="7242810" w="7242810">
                  <a:moveTo>
                    <a:pt x="0" y="0"/>
                  </a:moveTo>
                  <a:lnTo>
                    <a:pt x="7242810" y="0"/>
                  </a:lnTo>
                  <a:lnTo>
                    <a:pt x="7242810" y="7242810"/>
                  </a:lnTo>
                  <a:lnTo>
                    <a:pt x="0" y="7242810"/>
                  </a:lnTo>
                  <a:close/>
                </a:path>
              </a:pathLst>
            </a:custGeom>
            <a:solidFill>
              <a:srgbClr val="F2F2F0"/>
            </a:solidFill>
            <a:ln w="14288" cap="sq">
              <a:solidFill>
                <a:srgbClr val="D9D9D6"/>
              </a:solidFill>
              <a:prstDash val="solid"/>
              <a:miter/>
            </a:ln>
          </p:spPr>
        </p:sp>
      </p:grpSp>
      <p:grpSp>
        <p:nvGrpSpPr>
          <p:cNvPr name="Group 12" id="12"/>
          <p:cNvGrpSpPr/>
          <p:nvPr/>
        </p:nvGrpSpPr>
        <p:grpSpPr>
          <a:xfrm rot="0">
            <a:off x="1019175" y="2047875"/>
            <a:ext cx="704850" cy="704850"/>
            <a:chOff x="0" y="0"/>
            <a:chExt cx="939800" cy="939800"/>
          </a:xfrm>
        </p:grpSpPr>
        <p:sp>
          <p:nvSpPr>
            <p:cNvPr name="Freeform 13" id="13"/>
            <p:cNvSpPr/>
            <p:nvPr/>
          </p:nvSpPr>
          <p:spPr>
            <a:xfrm flipH="false" flipV="false" rot="0">
              <a:off x="0" y="0"/>
              <a:ext cx="939800" cy="939800"/>
            </a:xfrm>
            <a:custGeom>
              <a:avLst/>
              <a:gdLst/>
              <a:ahLst/>
              <a:cxnLst/>
              <a:rect r="r" b="b" t="t" l="l"/>
              <a:pathLst>
                <a:path h="939800" w="939800">
                  <a:moveTo>
                    <a:pt x="0" y="150368"/>
                  </a:moveTo>
                  <a:cubicBezTo>
                    <a:pt x="0" y="67310"/>
                    <a:pt x="67310" y="0"/>
                    <a:pt x="150368" y="0"/>
                  </a:cubicBezTo>
                  <a:lnTo>
                    <a:pt x="789432" y="0"/>
                  </a:lnTo>
                  <a:cubicBezTo>
                    <a:pt x="872490" y="0"/>
                    <a:pt x="939800" y="67310"/>
                    <a:pt x="939800" y="150368"/>
                  </a:cubicBezTo>
                  <a:lnTo>
                    <a:pt x="939800" y="789432"/>
                  </a:lnTo>
                  <a:cubicBezTo>
                    <a:pt x="939800" y="872490"/>
                    <a:pt x="872490" y="939800"/>
                    <a:pt x="78943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14" id="14"/>
          <p:cNvGrpSpPr/>
          <p:nvPr/>
        </p:nvGrpSpPr>
        <p:grpSpPr>
          <a:xfrm rot="0">
            <a:off x="1179576" y="2208276"/>
            <a:ext cx="384048" cy="384048"/>
            <a:chOff x="0" y="0"/>
            <a:chExt cx="512064" cy="512064"/>
          </a:xfrm>
        </p:grpSpPr>
        <p:sp>
          <p:nvSpPr>
            <p:cNvPr name="Freeform 15" id="15"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4"/>
              <a:stretch>
                <a:fillRect l="0" t="0" r="0" b="0"/>
              </a:stretch>
            </a:blipFill>
          </p:spPr>
        </p:sp>
      </p:grpSp>
      <p:grpSp>
        <p:nvGrpSpPr>
          <p:cNvPr name="Group 16" id="16"/>
          <p:cNvGrpSpPr/>
          <p:nvPr/>
        </p:nvGrpSpPr>
        <p:grpSpPr>
          <a:xfrm rot="0">
            <a:off x="1920240" y="2057400"/>
            <a:ext cx="4114800" cy="685800"/>
            <a:chOff x="0" y="0"/>
            <a:chExt cx="5486400" cy="914400"/>
          </a:xfrm>
        </p:grpSpPr>
        <p:sp>
          <p:nvSpPr>
            <p:cNvPr name="Freeform 17" id="17"/>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18" id="18"/>
            <p:cNvSpPr txBox="true"/>
            <p:nvPr/>
          </p:nvSpPr>
          <p:spPr>
            <a:xfrm>
              <a:off x="0" y="-19050"/>
              <a:ext cx="5486400" cy="933450"/>
            </a:xfrm>
            <a:prstGeom prst="rect">
              <a:avLst/>
            </a:prstGeom>
          </p:spPr>
          <p:txBody>
            <a:bodyPr anchor="ctr" rtlCol="false" tIns="0" lIns="0" bIns="0" rIns="0"/>
            <a:lstStyle/>
            <a:p>
              <a:pPr algn="l">
                <a:lnSpc>
                  <a:spcPts val="2340"/>
                </a:lnSpc>
              </a:pPr>
              <a:r>
                <a:rPr lang="en-US" sz="1950" b="true">
                  <a:solidFill>
                    <a:srgbClr val="2F3237"/>
                  </a:solidFill>
                  <a:latin typeface="Arial Bold"/>
                  <a:ea typeface="Arial Bold"/>
                  <a:cs typeface="Arial Bold"/>
                  <a:sym typeface="Arial Bold"/>
                </a:rPr>
                <a:t>STORED PROCEDURE</a:t>
              </a:r>
            </a:p>
          </p:txBody>
        </p:sp>
      </p:grpSp>
      <p:grpSp>
        <p:nvGrpSpPr>
          <p:cNvPr name="Group 19" id="19"/>
          <p:cNvGrpSpPr/>
          <p:nvPr/>
        </p:nvGrpSpPr>
        <p:grpSpPr>
          <a:xfrm rot="0">
            <a:off x="6425660" y="1775936"/>
            <a:ext cx="5432108" cy="5432108"/>
            <a:chOff x="0" y="0"/>
            <a:chExt cx="7242810" cy="7242810"/>
          </a:xfrm>
        </p:grpSpPr>
        <p:sp>
          <p:nvSpPr>
            <p:cNvPr name="Freeform 20" id="20"/>
            <p:cNvSpPr/>
            <p:nvPr/>
          </p:nvSpPr>
          <p:spPr>
            <a:xfrm flipH="false" flipV="false" rot="0">
              <a:off x="0" y="0"/>
              <a:ext cx="7242810" cy="7242810"/>
            </a:xfrm>
            <a:custGeom>
              <a:avLst/>
              <a:gdLst/>
              <a:ahLst/>
              <a:cxnLst/>
              <a:rect r="r" b="b" t="t" l="l"/>
              <a:pathLst>
                <a:path h="7242810" w="7242810">
                  <a:moveTo>
                    <a:pt x="0" y="0"/>
                  </a:moveTo>
                  <a:lnTo>
                    <a:pt x="7242810" y="0"/>
                  </a:lnTo>
                  <a:lnTo>
                    <a:pt x="7242810" y="7242810"/>
                  </a:lnTo>
                  <a:lnTo>
                    <a:pt x="0" y="7242810"/>
                  </a:lnTo>
                  <a:close/>
                </a:path>
              </a:pathLst>
            </a:custGeom>
            <a:solidFill>
              <a:srgbClr val="F2F2F0"/>
            </a:solidFill>
            <a:ln w="14288" cap="sq">
              <a:solidFill>
                <a:srgbClr val="D9D9D6"/>
              </a:solidFill>
              <a:prstDash val="solid"/>
              <a:miter/>
            </a:ln>
          </p:spPr>
        </p:sp>
      </p:grpSp>
      <p:grpSp>
        <p:nvGrpSpPr>
          <p:cNvPr name="Group 21" id="21"/>
          <p:cNvGrpSpPr/>
          <p:nvPr/>
        </p:nvGrpSpPr>
        <p:grpSpPr>
          <a:xfrm rot="0">
            <a:off x="6766179" y="2047875"/>
            <a:ext cx="704850" cy="704850"/>
            <a:chOff x="0" y="0"/>
            <a:chExt cx="939800" cy="939800"/>
          </a:xfrm>
        </p:grpSpPr>
        <p:sp>
          <p:nvSpPr>
            <p:cNvPr name="Freeform 22" id="22"/>
            <p:cNvSpPr/>
            <p:nvPr/>
          </p:nvSpPr>
          <p:spPr>
            <a:xfrm flipH="false" flipV="false" rot="0">
              <a:off x="0" y="0"/>
              <a:ext cx="939800" cy="939800"/>
            </a:xfrm>
            <a:custGeom>
              <a:avLst/>
              <a:gdLst/>
              <a:ahLst/>
              <a:cxnLst/>
              <a:rect r="r" b="b" t="t" l="l"/>
              <a:pathLst>
                <a:path h="939800" w="939800">
                  <a:moveTo>
                    <a:pt x="0" y="150368"/>
                  </a:moveTo>
                  <a:cubicBezTo>
                    <a:pt x="0" y="67310"/>
                    <a:pt x="67310" y="0"/>
                    <a:pt x="150368" y="0"/>
                  </a:cubicBezTo>
                  <a:lnTo>
                    <a:pt x="789432" y="0"/>
                  </a:lnTo>
                  <a:cubicBezTo>
                    <a:pt x="872490" y="0"/>
                    <a:pt x="939800" y="67310"/>
                    <a:pt x="939800" y="150368"/>
                  </a:cubicBezTo>
                  <a:lnTo>
                    <a:pt x="939800" y="789432"/>
                  </a:lnTo>
                  <a:cubicBezTo>
                    <a:pt x="939800" y="872490"/>
                    <a:pt x="872490" y="939800"/>
                    <a:pt x="78943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23" id="23"/>
          <p:cNvGrpSpPr/>
          <p:nvPr/>
        </p:nvGrpSpPr>
        <p:grpSpPr>
          <a:xfrm rot="0">
            <a:off x="6926580" y="2208276"/>
            <a:ext cx="384048" cy="384048"/>
            <a:chOff x="0" y="0"/>
            <a:chExt cx="512064" cy="512064"/>
          </a:xfrm>
        </p:grpSpPr>
        <p:sp>
          <p:nvSpPr>
            <p:cNvPr name="Freeform 24" id="24"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5"/>
              <a:stretch>
                <a:fillRect l="0" t="0" r="0" b="0"/>
              </a:stretch>
            </a:blipFill>
          </p:spPr>
        </p:sp>
      </p:grpSp>
      <p:grpSp>
        <p:nvGrpSpPr>
          <p:cNvPr name="Group 25" id="25"/>
          <p:cNvGrpSpPr/>
          <p:nvPr/>
        </p:nvGrpSpPr>
        <p:grpSpPr>
          <a:xfrm rot="0">
            <a:off x="7667244" y="2057400"/>
            <a:ext cx="4114800" cy="685800"/>
            <a:chOff x="0" y="0"/>
            <a:chExt cx="5486400" cy="914400"/>
          </a:xfrm>
        </p:grpSpPr>
        <p:sp>
          <p:nvSpPr>
            <p:cNvPr name="Freeform 26" id="26"/>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27" id="27"/>
            <p:cNvSpPr txBox="true"/>
            <p:nvPr/>
          </p:nvSpPr>
          <p:spPr>
            <a:xfrm>
              <a:off x="0" y="-19050"/>
              <a:ext cx="5486400" cy="933450"/>
            </a:xfrm>
            <a:prstGeom prst="rect">
              <a:avLst/>
            </a:prstGeom>
          </p:spPr>
          <p:txBody>
            <a:bodyPr anchor="ctr" rtlCol="false" tIns="0" lIns="0" bIns="0" rIns="0"/>
            <a:lstStyle/>
            <a:p>
              <a:pPr algn="l">
                <a:lnSpc>
                  <a:spcPts val="2340"/>
                </a:lnSpc>
              </a:pPr>
              <a:r>
                <a:rPr lang="en-US" sz="1950" b="true">
                  <a:solidFill>
                    <a:srgbClr val="2F3237"/>
                  </a:solidFill>
                  <a:latin typeface="Arial Bold"/>
                  <a:ea typeface="Arial Bold"/>
                  <a:cs typeface="Arial Bold"/>
                  <a:sym typeface="Arial Bold"/>
                </a:rPr>
                <a:t>TRIGGERS</a:t>
              </a:r>
            </a:p>
          </p:txBody>
        </p:sp>
      </p:grpSp>
      <p:grpSp>
        <p:nvGrpSpPr>
          <p:cNvPr name="Group 28" id="28"/>
          <p:cNvGrpSpPr/>
          <p:nvPr/>
        </p:nvGrpSpPr>
        <p:grpSpPr>
          <a:xfrm rot="0">
            <a:off x="12172664" y="1775936"/>
            <a:ext cx="5432108" cy="5432108"/>
            <a:chOff x="0" y="0"/>
            <a:chExt cx="7242810" cy="7242810"/>
          </a:xfrm>
        </p:grpSpPr>
        <p:sp>
          <p:nvSpPr>
            <p:cNvPr name="Freeform 29" id="29"/>
            <p:cNvSpPr/>
            <p:nvPr/>
          </p:nvSpPr>
          <p:spPr>
            <a:xfrm flipH="false" flipV="false" rot="0">
              <a:off x="0" y="0"/>
              <a:ext cx="7242810" cy="7242810"/>
            </a:xfrm>
            <a:custGeom>
              <a:avLst/>
              <a:gdLst/>
              <a:ahLst/>
              <a:cxnLst/>
              <a:rect r="r" b="b" t="t" l="l"/>
              <a:pathLst>
                <a:path h="7242810" w="7242810">
                  <a:moveTo>
                    <a:pt x="0" y="0"/>
                  </a:moveTo>
                  <a:lnTo>
                    <a:pt x="7242810" y="0"/>
                  </a:lnTo>
                  <a:lnTo>
                    <a:pt x="7242810" y="7242810"/>
                  </a:lnTo>
                  <a:lnTo>
                    <a:pt x="0" y="7242810"/>
                  </a:lnTo>
                  <a:close/>
                </a:path>
              </a:pathLst>
            </a:custGeom>
            <a:solidFill>
              <a:srgbClr val="F2F2F0"/>
            </a:solidFill>
            <a:ln w="14288" cap="sq">
              <a:solidFill>
                <a:srgbClr val="D9D9D6"/>
              </a:solidFill>
              <a:prstDash val="solid"/>
              <a:miter/>
            </a:ln>
          </p:spPr>
        </p:sp>
      </p:grpSp>
      <p:grpSp>
        <p:nvGrpSpPr>
          <p:cNvPr name="Group 30" id="30"/>
          <p:cNvGrpSpPr/>
          <p:nvPr/>
        </p:nvGrpSpPr>
        <p:grpSpPr>
          <a:xfrm rot="0">
            <a:off x="12513183" y="2047875"/>
            <a:ext cx="704850" cy="704850"/>
            <a:chOff x="0" y="0"/>
            <a:chExt cx="939800" cy="939800"/>
          </a:xfrm>
        </p:grpSpPr>
        <p:sp>
          <p:nvSpPr>
            <p:cNvPr name="Freeform 31" id="31"/>
            <p:cNvSpPr/>
            <p:nvPr/>
          </p:nvSpPr>
          <p:spPr>
            <a:xfrm flipH="false" flipV="false" rot="0">
              <a:off x="0" y="0"/>
              <a:ext cx="939800" cy="939800"/>
            </a:xfrm>
            <a:custGeom>
              <a:avLst/>
              <a:gdLst/>
              <a:ahLst/>
              <a:cxnLst/>
              <a:rect r="r" b="b" t="t" l="l"/>
              <a:pathLst>
                <a:path h="939800" w="939800">
                  <a:moveTo>
                    <a:pt x="0" y="150368"/>
                  </a:moveTo>
                  <a:cubicBezTo>
                    <a:pt x="0" y="67310"/>
                    <a:pt x="67310" y="0"/>
                    <a:pt x="150368" y="0"/>
                  </a:cubicBezTo>
                  <a:lnTo>
                    <a:pt x="789432" y="0"/>
                  </a:lnTo>
                  <a:cubicBezTo>
                    <a:pt x="872490" y="0"/>
                    <a:pt x="939800" y="67310"/>
                    <a:pt x="939800" y="150368"/>
                  </a:cubicBezTo>
                  <a:lnTo>
                    <a:pt x="939800" y="789432"/>
                  </a:lnTo>
                  <a:cubicBezTo>
                    <a:pt x="939800" y="872490"/>
                    <a:pt x="872490" y="939800"/>
                    <a:pt x="78943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32" id="32"/>
          <p:cNvGrpSpPr/>
          <p:nvPr/>
        </p:nvGrpSpPr>
        <p:grpSpPr>
          <a:xfrm rot="0">
            <a:off x="12673584" y="2208276"/>
            <a:ext cx="384048" cy="384048"/>
            <a:chOff x="0" y="0"/>
            <a:chExt cx="512064" cy="512064"/>
          </a:xfrm>
        </p:grpSpPr>
        <p:sp>
          <p:nvSpPr>
            <p:cNvPr name="Freeform 33" id="33"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6"/>
              <a:stretch>
                <a:fillRect l="0" t="0" r="0" b="0"/>
              </a:stretch>
            </a:blipFill>
          </p:spPr>
        </p:sp>
      </p:grpSp>
      <p:grpSp>
        <p:nvGrpSpPr>
          <p:cNvPr name="Group 34" id="34"/>
          <p:cNvGrpSpPr/>
          <p:nvPr/>
        </p:nvGrpSpPr>
        <p:grpSpPr>
          <a:xfrm rot="0">
            <a:off x="13414248" y="2057400"/>
            <a:ext cx="4114800" cy="685800"/>
            <a:chOff x="0" y="0"/>
            <a:chExt cx="5486400" cy="914400"/>
          </a:xfrm>
        </p:grpSpPr>
        <p:sp>
          <p:nvSpPr>
            <p:cNvPr name="Freeform 35" id="35"/>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36" id="36"/>
            <p:cNvSpPr txBox="true"/>
            <p:nvPr/>
          </p:nvSpPr>
          <p:spPr>
            <a:xfrm>
              <a:off x="0" y="-19050"/>
              <a:ext cx="5486400" cy="933450"/>
            </a:xfrm>
            <a:prstGeom prst="rect">
              <a:avLst/>
            </a:prstGeom>
          </p:spPr>
          <p:txBody>
            <a:bodyPr anchor="ctr" rtlCol="false" tIns="0" lIns="0" bIns="0" rIns="0"/>
            <a:lstStyle/>
            <a:p>
              <a:pPr algn="l">
                <a:lnSpc>
                  <a:spcPts val="2340"/>
                </a:lnSpc>
              </a:pPr>
              <a:r>
                <a:rPr lang="en-US" sz="1950" b="true">
                  <a:solidFill>
                    <a:srgbClr val="2F3237"/>
                  </a:solidFill>
                  <a:latin typeface="Arial Bold"/>
                  <a:ea typeface="Arial Bold"/>
                  <a:cs typeface="Arial Bold"/>
                  <a:sym typeface="Arial Bold"/>
                </a:rPr>
                <a:t>ACID PROPERTIES</a:t>
              </a:r>
            </a:p>
          </p:txBody>
        </p:sp>
      </p:grpSp>
      <p:sp>
        <p:nvSpPr>
          <p:cNvPr name="TextBox 37" id="37"/>
          <p:cNvSpPr txBox="true"/>
          <p:nvPr/>
        </p:nvSpPr>
        <p:spPr>
          <a:xfrm rot="0">
            <a:off x="1028700" y="2948940"/>
            <a:ext cx="4800600" cy="411480"/>
          </a:xfrm>
          <a:prstGeom prst="rect">
            <a:avLst/>
          </a:prstGeom>
        </p:spPr>
        <p:txBody>
          <a:bodyPr anchor="t" rtlCol="false" tIns="0" lIns="0" bIns="0" rIns="0">
            <a:spAutoFit/>
          </a:bodyPr>
          <a:lstStyle/>
          <a:p>
            <a:pPr algn="l">
              <a:lnSpc>
                <a:spcPts val="1980"/>
              </a:lnSpc>
            </a:pPr>
            <a:r>
              <a:rPr lang="en-US" sz="1650" b="true">
                <a:solidFill>
                  <a:srgbClr val="2B2B2B"/>
                </a:solidFill>
                <a:latin typeface="Courier New Bold"/>
                <a:ea typeface="Courier New Bold"/>
                <a:cs typeface="Courier New Bold"/>
                <a:sym typeface="Courier New Bold"/>
              </a:rPr>
              <a:t>sp_RegisterNewCollision</a:t>
            </a:r>
          </a:p>
        </p:txBody>
      </p:sp>
      <p:grpSp>
        <p:nvGrpSpPr>
          <p:cNvPr name="Group 38" id="38"/>
          <p:cNvGrpSpPr/>
          <p:nvPr/>
        </p:nvGrpSpPr>
        <p:grpSpPr>
          <a:xfrm rot="0">
            <a:off x="1021556" y="3490436"/>
            <a:ext cx="4746308" cy="1248727"/>
            <a:chOff x="0" y="0"/>
            <a:chExt cx="6328410" cy="1664970"/>
          </a:xfrm>
        </p:grpSpPr>
        <p:sp>
          <p:nvSpPr>
            <p:cNvPr name="Freeform 39" id="39"/>
            <p:cNvSpPr/>
            <p:nvPr/>
          </p:nvSpPr>
          <p:spPr>
            <a:xfrm flipH="false" flipV="false" rot="0">
              <a:off x="0" y="0"/>
              <a:ext cx="6328410" cy="1664970"/>
            </a:xfrm>
            <a:custGeom>
              <a:avLst/>
              <a:gdLst/>
              <a:ahLst/>
              <a:cxnLst/>
              <a:rect r="r" b="b" t="t" l="l"/>
              <a:pathLst>
                <a:path h="1664970" w="6328410">
                  <a:moveTo>
                    <a:pt x="0" y="0"/>
                  </a:moveTo>
                  <a:lnTo>
                    <a:pt x="6328410" y="0"/>
                  </a:lnTo>
                  <a:lnTo>
                    <a:pt x="6328410" y="1664970"/>
                  </a:lnTo>
                  <a:lnTo>
                    <a:pt x="0" y="1664970"/>
                  </a:lnTo>
                  <a:close/>
                </a:path>
              </a:pathLst>
            </a:custGeom>
            <a:solidFill>
              <a:srgbClr val="FFFFFF"/>
            </a:solidFill>
            <a:ln w="14288" cap="sq">
              <a:solidFill>
                <a:srgbClr val="D4A62A"/>
              </a:solidFill>
              <a:prstDash val="solid"/>
              <a:miter/>
            </a:ln>
          </p:spPr>
        </p:sp>
      </p:grpSp>
      <p:grpSp>
        <p:nvGrpSpPr>
          <p:cNvPr name="Group 40" id="40"/>
          <p:cNvGrpSpPr/>
          <p:nvPr/>
        </p:nvGrpSpPr>
        <p:grpSpPr>
          <a:xfrm rot="0">
            <a:off x="1234440" y="3497580"/>
            <a:ext cx="4320540" cy="1234440"/>
            <a:chOff x="0" y="0"/>
            <a:chExt cx="5760720" cy="1645920"/>
          </a:xfrm>
        </p:grpSpPr>
        <p:sp>
          <p:nvSpPr>
            <p:cNvPr name="Freeform 41" id="41"/>
            <p:cNvSpPr/>
            <p:nvPr/>
          </p:nvSpPr>
          <p:spPr>
            <a:xfrm flipH="false" flipV="false" rot="0">
              <a:off x="0" y="0"/>
              <a:ext cx="5760720" cy="1645920"/>
            </a:xfrm>
            <a:custGeom>
              <a:avLst/>
              <a:gdLst/>
              <a:ahLst/>
              <a:cxnLst/>
              <a:rect r="r" b="b" t="t" l="l"/>
              <a:pathLst>
                <a:path h="1645920" w="5760720">
                  <a:moveTo>
                    <a:pt x="0" y="0"/>
                  </a:moveTo>
                  <a:lnTo>
                    <a:pt x="5760720" y="0"/>
                  </a:lnTo>
                  <a:lnTo>
                    <a:pt x="5760720" y="1645920"/>
                  </a:lnTo>
                  <a:lnTo>
                    <a:pt x="0" y="1645920"/>
                  </a:lnTo>
                  <a:close/>
                </a:path>
              </a:pathLst>
            </a:custGeom>
            <a:blipFill>
              <a:blip r:embed="rId3">
                <a:alphaModFix amt="0"/>
              </a:blip>
              <a:stretch>
                <a:fillRect l="0" t="-18197" r="0" b="-18197"/>
              </a:stretch>
            </a:blipFill>
          </p:spPr>
        </p:sp>
        <p:sp>
          <p:nvSpPr>
            <p:cNvPr name="TextBox 42" id="42"/>
            <p:cNvSpPr txBox="true"/>
            <p:nvPr/>
          </p:nvSpPr>
          <p:spPr>
            <a:xfrm>
              <a:off x="0" y="-9525"/>
              <a:ext cx="5760720" cy="1655445"/>
            </a:xfrm>
            <a:prstGeom prst="rect">
              <a:avLst/>
            </a:prstGeom>
          </p:spPr>
          <p:txBody>
            <a:bodyPr anchor="ctr" rtlCol="false" tIns="0" lIns="0" bIns="0" rIns="0"/>
            <a:lstStyle/>
            <a:p>
              <a:pPr algn="l">
                <a:lnSpc>
                  <a:spcPts val="1800"/>
                </a:lnSpc>
              </a:pPr>
              <a:r>
                <a:rPr lang="en-US" sz="1500">
                  <a:solidFill>
                    <a:srgbClr val="2F3237"/>
                  </a:solidFill>
                  <a:latin typeface="Courier New"/>
                  <a:ea typeface="Courier New"/>
                  <a:cs typeface="Courier New"/>
                  <a:sym typeface="Courier New"/>
                </a:rPr>
                <a:t>START TRANSACTION;</a:t>
              </a:r>
            </a:p>
            <a:p>
              <a:pPr algn="l">
                <a:lnSpc>
                  <a:spcPts val="1800"/>
                </a:lnSpc>
              </a:pPr>
              <a:r>
                <a:rPr lang="en-US" sz="1500">
                  <a:solidFill>
                    <a:srgbClr val="2F3237"/>
                  </a:solidFill>
                  <a:latin typeface="Courier New"/>
                  <a:ea typeface="Courier New"/>
                  <a:cs typeface="Courier New"/>
                  <a:sym typeface="Courier New"/>
                </a:rPr>
                <a:t>-- location, collision, vehicle,</a:t>
              </a:r>
            </a:p>
            <a:p>
              <a:pPr algn="l">
                <a:lnSpc>
                  <a:spcPts val="1800"/>
                </a:lnSpc>
              </a:pPr>
              <a:r>
                <a:rPr lang="en-US" sz="1500">
                  <a:solidFill>
                    <a:srgbClr val="2F3237"/>
                  </a:solidFill>
                  <a:latin typeface="Courier New"/>
                  <a:ea typeface="Courier New"/>
                  <a:cs typeface="Courier New"/>
                  <a:sym typeface="Courier New"/>
                </a:rPr>
                <a:t>-- factor, casualty</a:t>
              </a:r>
            </a:p>
            <a:p>
              <a:pPr algn="l">
                <a:lnSpc>
                  <a:spcPts val="1800"/>
                </a:lnSpc>
              </a:pPr>
              <a:r>
                <a:rPr lang="en-US" sz="1500">
                  <a:solidFill>
                    <a:srgbClr val="2F3237"/>
                  </a:solidFill>
                  <a:latin typeface="Courier New"/>
                  <a:ea typeface="Courier New"/>
                  <a:cs typeface="Courier New"/>
                  <a:sym typeface="Courier New"/>
                </a:rPr>
                <a:t>COMMIT; / ROLLBACK;</a:t>
              </a:r>
            </a:p>
          </p:txBody>
        </p:sp>
      </p:grpSp>
      <p:sp>
        <p:nvSpPr>
          <p:cNvPr name="TextBox 43" id="43"/>
          <p:cNvSpPr txBox="true"/>
          <p:nvPr/>
        </p:nvSpPr>
        <p:spPr>
          <a:xfrm rot="0">
            <a:off x="1028700" y="4928235"/>
            <a:ext cx="4800600" cy="2204085"/>
          </a:xfrm>
          <a:prstGeom prst="rect">
            <a:avLst/>
          </a:prstGeom>
        </p:spPr>
        <p:txBody>
          <a:bodyPr anchor="t" rtlCol="false" tIns="0" lIns="0" bIns="0" rIns="0">
            <a:spAutoFit/>
          </a:bodyPr>
          <a:lstStyle/>
          <a:p>
            <a:pPr algn="l">
              <a:lnSpc>
                <a:spcPts val="1889"/>
              </a:lnSpc>
            </a:pPr>
            <a:r>
              <a:rPr lang="en-US" b="true" sz="1575" spc="299">
                <a:solidFill>
                  <a:srgbClr val="8F6A0A"/>
                </a:solidFill>
                <a:latin typeface="Arial Bold"/>
                <a:ea typeface="Arial Bold"/>
                <a:cs typeface="Arial Bold"/>
                <a:sym typeface="Arial Bold"/>
              </a:rPr>
              <a:t>WHY?</a:t>
            </a:r>
          </a:p>
          <a:p>
            <a:pPr algn="l" marL="298609" indent="-149304" lvl="1">
              <a:lnSpc>
                <a:spcPts val="1980"/>
              </a:lnSpc>
              <a:buFont typeface="Arial"/>
              <a:buChar char="•"/>
            </a:pPr>
            <a:r>
              <a:rPr lang="en-US" sz="1650" spc="314">
                <a:solidFill>
                  <a:srgbClr val="2B2B2B"/>
                </a:solidFill>
                <a:latin typeface="Arial"/>
                <a:ea typeface="Arial"/>
                <a:cs typeface="Arial"/>
                <a:sym typeface="Arial"/>
              </a:rPr>
              <a:t>Registers a full collision in one call</a:t>
            </a:r>
          </a:p>
          <a:p>
            <a:pPr algn="l" marL="298609" indent="-149304" lvl="1">
              <a:lnSpc>
                <a:spcPts val="1980"/>
              </a:lnSpc>
              <a:buFont typeface="Arial"/>
              <a:buChar char="•"/>
            </a:pPr>
            <a:r>
              <a:rPr lang="en-US" sz="1650" spc="314">
                <a:solidFill>
                  <a:srgbClr val="2B2B2B"/>
                </a:solidFill>
                <a:latin typeface="Arial"/>
                <a:ea typeface="Arial"/>
                <a:cs typeface="Arial"/>
                <a:sym typeface="Arial"/>
              </a:rPr>
              <a:t>Rolls back everything on any error</a:t>
            </a:r>
          </a:p>
        </p:txBody>
      </p:sp>
      <p:sp>
        <p:nvSpPr>
          <p:cNvPr name="TextBox 44" id="44"/>
          <p:cNvSpPr txBox="true"/>
          <p:nvPr/>
        </p:nvSpPr>
        <p:spPr>
          <a:xfrm rot="0">
            <a:off x="6775704" y="2948940"/>
            <a:ext cx="4800600" cy="411480"/>
          </a:xfrm>
          <a:prstGeom prst="rect">
            <a:avLst/>
          </a:prstGeom>
        </p:spPr>
        <p:txBody>
          <a:bodyPr anchor="t" rtlCol="false" tIns="0" lIns="0" bIns="0" rIns="0">
            <a:spAutoFit/>
          </a:bodyPr>
          <a:lstStyle/>
          <a:p>
            <a:pPr algn="l">
              <a:lnSpc>
                <a:spcPts val="1980"/>
              </a:lnSpc>
            </a:pPr>
            <a:r>
              <a:rPr lang="en-US" sz="1650" b="true">
                <a:solidFill>
                  <a:srgbClr val="2B2B2B"/>
                </a:solidFill>
                <a:latin typeface="Courier New Bold"/>
                <a:ea typeface="Courier New Bold"/>
                <a:cs typeface="Courier New Bold"/>
                <a:sym typeface="Courier New Bold"/>
              </a:rPr>
              <a:t>trg_ValidateCasualtyCounts</a:t>
            </a:r>
          </a:p>
        </p:txBody>
      </p:sp>
      <p:sp>
        <p:nvSpPr>
          <p:cNvPr name="TextBox 45" id="45"/>
          <p:cNvSpPr txBox="true"/>
          <p:nvPr/>
        </p:nvSpPr>
        <p:spPr>
          <a:xfrm rot="0">
            <a:off x="6775704" y="3409950"/>
            <a:ext cx="4800600" cy="1664970"/>
          </a:xfrm>
          <a:prstGeom prst="rect">
            <a:avLst/>
          </a:prstGeom>
        </p:spPr>
        <p:txBody>
          <a:bodyPr anchor="t" rtlCol="false" tIns="0" lIns="0" bIns="0" rIns="0">
            <a:spAutoFit/>
          </a:bodyPr>
          <a:lstStyle/>
          <a:p>
            <a:pPr algn="l" marL="298609" indent="-149304" lvl="1">
              <a:lnSpc>
                <a:spcPts val="1980"/>
              </a:lnSpc>
              <a:buFont typeface="Arial"/>
              <a:buChar char="•"/>
            </a:pPr>
            <a:r>
              <a:rPr lang="en-US" sz="1650">
                <a:solidFill>
                  <a:srgbClr val="2B2B2B"/>
                </a:solidFill>
                <a:latin typeface="Arial"/>
                <a:ea typeface="Arial"/>
                <a:cs typeface="Arial"/>
                <a:sym typeface="Arial"/>
              </a:rPr>
              <a:t>BEFORE INSERT (business rule)</a:t>
            </a:r>
          </a:p>
          <a:p>
            <a:pPr algn="l" marL="298609" indent="-149304" lvl="1">
              <a:lnSpc>
                <a:spcPts val="1980"/>
              </a:lnSpc>
              <a:buFont typeface="Arial"/>
              <a:buChar char="•"/>
            </a:pPr>
            <a:r>
              <a:rPr lang="en-US" sz="1650">
                <a:solidFill>
                  <a:srgbClr val="2B2B2B"/>
                </a:solidFill>
                <a:latin typeface="Arial"/>
                <a:ea typeface="Arial"/>
                <a:cs typeface="Arial"/>
                <a:sym typeface="Arial"/>
              </a:rPr>
              <a:t>Sub-counts ≤ total injured</a:t>
            </a:r>
          </a:p>
          <a:p>
            <a:pPr algn="l" marL="298609" indent="-149304" lvl="1">
              <a:lnSpc>
                <a:spcPts val="1980"/>
              </a:lnSpc>
              <a:buFont typeface="Arial"/>
              <a:buChar char="•"/>
            </a:pPr>
            <a:r>
              <a:rPr lang="en-US" sz="1650">
                <a:solidFill>
                  <a:srgbClr val="2B2B2B"/>
                </a:solidFill>
                <a:latin typeface="Arial"/>
                <a:ea typeface="Arial"/>
                <a:cs typeface="Arial"/>
                <a:sym typeface="Arial"/>
              </a:rPr>
              <a:t>Raises SQL error 45000</a:t>
            </a:r>
          </a:p>
        </p:txBody>
      </p:sp>
      <p:sp>
        <p:nvSpPr>
          <p:cNvPr name="TextBox 46" id="46"/>
          <p:cNvSpPr txBox="true"/>
          <p:nvPr/>
        </p:nvSpPr>
        <p:spPr>
          <a:xfrm rot="0">
            <a:off x="6775704" y="5006340"/>
            <a:ext cx="4800600" cy="411480"/>
          </a:xfrm>
          <a:prstGeom prst="rect">
            <a:avLst/>
          </a:prstGeom>
        </p:spPr>
        <p:txBody>
          <a:bodyPr anchor="t" rtlCol="false" tIns="0" lIns="0" bIns="0" rIns="0">
            <a:spAutoFit/>
          </a:bodyPr>
          <a:lstStyle/>
          <a:p>
            <a:pPr algn="l">
              <a:lnSpc>
                <a:spcPts val="1980"/>
              </a:lnSpc>
            </a:pPr>
            <a:r>
              <a:rPr lang="en-US" sz="1650" b="true">
                <a:solidFill>
                  <a:srgbClr val="2B2B2B"/>
                </a:solidFill>
                <a:latin typeface="Courier New Bold"/>
                <a:ea typeface="Courier New Bold"/>
                <a:cs typeface="Courier New Bold"/>
                <a:sym typeface="Courier New Bold"/>
              </a:rPr>
              <a:t>trg_AuditCollisionChanges</a:t>
            </a:r>
          </a:p>
        </p:txBody>
      </p:sp>
      <p:sp>
        <p:nvSpPr>
          <p:cNvPr name="TextBox 47" id="47"/>
          <p:cNvSpPr txBox="true"/>
          <p:nvPr/>
        </p:nvSpPr>
        <p:spPr>
          <a:xfrm rot="0">
            <a:off x="6775704" y="5467350"/>
            <a:ext cx="4800600" cy="1664970"/>
          </a:xfrm>
          <a:prstGeom prst="rect">
            <a:avLst/>
          </a:prstGeom>
        </p:spPr>
        <p:txBody>
          <a:bodyPr anchor="t" rtlCol="false" tIns="0" lIns="0" bIns="0" rIns="0">
            <a:spAutoFit/>
          </a:bodyPr>
          <a:lstStyle/>
          <a:p>
            <a:pPr algn="l" marL="298609" indent="-149304" lvl="1">
              <a:lnSpc>
                <a:spcPts val="1980"/>
              </a:lnSpc>
              <a:buFont typeface="Arial"/>
              <a:buChar char="•"/>
            </a:pPr>
            <a:r>
              <a:rPr lang="en-US" sz="1650">
                <a:solidFill>
                  <a:srgbClr val="2B2B2B"/>
                </a:solidFill>
                <a:latin typeface="Arial"/>
                <a:ea typeface="Arial"/>
                <a:cs typeface="Arial"/>
                <a:sym typeface="Arial"/>
              </a:rPr>
              <a:t>AFTER UPDATE (dynamic audit)</a:t>
            </a:r>
          </a:p>
          <a:p>
            <a:pPr algn="l" marL="298609" indent="-149304" lvl="1">
              <a:lnSpc>
                <a:spcPts val="1980"/>
              </a:lnSpc>
              <a:buFont typeface="Arial"/>
              <a:buChar char="•"/>
            </a:pPr>
            <a:r>
              <a:rPr lang="en-US" sz="1650">
                <a:solidFill>
                  <a:srgbClr val="2B2B2B"/>
                </a:solidFill>
                <a:latin typeface="Arial"/>
                <a:ea typeface="Arial"/>
                <a:cs typeface="Arial"/>
                <a:sym typeface="Arial"/>
              </a:rPr>
              <a:t>Logs date changes to COLLISION_AUDIT</a:t>
            </a:r>
          </a:p>
        </p:txBody>
      </p:sp>
      <p:sp>
        <p:nvSpPr>
          <p:cNvPr name="TextBox 48" id="48"/>
          <p:cNvSpPr txBox="true"/>
          <p:nvPr/>
        </p:nvSpPr>
        <p:spPr>
          <a:xfrm rot="0">
            <a:off x="12522708" y="2998470"/>
            <a:ext cx="4800600" cy="3996690"/>
          </a:xfrm>
          <a:prstGeom prst="rect">
            <a:avLst/>
          </a:prstGeom>
        </p:spPr>
        <p:txBody>
          <a:bodyPr anchor="t" rtlCol="false" tIns="0" lIns="0" bIns="0" rIns="0">
            <a:spAutoFit/>
          </a:bodyPr>
          <a:lstStyle/>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Atomicity</a:t>
            </a:r>
            <a:r>
              <a:rPr lang="en-US" sz="1800">
                <a:solidFill>
                  <a:srgbClr val="2B2B2B"/>
                </a:solidFill>
                <a:latin typeface="Arial"/>
                <a:ea typeface="Arial"/>
                <a:cs typeface="Arial"/>
                <a:sym typeface="Arial"/>
              </a:rPr>
              <a:t> – COMMIT / ROLLBACK in procedure</a:t>
            </a:r>
          </a:p>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Consistency</a:t>
            </a:r>
            <a:r>
              <a:rPr lang="en-US" sz="1800">
                <a:solidFill>
                  <a:srgbClr val="2B2B2B"/>
                </a:solidFill>
                <a:latin typeface="Arial"/>
                <a:ea typeface="Arial"/>
                <a:cs typeface="Arial"/>
                <a:sym typeface="Arial"/>
              </a:rPr>
              <a:t> – foreign keys &amp; casualty validation</a:t>
            </a:r>
          </a:p>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Isolation</a:t>
            </a:r>
            <a:r>
              <a:rPr lang="en-US" sz="1800">
                <a:solidFill>
                  <a:srgbClr val="2B2B2B"/>
                </a:solidFill>
                <a:latin typeface="Arial"/>
                <a:ea typeface="Arial"/>
                <a:cs typeface="Arial"/>
                <a:sym typeface="Arial"/>
              </a:rPr>
              <a:t> – MVCC</a:t>
            </a:r>
          </a:p>
          <a:p>
            <a:pPr algn="l" marL="325755" indent="-162878" lvl="1">
              <a:lnSpc>
                <a:spcPts val="2160"/>
              </a:lnSpc>
              <a:buFont typeface="Arial"/>
              <a:buChar char="•"/>
            </a:pPr>
            <a:r>
              <a:rPr lang="en-US" b="true" sz="1800">
                <a:solidFill>
                  <a:srgbClr val="2B2B2B"/>
                </a:solidFill>
                <a:latin typeface="Arial Bold"/>
                <a:ea typeface="Arial Bold"/>
                <a:cs typeface="Arial Bold"/>
                <a:sym typeface="Arial Bold"/>
              </a:rPr>
              <a:t>Durability</a:t>
            </a:r>
            <a:r>
              <a:rPr lang="en-US" sz="1800">
                <a:solidFill>
                  <a:srgbClr val="2B2B2B"/>
                </a:solidFill>
                <a:latin typeface="Arial"/>
                <a:ea typeface="Arial"/>
                <a:cs typeface="Arial"/>
                <a:sym typeface="Arial"/>
              </a:rPr>
              <a:t> – write-ahead redo logging</a:t>
            </a:r>
          </a:p>
        </p:txBody>
      </p:sp>
      <p:sp>
        <p:nvSpPr>
          <p:cNvPr name="TextBox 49" id="49"/>
          <p:cNvSpPr txBox="true"/>
          <p:nvPr/>
        </p:nvSpPr>
        <p:spPr>
          <a:xfrm rot="0">
            <a:off x="685800" y="7524750"/>
            <a:ext cx="5486400" cy="430530"/>
          </a:xfrm>
          <a:prstGeom prst="rect">
            <a:avLst/>
          </a:prstGeom>
        </p:spPr>
        <p:txBody>
          <a:bodyPr anchor="t" rtlCol="false" tIns="0" lIns="0" bIns="0" rIns="0">
            <a:spAutoFit/>
          </a:bodyPr>
          <a:lstStyle/>
          <a:p>
            <a:pPr algn="l">
              <a:lnSpc>
                <a:spcPts val="1980"/>
              </a:lnSpc>
            </a:pPr>
            <a:r>
              <a:rPr lang="en-US" b="true" sz="1650" spc="299">
                <a:solidFill>
                  <a:srgbClr val="8F6A0A"/>
                </a:solidFill>
                <a:latin typeface="Arial Bold"/>
                <a:ea typeface="Arial Bold"/>
                <a:cs typeface="Arial Bold"/>
                <a:sym typeface="Arial Bold"/>
              </a:rPr>
              <a:t>EVENT FLOW</a:t>
            </a:r>
          </a:p>
        </p:txBody>
      </p:sp>
      <p:grpSp>
        <p:nvGrpSpPr>
          <p:cNvPr name="Group 50" id="50"/>
          <p:cNvGrpSpPr/>
          <p:nvPr/>
        </p:nvGrpSpPr>
        <p:grpSpPr>
          <a:xfrm rot="0">
            <a:off x="676275" y="8014335"/>
            <a:ext cx="3664763" cy="1184910"/>
            <a:chOff x="0" y="0"/>
            <a:chExt cx="4886350" cy="1579880"/>
          </a:xfrm>
        </p:grpSpPr>
        <p:sp>
          <p:nvSpPr>
            <p:cNvPr name="Freeform 51" id="51"/>
            <p:cNvSpPr/>
            <p:nvPr/>
          </p:nvSpPr>
          <p:spPr>
            <a:xfrm flipH="false" flipV="false" rot="0">
              <a:off x="0" y="0"/>
              <a:ext cx="4886325" cy="1579880"/>
            </a:xfrm>
            <a:custGeom>
              <a:avLst/>
              <a:gdLst/>
              <a:ahLst/>
              <a:cxnLst/>
              <a:rect r="r" b="b" t="t" l="l"/>
              <a:pathLst>
                <a:path h="1579880" w="4886325">
                  <a:moveTo>
                    <a:pt x="0" y="0"/>
                  </a:moveTo>
                  <a:lnTo>
                    <a:pt x="4096385" y="0"/>
                  </a:lnTo>
                  <a:lnTo>
                    <a:pt x="4886325" y="789940"/>
                  </a:lnTo>
                  <a:lnTo>
                    <a:pt x="4096385" y="1579880"/>
                  </a:lnTo>
                  <a:lnTo>
                    <a:pt x="0" y="1579880"/>
                  </a:lnTo>
                  <a:close/>
                </a:path>
              </a:pathLst>
            </a:custGeom>
            <a:solidFill>
              <a:srgbClr val="E9E9E6"/>
            </a:solidFill>
            <a:ln w="19050" cap="sq">
              <a:solidFill>
                <a:srgbClr val="E9E9E6"/>
              </a:solidFill>
              <a:prstDash val="solid"/>
              <a:miter/>
            </a:ln>
          </p:spPr>
        </p:sp>
      </p:grpSp>
      <p:grpSp>
        <p:nvGrpSpPr>
          <p:cNvPr name="Group 52" id="52"/>
          <p:cNvGrpSpPr/>
          <p:nvPr/>
        </p:nvGrpSpPr>
        <p:grpSpPr>
          <a:xfrm rot="0">
            <a:off x="891540" y="8023860"/>
            <a:ext cx="2822753" cy="1165860"/>
            <a:chOff x="0" y="0"/>
            <a:chExt cx="3763670" cy="1554480"/>
          </a:xfrm>
        </p:grpSpPr>
        <p:sp>
          <p:nvSpPr>
            <p:cNvPr name="Freeform 53" id="53"/>
            <p:cNvSpPr/>
            <p:nvPr/>
          </p:nvSpPr>
          <p:spPr>
            <a:xfrm flipH="false" flipV="false" rot="0">
              <a:off x="0" y="0"/>
              <a:ext cx="3763670" cy="1554480"/>
            </a:xfrm>
            <a:custGeom>
              <a:avLst/>
              <a:gdLst/>
              <a:ahLst/>
              <a:cxnLst/>
              <a:rect r="r" b="b" t="t" l="l"/>
              <a:pathLst>
                <a:path h="1554480" w="3763670">
                  <a:moveTo>
                    <a:pt x="0" y="0"/>
                  </a:moveTo>
                  <a:lnTo>
                    <a:pt x="3763670" y="0"/>
                  </a:lnTo>
                  <a:lnTo>
                    <a:pt x="3763670" y="1554480"/>
                  </a:lnTo>
                  <a:lnTo>
                    <a:pt x="0" y="1554480"/>
                  </a:lnTo>
                  <a:close/>
                </a:path>
              </a:pathLst>
            </a:custGeom>
            <a:blipFill>
              <a:blip r:embed="rId3">
                <a:alphaModFix amt="0"/>
              </a:blip>
              <a:stretch>
                <a:fillRect l="-2992" t="0" r="-2992" b="0"/>
              </a:stretch>
            </a:blipFill>
          </p:spPr>
        </p:sp>
        <p:sp>
          <p:nvSpPr>
            <p:cNvPr name="TextBox 54" id="54"/>
            <p:cNvSpPr txBox="true"/>
            <p:nvPr/>
          </p:nvSpPr>
          <p:spPr>
            <a:xfrm>
              <a:off x="0" y="-19050"/>
              <a:ext cx="3763670" cy="1573530"/>
            </a:xfrm>
            <a:prstGeom prst="rect">
              <a:avLst/>
            </a:prstGeom>
          </p:spPr>
          <p:txBody>
            <a:bodyPr anchor="ctr" rtlCol="false" tIns="0" lIns="0" bIns="0" rIns="0"/>
            <a:lstStyle/>
            <a:p>
              <a:pPr algn="ctr">
                <a:lnSpc>
                  <a:spcPts val="1980"/>
                </a:lnSpc>
              </a:pPr>
              <a:r>
                <a:rPr lang="en-US" sz="1650" b="true">
                  <a:solidFill>
                    <a:srgbClr val="2F3237"/>
                  </a:solidFill>
                  <a:latin typeface="Arial Bold"/>
                  <a:ea typeface="Arial Bold"/>
                  <a:cs typeface="Arial Bold"/>
                  <a:sym typeface="Arial Bold"/>
                </a:rPr>
                <a:t>New Incident</a:t>
              </a:r>
            </a:p>
          </p:txBody>
        </p:sp>
      </p:grpSp>
      <p:grpSp>
        <p:nvGrpSpPr>
          <p:cNvPr name="Group 55" id="55"/>
          <p:cNvGrpSpPr/>
          <p:nvPr/>
        </p:nvGrpSpPr>
        <p:grpSpPr>
          <a:xfrm rot="0">
            <a:off x="3992804" y="8014335"/>
            <a:ext cx="3664763" cy="1184910"/>
            <a:chOff x="0" y="0"/>
            <a:chExt cx="4886350" cy="1579880"/>
          </a:xfrm>
        </p:grpSpPr>
        <p:sp>
          <p:nvSpPr>
            <p:cNvPr name="Freeform 56" id="56"/>
            <p:cNvSpPr/>
            <p:nvPr/>
          </p:nvSpPr>
          <p:spPr>
            <a:xfrm flipH="false" flipV="false" rot="0">
              <a:off x="0" y="0"/>
              <a:ext cx="4886325" cy="1579880"/>
            </a:xfrm>
            <a:custGeom>
              <a:avLst/>
              <a:gdLst/>
              <a:ahLst/>
              <a:cxnLst/>
              <a:rect r="r" b="b" t="t" l="l"/>
              <a:pathLst>
                <a:path h="1579880" w="4886325">
                  <a:moveTo>
                    <a:pt x="0" y="0"/>
                  </a:moveTo>
                  <a:lnTo>
                    <a:pt x="4096385" y="0"/>
                  </a:lnTo>
                  <a:lnTo>
                    <a:pt x="4886325" y="789940"/>
                  </a:lnTo>
                  <a:lnTo>
                    <a:pt x="4096385" y="1579880"/>
                  </a:lnTo>
                  <a:lnTo>
                    <a:pt x="0" y="1579880"/>
                  </a:lnTo>
                  <a:close/>
                </a:path>
              </a:pathLst>
            </a:custGeom>
            <a:solidFill>
              <a:srgbClr val="E9E9E6"/>
            </a:solidFill>
            <a:ln w="19050" cap="sq">
              <a:solidFill>
                <a:srgbClr val="E9E9E6"/>
              </a:solidFill>
              <a:prstDash val="solid"/>
              <a:miter/>
            </a:ln>
          </p:spPr>
        </p:sp>
      </p:grpSp>
      <p:grpSp>
        <p:nvGrpSpPr>
          <p:cNvPr name="Group 57" id="57"/>
          <p:cNvGrpSpPr/>
          <p:nvPr/>
        </p:nvGrpSpPr>
        <p:grpSpPr>
          <a:xfrm rot="0">
            <a:off x="4208069" y="8023860"/>
            <a:ext cx="2822753" cy="1165860"/>
            <a:chOff x="0" y="0"/>
            <a:chExt cx="3763670" cy="1554480"/>
          </a:xfrm>
        </p:grpSpPr>
        <p:sp>
          <p:nvSpPr>
            <p:cNvPr name="Freeform 58" id="58"/>
            <p:cNvSpPr/>
            <p:nvPr/>
          </p:nvSpPr>
          <p:spPr>
            <a:xfrm flipH="false" flipV="false" rot="0">
              <a:off x="0" y="0"/>
              <a:ext cx="3763670" cy="1554480"/>
            </a:xfrm>
            <a:custGeom>
              <a:avLst/>
              <a:gdLst/>
              <a:ahLst/>
              <a:cxnLst/>
              <a:rect r="r" b="b" t="t" l="l"/>
              <a:pathLst>
                <a:path h="1554480" w="3763670">
                  <a:moveTo>
                    <a:pt x="0" y="0"/>
                  </a:moveTo>
                  <a:lnTo>
                    <a:pt x="3763670" y="0"/>
                  </a:lnTo>
                  <a:lnTo>
                    <a:pt x="3763670" y="1554480"/>
                  </a:lnTo>
                  <a:lnTo>
                    <a:pt x="0" y="1554480"/>
                  </a:lnTo>
                  <a:close/>
                </a:path>
              </a:pathLst>
            </a:custGeom>
            <a:blipFill>
              <a:blip r:embed="rId3">
                <a:alphaModFix amt="0"/>
              </a:blip>
              <a:stretch>
                <a:fillRect l="-2992" t="0" r="-2992" b="0"/>
              </a:stretch>
            </a:blipFill>
          </p:spPr>
        </p:sp>
        <p:sp>
          <p:nvSpPr>
            <p:cNvPr name="TextBox 59" id="59"/>
            <p:cNvSpPr txBox="true"/>
            <p:nvPr/>
          </p:nvSpPr>
          <p:spPr>
            <a:xfrm>
              <a:off x="0" y="-19050"/>
              <a:ext cx="3763670" cy="1573530"/>
            </a:xfrm>
            <a:prstGeom prst="rect">
              <a:avLst/>
            </a:prstGeom>
          </p:spPr>
          <p:txBody>
            <a:bodyPr anchor="ctr" rtlCol="false" tIns="0" lIns="0" bIns="0" rIns="0"/>
            <a:lstStyle/>
            <a:p>
              <a:pPr algn="ctr">
                <a:lnSpc>
                  <a:spcPts val="1980"/>
                </a:lnSpc>
              </a:pPr>
              <a:r>
                <a:rPr lang="en-US" sz="1650" b="true">
                  <a:solidFill>
                    <a:srgbClr val="2F3237"/>
                  </a:solidFill>
                  <a:latin typeface="Arial Bold"/>
                  <a:ea typeface="Arial Bold"/>
                  <a:cs typeface="Arial Bold"/>
                  <a:sym typeface="Arial Bold"/>
                </a:rPr>
                <a:t>Procedure Call</a:t>
              </a:r>
            </a:p>
          </p:txBody>
        </p:sp>
      </p:grpSp>
      <p:grpSp>
        <p:nvGrpSpPr>
          <p:cNvPr name="Group 60" id="60"/>
          <p:cNvGrpSpPr/>
          <p:nvPr/>
        </p:nvGrpSpPr>
        <p:grpSpPr>
          <a:xfrm rot="0">
            <a:off x="7309333" y="8014335"/>
            <a:ext cx="3664763" cy="1184910"/>
            <a:chOff x="0" y="0"/>
            <a:chExt cx="4886350" cy="1579880"/>
          </a:xfrm>
        </p:grpSpPr>
        <p:sp>
          <p:nvSpPr>
            <p:cNvPr name="Freeform 61" id="61"/>
            <p:cNvSpPr/>
            <p:nvPr/>
          </p:nvSpPr>
          <p:spPr>
            <a:xfrm flipH="false" flipV="false" rot="0">
              <a:off x="0" y="0"/>
              <a:ext cx="4886325" cy="1579880"/>
            </a:xfrm>
            <a:custGeom>
              <a:avLst/>
              <a:gdLst/>
              <a:ahLst/>
              <a:cxnLst/>
              <a:rect r="r" b="b" t="t" l="l"/>
              <a:pathLst>
                <a:path h="1579880" w="4886325">
                  <a:moveTo>
                    <a:pt x="0" y="0"/>
                  </a:moveTo>
                  <a:lnTo>
                    <a:pt x="4096385" y="0"/>
                  </a:lnTo>
                  <a:lnTo>
                    <a:pt x="4886325" y="789940"/>
                  </a:lnTo>
                  <a:lnTo>
                    <a:pt x="4096385" y="1579880"/>
                  </a:lnTo>
                  <a:lnTo>
                    <a:pt x="0" y="1579880"/>
                  </a:lnTo>
                  <a:close/>
                </a:path>
              </a:pathLst>
            </a:custGeom>
            <a:solidFill>
              <a:srgbClr val="E9E9E6"/>
            </a:solidFill>
            <a:ln w="19050" cap="sq">
              <a:solidFill>
                <a:srgbClr val="E9E9E6"/>
              </a:solidFill>
              <a:prstDash val="solid"/>
              <a:miter/>
            </a:ln>
          </p:spPr>
        </p:sp>
      </p:grpSp>
      <p:grpSp>
        <p:nvGrpSpPr>
          <p:cNvPr name="Group 62" id="62"/>
          <p:cNvGrpSpPr/>
          <p:nvPr/>
        </p:nvGrpSpPr>
        <p:grpSpPr>
          <a:xfrm rot="0">
            <a:off x="7524598" y="8023860"/>
            <a:ext cx="2822753" cy="1165860"/>
            <a:chOff x="0" y="0"/>
            <a:chExt cx="3763670" cy="1554480"/>
          </a:xfrm>
        </p:grpSpPr>
        <p:sp>
          <p:nvSpPr>
            <p:cNvPr name="Freeform 63" id="63"/>
            <p:cNvSpPr/>
            <p:nvPr/>
          </p:nvSpPr>
          <p:spPr>
            <a:xfrm flipH="false" flipV="false" rot="0">
              <a:off x="0" y="0"/>
              <a:ext cx="3763670" cy="1554480"/>
            </a:xfrm>
            <a:custGeom>
              <a:avLst/>
              <a:gdLst/>
              <a:ahLst/>
              <a:cxnLst/>
              <a:rect r="r" b="b" t="t" l="l"/>
              <a:pathLst>
                <a:path h="1554480" w="3763670">
                  <a:moveTo>
                    <a:pt x="0" y="0"/>
                  </a:moveTo>
                  <a:lnTo>
                    <a:pt x="3763670" y="0"/>
                  </a:lnTo>
                  <a:lnTo>
                    <a:pt x="3763670" y="1554480"/>
                  </a:lnTo>
                  <a:lnTo>
                    <a:pt x="0" y="1554480"/>
                  </a:lnTo>
                  <a:close/>
                </a:path>
              </a:pathLst>
            </a:custGeom>
            <a:blipFill>
              <a:blip r:embed="rId3">
                <a:alphaModFix amt="0"/>
              </a:blip>
              <a:stretch>
                <a:fillRect l="-2992" t="0" r="-2992" b="0"/>
              </a:stretch>
            </a:blipFill>
          </p:spPr>
        </p:sp>
        <p:sp>
          <p:nvSpPr>
            <p:cNvPr name="TextBox 64" id="64"/>
            <p:cNvSpPr txBox="true"/>
            <p:nvPr/>
          </p:nvSpPr>
          <p:spPr>
            <a:xfrm>
              <a:off x="0" y="-19050"/>
              <a:ext cx="3763670" cy="1573530"/>
            </a:xfrm>
            <a:prstGeom prst="rect">
              <a:avLst/>
            </a:prstGeom>
          </p:spPr>
          <p:txBody>
            <a:bodyPr anchor="ctr" rtlCol="false" tIns="0" lIns="0" bIns="0" rIns="0"/>
            <a:lstStyle/>
            <a:p>
              <a:pPr algn="ctr">
                <a:lnSpc>
                  <a:spcPts val="1980"/>
                </a:lnSpc>
              </a:pPr>
              <a:r>
                <a:rPr lang="en-US" sz="1650" b="true">
                  <a:solidFill>
                    <a:srgbClr val="2F3237"/>
                  </a:solidFill>
                  <a:latin typeface="Arial Bold"/>
                  <a:ea typeface="Arial Bold"/>
                  <a:cs typeface="Arial Bold"/>
                  <a:sym typeface="Arial Bold"/>
                </a:rPr>
                <a:t>BEFORE Trigger Validation</a:t>
              </a:r>
            </a:p>
          </p:txBody>
        </p:sp>
      </p:grpSp>
      <p:grpSp>
        <p:nvGrpSpPr>
          <p:cNvPr name="Group 65" id="65"/>
          <p:cNvGrpSpPr/>
          <p:nvPr/>
        </p:nvGrpSpPr>
        <p:grpSpPr>
          <a:xfrm rot="0">
            <a:off x="10625861" y="8014335"/>
            <a:ext cx="3664763" cy="1184910"/>
            <a:chOff x="0" y="0"/>
            <a:chExt cx="4886350" cy="1579880"/>
          </a:xfrm>
        </p:grpSpPr>
        <p:sp>
          <p:nvSpPr>
            <p:cNvPr name="Freeform 66" id="66"/>
            <p:cNvSpPr/>
            <p:nvPr/>
          </p:nvSpPr>
          <p:spPr>
            <a:xfrm flipH="false" flipV="false" rot="0">
              <a:off x="0" y="0"/>
              <a:ext cx="4886325" cy="1579880"/>
            </a:xfrm>
            <a:custGeom>
              <a:avLst/>
              <a:gdLst/>
              <a:ahLst/>
              <a:cxnLst/>
              <a:rect r="r" b="b" t="t" l="l"/>
              <a:pathLst>
                <a:path h="1579880" w="4886325">
                  <a:moveTo>
                    <a:pt x="0" y="0"/>
                  </a:moveTo>
                  <a:lnTo>
                    <a:pt x="4096385" y="0"/>
                  </a:lnTo>
                  <a:lnTo>
                    <a:pt x="4886325" y="789940"/>
                  </a:lnTo>
                  <a:lnTo>
                    <a:pt x="4096385" y="1579880"/>
                  </a:lnTo>
                  <a:lnTo>
                    <a:pt x="0" y="1579880"/>
                  </a:lnTo>
                  <a:close/>
                </a:path>
              </a:pathLst>
            </a:custGeom>
            <a:solidFill>
              <a:srgbClr val="F6E7B5"/>
            </a:solidFill>
            <a:ln w="19050" cap="sq">
              <a:solidFill>
                <a:srgbClr val="F6E7B5"/>
              </a:solidFill>
              <a:prstDash val="solid"/>
              <a:miter/>
            </a:ln>
          </p:spPr>
        </p:sp>
      </p:grpSp>
      <p:grpSp>
        <p:nvGrpSpPr>
          <p:cNvPr name="Group 67" id="67"/>
          <p:cNvGrpSpPr/>
          <p:nvPr/>
        </p:nvGrpSpPr>
        <p:grpSpPr>
          <a:xfrm rot="0">
            <a:off x="10841126" y="8023860"/>
            <a:ext cx="2822753" cy="1165860"/>
            <a:chOff x="0" y="0"/>
            <a:chExt cx="3763670" cy="1554480"/>
          </a:xfrm>
        </p:grpSpPr>
        <p:sp>
          <p:nvSpPr>
            <p:cNvPr name="Freeform 68" id="68"/>
            <p:cNvSpPr/>
            <p:nvPr/>
          </p:nvSpPr>
          <p:spPr>
            <a:xfrm flipH="false" flipV="false" rot="0">
              <a:off x="0" y="0"/>
              <a:ext cx="3763670" cy="1554480"/>
            </a:xfrm>
            <a:custGeom>
              <a:avLst/>
              <a:gdLst/>
              <a:ahLst/>
              <a:cxnLst/>
              <a:rect r="r" b="b" t="t" l="l"/>
              <a:pathLst>
                <a:path h="1554480" w="3763670">
                  <a:moveTo>
                    <a:pt x="0" y="0"/>
                  </a:moveTo>
                  <a:lnTo>
                    <a:pt x="3763670" y="0"/>
                  </a:lnTo>
                  <a:lnTo>
                    <a:pt x="3763670" y="1554480"/>
                  </a:lnTo>
                  <a:lnTo>
                    <a:pt x="0" y="1554480"/>
                  </a:lnTo>
                  <a:close/>
                </a:path>
              </a:pathLst>
            </a:custGeom>
            <a:blipFill>
              <a:blip r:embed="rId3">
                <a:alphaModFix amt="0"/>
              </a:blip>
              <a:stretch>
                <a:fillRect l="-2992" t="0" r="-2992" b="0"/>
              </a:stretch>
            </a:blipFill>
          </p:spPr>
        </p:sp>
        <p:sp>
          <p:nvSpPr>
            <p:cNvPr name="TextBox 69" id="69"/>
            <p:cNvSpPr txBox="true"/>
            <p:nvPr/>
          </p:nvSpPr>
          <p:spPr>
            <a:xfrm>
              <a:off x="0" y="-19050"/>
              <a:ext cx="3763670" cy="1573530"/>
            </a:xfrm>
            <a:prstGeom prst="rect">
              <a:avLst/>
            </a:prstGeom>
          </p:spPr>
          <p:txBody>
            <a:bodyPr anchor="ctr" rtlCol="false" tIns="0" lIns="0" bIns="0" rIns="0"/>
            <a:lstStyle/>
            <a:p>
              <a:pPr algn="ctr">
                <a:lnSpc>
                  <a:spcPts val="1980"/>
                </a:lnSpc>
              </a:pPr>
              <a:r>
                <a:rPr lang="en-US" sz="1650" b="true">
                  <a:solidFill>
                    <a:srgbClr val="2F3237"/>
                  </a:solidFill>
                  <a:latin typeface="Arial Bold"/>
                  <a:ea typeface="Arial Bold"/>
                  <a:cs typeface="Arial Bold"/>
                  <a:sym typeface="Arial Bold"/>
                </a:rPr>
                <a:t>AFTER Trigger Audit Entry</a:t>
              </a:r>
            </a:p>
          </p:txBody>
        </p:sp>
      </p:grpSp>
      <p:grpSp>
        <p:nvGrpSpPr>
          <p:cNvPr name="Group 70" id="70"/>
          <p:cNvGrpSpPr/>
          <p:nvPr/>
        </p:nvGrpSpPr>
        <p:grpSpPr>
          <a:xfrm rot="0">
            <a:off x="13942390" y="8014335"/>
            <a:ext cx="3664763" cy="1184910"/>
            <a:chOff x="0" y="0"/>
            <a:chExt cx="4886350" cy="1579880"/>
          </a:xfrm>
        </p:grpSpPr>
        <p:sp>
          <p:nvSpPr>
            <p:cNvPr name="Freeform 71" id="71"/>
            <p:cNvSpPr/>
            <p:nvPr/>
          </p:nvSpPr>
          <p:spPr>
            <a:xfrm flipH="false" flipV="false" rot="0">
              <a:off x="0" y="0"/>
              <a:ext cx="4886325" cy="1579880"/>
            </a:xfrm>
            <a:custGeom>
              <a:avLst/>
              <a:gdLst/>
              <a:ahLst/>
              <a:cxnLst/>
              <a:rect r="r" b="b" t="t" l="l"/>
              <a:pathLst>
                <a:path h="1579880" w="4886325">
                  <a:moveTo>
                    <a:pt x="0" y="0"/>
                  </a:moveTo>
                  <a:lnTo>
                    <a:pt x="4096385" y="0"/>
                  </a:lnTo>
                  <a:lnTo>
                    <a:pt x="4886325" y="789940"/>
                  </a:lnTo>
                  <a:lnTo>
                    <a:pt x="4096385" y="1579880"/>
                  </a:lnTo>
                  <a:lnTo>
                    <a:pt x="0" y="1579880"/>
                  </a:lnTo>
                  <a:close/>
                </a:path>
              </a:pathLst>
            </a:custGeom>
            <a:solidFill>
              <a:srgbClr val="D4A62A"/>
            </a:solidFill>
            <a:ln w="19050" cap="sq">
              <a:solidFill>
                <a:srgbClr val="D4A62A"/>
              </a:solidFill>
              <a:prstDash val="solid"/>
              <a:miter/>
            </a:ln>
          </p:spPr>
        </p:sp>
      </p:grpSp>
      <p:grpSp>
        <p:nvGrpSpPr>
          <p:cNvPr name="Group 72" id="72"/>
          <p:cNvGrpSpPr/>
          <p:nvPr/>
        </p:nvGrpSpPr>
        <p:grpSpPr>
          <a:xfrm rot="0">
            <a:off x="14157655" y="8023860"/>
            <a:ext cx="2822753" cy="1165860"/>
            <a:chOff x="0" y="0"/>
            <a:chExt cx="3763670" cy="1554480"/>
          </a:xfrm>
        </p:grpSpPr>
        <p:sp>
          <p:nvSpPr>
            <p:cNvPr name="Freeform 73" id="73"/>
            <p:cNvSpPr/>
            <p:nvPr/>
          </p:nvSpPr>
          <p:spPr>
            <a:xfrm flipH="false" flipV="false" rot="0">
              <a:off x="0" y="0"/>
              <a:ext cx="3763670" cy="1554480"/>
            </a:xfrm>
            <a:custGeom>
              <a:avLst/>
              <a:gdLst/>
              <a:ahLst/>
              <a:cxnLst/>
              <a:rect r="r" b="b" t="t" l="l"/>
              <a:pathLst>
                <a:path h="1554480" w="3763670">
                  <a:moveTo>
                    <a:pt x="0" y="0"/>
                  </a:moveTo>
                  <a:lnTo>
                    <a:pt x="3763670" y="0"/>
                  </a:lnTo>
                  <a:lnTo>
                    <a:pt x="3763670" y="1554480"/>
                  </a:lnTo>
                  <a:lnTo>
                    <a:pt x="0" y="1554480"/>
                  </a:lnTo>
                  <a:close/>
                </a:path>
              </a:pathLst>
            </a:custGeom>
            <a:blipFill>
              <a:blip r:embed="rId3">
                <a:alphaModFix amt="0"/>
              </a:blip>
              <a:stretch>
                <a:fillRect l="-2992" t="0" r="-2992" b="0"/>
              </a:stretch>
            </a:blipFill>
          </p:spPr>
        </p:sp>
        <p:sp>
          <p:nvSpPr>
            <p:cNvPr name="TextBox 74" id="74"/>
            <p:cNvSpPr txBox="true"/>
            <p:nvPr/>
          </p:nvSpPr>
          <p:spPr>
            <a:xfrm>
              <a:off x="0" y="-19050"/>
              <a:ext cx="3763670" cy="1573530"/>
            </a:xfrm>
            <a:prstGeom prst="rect">
              <a:avLst/>
            </a:prstGeom>
          </p:spPr>
          <p:txBody>
            <a:bodyPr anchor="ctr" rtlCol="false" tIns="0" lIns="0" bIns="0" rIns="0"/>
            <a:lstStyle/>
            <a:p>
              <a:pPr algn="ctr">
                <a:lnSpc>
                  <a:spcPts val="1980"/>
                </a:lnSpc>
              </a:pPr>
              <a:r>
                <a:rPr lang="en-US" sz="1650" b="true">
                  <a:solidFill>
                    <a:srgbClr val="2F3237"/>
                  </a:solidFill>
                  <a:latin typeface="Arial Bold"/>
                  <a:ea typeface="Arial Bold"/>
                  <a:cs typeface="Arial Bold"/>
                  <a:sym typeface="Arial Bold"/>
                </a:rPr>
                <a:t>COMMIT</a:t>
              </a:r>
            </a:p>
          </p:txBody>
        </p:sp>
      </p:grpSp>
      <p:sp>
        <p:nvSpPr>
          <p:cNvPr name="Freeform 75" id="75"/>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7"/>
            <a:stretch>
              <a:fillRect l="0" t="0" r="0" b="0"/>
            </a:stretch>
          </a:blipFill>
        </p:spPr>
      </p:sp>
      <p:sp>
        <p:nvSpPr>
          <p:cNvPr name="Freeform 76" id="76"/>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8"/>
            <a:stretch>
              <a:fillRect l="0" t="-22657" r="-4334" b="-20699"/>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76275" y="539115"/>
            <a:ext cx="842010" cy="842010"/>
            <a:chOff x="0" y="0"/>
            <a:chExt cx="1122680" cy="1122680"/>
          </a:xfrm>
        </p:grpSpPr>
        <p:sp>
          <p:nvSpPr>
            <p:cNvPr name="Freeform 3" id="3"/>
            <p:cNvSpPr/>
            <p:nvPr/>
          </p:nvSpPr>
          <p:spPr>
            <a:xfrm flipH="false" flipV="false" rot="0">
              <a:off x="0" y="0"/>
              <a:ext cx="1122680" cy="1122680"/>
            </a:xfrm>
            <a:custGeom>
              <a:avLst/>
              <a:gdLst/>
              <a:ahLst/>
              <a:cxnLst/>
              <a:rect r="r" b="b" t="t" l="l"/>
              <a:pathLst>
                <a:path h="1122680" w="1122680">
                  <a:moveTo>
                    <a:pt x="0" y="149733"/>
                  </a:moveTo>
                  <a:cubicBezTo>
                    <a:pt x="0" y="67056"/>
                    <a:pt x="67056" y="0"/>
                    <a:pt x="149733" y="0"/>
                  </a:cubicBezTo>
                  <a:lnTo>
                    <a:pt x="972947" y="0"/>
                  </a:lnTo>
                  <a:cubicBezTo>
                    <a:pt x="1055624" y="0"/>
                    <a:pt x="1122680" y="67056"/>
                    <a:pt x="1122680" y="149733"/>
                  </a:cubicBezTo>
                  <a:lnTo>
                    <a:pt x="1122680" y="972947"/>
                  </a:lnTo>
                  <a:cubicBezTo>
                    <a:pt x="1122680" y="1055624"/>
                    <a:pt x="1055624" y="1122680"/>
                    <a:pt x="972947" y="1122680"/>
                  </a:cubicBezTo>
                  <a:lnTo>
                    <a:pt x="149733" y="1122680"/>
                  </a:lnTo>
                  <a:cubicBezTo>
                    <a:pt x="67056" y="1122680"/>
                    <a:pt x="0" y="1055624"/>
                    <a:pt x="0" y="972947"/>
                  </a:cubicBezTo>
                  <a:close/>
                </a:path>
              </a:pathLst>
            </a:custGeom>
            <a:solidFill>
              <a:srgbClr val="D4A62A"/>
            </a:solidFill>
            <a:ln w="19050" cap="sq">
              <a:solidFill>
                <a:srgbClr val="D4A62A"/>
              </a:solidFill>
              <a:prstDash val="solid"/>
              <a:miter/>
            </a:ln>
          </p:spPr>
        </p:sp>
      </p:grpSp>
      <p:grpSp>
        <p:nvGrpSpPr>
          <p:cNvPr name="Group 4" id="4"/>
          <p:cNvGrpSpPr/>
          <p:nvPr/>
        </p:nvGrpSpPr>
        <p:grpSpPr>
          <a:xfrm rot="0">
            <a:off x="68580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9525"/>
              <a:ext cx="1097280" cy="1106805"/>
            </a:xfrm>
            <a:prstGeom prst="rect">
              <a:avLst/>
            </a:prstGeom>
          </p:spPr>
          <p:txBody>
            <a:bodyPr anchor="ctr" rtlCol="false" tIns="0" lIns="0" bIns="0" rIns="0"/>
            <a:lstStyle/>
            <a:p>
              <a:pPr algn="ctr">
                <a:lnSpc>
                  <a:spcPts val="2879"/>
                </a:lnSpc>
              </a:pPr>
              <a:r>
                <a:rPr lang="en-US" sz="2400" b="true">
                  <a:solidFill>
                    <a:srgbClr val="2F3237"/>
                  </a:solidFill>
                  <a:latin typeface="Arial Bold"/>
                  <a:ea typeface="Arial Bold"/>
                  <a:cs typeface="Arial Bold"/>
                  <a:sym typeface="Arial Bold"/>
                </a:rPr>
                <a:t>07</a:t>
              </a:r>
            </a:p>
          </p:txBody>
        </p:sp>
      </p:grpSp>
      <p:grpSp>
        <p:nvGrpSpPr>
          <p:cNvPr name="Group 7" id="7"/>
          <p:cNvGrpSpPr/>
          <p:nvPr/>
        </p:nvGrpSpPr>
        <p:grpSpPr>
          <a:xfrm rot="0">
            <a:off x="1783080" y="480060"/>
            <a:ext cx="7927848" cy="960120"/>
            <a:chOff x="0" y="0"/>
            <a:chExt cx="10570464" cy="1280160"/>
          </a:xfrm>
        </p:grpSpPr>
        <p:sp>
          <p:nvSpPr>
            <p:cNvPr name="Freeform 8" id="8"/>
            <p:cNvSpPr/>
            <p:nvPr/>
          </p:nvSpPr>
          <p:spPr>
            <a:xfrm flipH="false" flipV="false" rot="0">
              <a:off x="0" y="0"/>
              <a:ext cx="10570464" cy="1280160"/>
            </a:xfrm>
            <a:custGeom>
              <a:avLst/>
              <a:gdLst/>
              <a:ahLst/>
              <a:cxnLst/>
              <a:rect r="r" b="b" t="t" l="l"/>
              <a:pathLst>
                <a:path h="1280160" w="10570464">
                  <a:moveTo>
                    <a:pt x="0" y="0"/>
                  </a:moveTo>
                  <a:lnTo>
                    <a:pt x="10570464" y="0"/>
                  </a:lnTo>
                  <a:lnTo>
                    <a:pt x="10570464" y="1280160"/>
                  </a:lnTo>
                  <a:lnTo>
                    <a:pt x="0" y="1280160"/>
                  </a:lnTo>
                  <a:close/>
                </a:path>
              </a:pathLst>
            </a:custGeom>
            <a:blipFill>
              <a:blip r:embed="rId3">
                <a:alphaModFix amt="0"/>
              </a:blip>
              <a:stretch>
                <a:fillRect l="0" t="-270111" r="-98961" b="-270111"/>
              </a:stretch>
            </a:blipFill>
          </p:spPr>
        </p:sp>
        <p:sp>
          <p:nvSpPr>
            <p:cNvPr name="TextBox 9" id="9"/>
            <p:cNvSpPr txBox="true"/>
            <p:nvPr/>
          </p:nvSpPr>
          <p:spPr>
            <a:xfrm>
              <a:off x="0" y="-19050"/>
              <a:ext cx="10570464" cy="1299210"/>
            </a:xfrm>
            <a:prstGeom prst="rect">
              <a:avLst/>
            </a:prstGeom>
          </p:spPr>
          <p:txBody>
            <a:bodyPr anchor="ctr" rtlCol="false" tIns="0" lIns="0" bIns="0" rIns="0"/>
            <a:lstStyle/>
            <a:p>
              <a:pPr algn="l">
                <a:lnSpc>
                  <a:spcPts val="4680"/>
                </a:lnSpc>
              </a:pPr>
              <a:r>
                <a:rPr lang="en-US" sz="3900" b="true">
                  <a:solidFill>
                    <a:srgbClr val="2F3237"/>
                  </a:solidFill>
                  <a:latin typeface="Arial Bold"/>
                  <a:ea typeface="Arial Bold"/>
                  <a:cs typeface="Arial Bold"/>
                  <a:sym typeface="Arial Bold"/>
                </a:rPr>
                <a:t>Conclusion</a:t>
              </a:r>
            </a:p>
          </p:txBody>
        </p:sp>
      </p:grpSp>
      <p:grpSp>
        <p:nvGrpSpPr>
          <p:cNvPr name="Group 10" id="10"/>
          <p:cNvGrpSpPr/>
          <p:nvPr/>
        </p:nvGrpSpPr>
        <p:grpSpPr>
          <a:xfrm rot="0">
            <a:off x="678656" y="1775936"/>
            <a:ext cx="8312468" cy="4883468"/>
            <a:chOff x="0" y="0"/>
            <a:chExt cx="11083290" cy="6511290"/>
          </a:xfrm>
        </p:grpSpPr>
        <p:sp>
          <p:nvSpPr>
            <p:cNvPr name="Freeform 11" id="11"/>
            <p:cNvSpPr/>
            <p:nvPr/>
          </p:nvSpPr>
          <p:spPr>
            <a:xfrm flipH="false" flipV="false" rot="0">
              <a:off x="0" y="0"/>
              <a:ext cx="11083290" cy="6511290"/>
            </a:xfrm>
            <a:custGeom>
              <a:avLst/>
              <a:gdLst/>
              <a:ahLst/>
              <a:cxnLst/>
              <a:rect r="r" b="b" t="t" l="l"/>
              <a:pathLst>
                <a:path h="6511290" w="11083290">
                  <a:moveTo>
                    <a:pt x="0" y="0"/>
                  </a:moveTo>
                  <a:lnTo>
                    <a:pt x="11083290" y="0"/>
                  </a:lnTo>
                  <a:lnTo>
                    <a:pt x="11083290" y="6511290"/>
                  </a:lnTo>
                  <a:lnTo>
                    <a:pt x="0" y="6511290"/>
                  </a:lnTo>
                  <a:close/>
                </a:path>
              </a:pathLst>
            </a:custGeom>
            <a:solidFill>
              <a:srgbClr val="F2F2F0"/>
            </a:solidFill>
            <a:ln w="14288" cap="sq">
              <a:solidFill>
                <a:srgbClr val="D9D9D6"/>
              </a:solidFill>
              <a:prstDash val="solid"/>
              <a:miter/>
            </a:ln>
          </p:spPr>
        </p:sp>
      </p:grpSp>
      <p:grpSp>
        <p:nvGrpSpPr>
          <p:cNvPr name="Group 12" id="12"/>
          <p:cNvGrpSpPr/>
          <p:nvPr/>
        </p:nvGrpSpPr>
        <p:grpSpPr>
          <a:xfrm rot="0">
            <a:off x="1019175" y="2047875"/>
            <a:ext cx="704850" cy="704850"/>
            <a:chOff x="0" y="0"/>
            <a:chExt cx="939800" cy="939800"/>
          </a:xfrm>
        </p:grpSpPr>
        <p:sp>
          <p:nvSpPr>
            <p:cNvPr name="Freeform 13" id="13"/>
            <p:cNvSpPr/>
            <p:nvPr/>
          </p:nvSpPr>
          <p:spPr>
            <a:xfrm flipH="false" flipV="false" rot="0">
              <a:off x="0" y="0"/>
              <a:ext cx="939800" cy="939800"/>
            </a:xfrm>
            <a:custGeom>
              <a:avLst/>
              <a:gdLst/>
              <a:ahLst/>
              <a:cxnLst/>
              <a:rect r="r" b="b" t="t" l="l"/>
              <a:pathLst>
                <a:path h="939800" w="939800">
                  <a:moveTo>
                    <a:pt x="0" y="150368"/>
                  </a:moveTo>
                  <a:cubicBezTo>
                    <a:pt x="0" y="67310"/>
                    <a:pt x="67310" y="0"/>
                    <a:pt x="150368" y="0"/>
                  </a:cubicBezTo>
                  <a:lnTo>
                    <a:pt x="789432" y="0"/>
                  </a:lnTo>
                  <a:cubicBezTo>
                    <a:pt x="872490" y="0"/>
                    <a:pt x="939800" y="67310"/>
                    <a:pt x="939800" y="150368"/>
                  </a:cubicBezTo>
                  <a:lnTo>
                    <a:pt x="939800" y="789432"/>
                  </a:lnTo>
                  <a:cubicBezTo>
                    <a:pt x="939800" y="872490"/>
                    <a:pt x="872490" y="939800"/>
                    <a:pt x="78943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14" id="14"/>
          <p:cNvGrpSpPr/>
          <p:nvPr/>
        </p:nvGrpSpPr>
        <p:grpSpPr>
          <a:xfrm rot="0">
            <a:off x="1179576" y="2208276"/>
            <a:ext cx="384048" cy="384048"/>
            <a:chOff x="0" y="0"/>
            <a:chExt cx="512064" cy="512064"/>
          </a:xfrm>
        </p:grpSpPr>
        <p:sp>
          <p:nvSpPr>
            <p:cNvPr name="Freeform 15" id="15"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4"/>
              <a:stretch>
                <a:fillRect l="0" t="0" r="0" b="0"/>
              </a:stretch>
            </a:blipFill>
          </p:spPr>
        </p:sp>
      </p:grpSp>
      <p:grpSp>
        <p:nvGrpSpPr>
          <p:cNvPr name="Group 16" id="16"/>
          <p:cNvGrpSpPr/>
          <p:nvPr/>
        </p:nvGrpSpPr>
        <p:grpSpPr>
          <a:xfrm rot="0">
            <a:off x="1920240" y="2057400"/>
            <a:ext cx="4114800" cy="685800"/>
            <a:chOff x="0" y="0"/>
            <a:chExt cx="5486400" cy="914400"/>
          </a:xfrm>
        </p:grpSpPr>
        <p:sp>
          <p:nvSpPr>
            <p:cNvPr name="Freeform 17" id="17"/>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18" id="18"/>
            <p:cNvSpPr txBox="true"/>
            <p:nvPr/>
          </p:nvSpPr>
          <p:spPr>
            <a:xfrm>
              <a:off x="0" y="-19050"/>
              <a:ext cx="5486400" cy="933450"/>
            </a:xfrm>
            <a:prstGeom prst="rect">
              <a:avLst/>
            </a:prstGeom>
          </p:spPr>
          <p:txBody>
            <a:bodyPr anchor="ctr" rtlCol="false" tIns="0" lIns="0" bIns="0" rIns="0"/>
            <a:lstStyle/>
            <a:p>
              <a:pPr algn="l">
                <a:lnSpc>
                  <a:spcPts val="2340"/>
                </a:lnSpc>
              </a:pPr>
              <a:r>
                <a:rPr lang="en-US" sz="1950" b="true">
                  <a:solidFill>
                    <a:srgbClr val="2F3237"/>
                  </a:solidFill>
                  <a:latin typeface="Arial Bold"/>
                  <a:ea typeface="Arial Bold"/>
                  <a:cs typeface="Arial Bold"/>
                  <a:sym typeface="Arial Bold"/>
                </a:rPr>
                <a:t>WHAT WAS ACHIEVED</a:t>
              </a:r>
            </a:p>
          </p:txBody>
        </p:sp>
      </p:grpSp>
      <p:sp>
        <p:nvSpPr>
          <p:cNvPr name="TextBox 19" id="19"/>
          <p:cNvSpPr txBox="true"/>
          <p:nvPr/>
        </p:nvSpPr>
        <p:spPr>
          <a:xfrm rot="0">
            <a:off x="1097280" y="2998470"/>
            <a:ext cx="7543800" cy="3516630"/>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2B2B2B"/>
                </a:solidFill>
                <a:latin typeface="Arial"/>
                <a:ea typeface="Arial"/>
                <a:cs typeface="Arial"/>
                <a:sym typeface="Arial"/>
              </a:rPr>
              <a:t>9 BCNF normalized tables + audit table</a:t>
            </a:r>
          </a:p>
          <a:p>
            <a:pPr algn="l" marL="352901" indent="-176451" lvl="1">
              <a:lnSpc>
                <a:spcPts val="2340"/>
              </a:lnSpc>
              <a:buFont typeface="Arial"/>
              <a:buChar char="•"/>
            </a:pPr>
            <a:r>
              <a:rPr lang="en-US" sz="1950">
                <a:solidFill>
                  <a:srgbClr val="2B2B2B"/>
                </a:solidFill>
                <a:latin typeface="Arial"/>
                <a:ea typeface="Arial"/>
                <a:cs typeface="Arial"/>
                <a:sym typeface="Arial"/>
              </a:rPr>
              <a:t>300+ real-world NYPD crash records</a:t>
            </a:r>
          </a:p>
          <a:p>
            <a:pPr algn="l" marL="352901" indent="-176451" lvl="1">
              <a:lnSpc>
                <a:spcPts val="2340"/>
              </a:lnSpc>
              <a:buFont typeface="Arial"/>
              <a:buChar char="•"/>
            </a:pPr>
            <a:r>
              <a:rPr lang="en-US" sz="1950">
                <a:solidFill>
                  <a:srgbClr val="2B2B2B"/>
                </a:solidFill>
                <a:latin typeface="Arial"/>
                <a:ea typeface="Arial"/>
                <a:cs typeface="Arial"/>
                <a:sym typeface="Arial"/>
              </a:rPr>
              <a:t>INNER, LEFT, RIGHT &amp; SELF JOIN queries</a:t>
            </a:r>
          </a:p>
          <a:p>
            <a:pPr algn="l" marL="352901" indent="-176451" lvl="1">
              <a:lnSpc>
                <a:spcPts val="2340"/>
              </a:lnSpc>
              <a:buFont typeface="Arial"/>
              <a:buChar char="•"/>
            </a:pPr>
            <a:r>
              <a:rPr lang="en-US" sz="1950">
                <a:solidFill>
                  <a:srgbClr val="2B2B2B"/>
                </a:solidFill>
                <a:latin typeface="Arial"/>
                <a:ea typeface="Arial"/>
                <a:cs typeface="Arial"/>
                <a:sym typeface="Arial"/>
              </a:rPr>
              <a:t>Atomic stored procedure with transactions</a:t>
            </a:r>
          </a:p>
          <a:p>
            <a:pPr algn="l" marL="352901" indent="-176451" lvl="1">
              <a:lnSpc>
                <a:spcPts val="2340"/>
              </a:lnSpc>
              <a:buFont typeface="Arial"/>
              <a:buChar char="•"/>
            </a:pPr>
            <a:r>
              <a:rPr lang="en-US" sz="1950">
                <a:solidFill>
                  <a:srgbClr val="2B2B2B"/>
                </a:solidFill>
                <a:latin typeface="Arial"/>
                <a:ea typeface="Arial"/>
                <a:cs typeface="Arial"/>
                <a:sym typeface="Arial"/>
              </a:rPr>
              <a:t>Business-rule &amp; audit triggers</a:t>
            </a:r>
          </a:p>
          <a:p>
            <a:pPr algn="l" marL="352901" indent="-176451" lvl="1">
              <a:lnSpc>
                <a:spcPts val="2340"/>
              </a:lnSpc>
              <a:buFont typeface="Arial"/>
              <a:buChar char="•"/>
            </a:pPr>
            <a:r>
              <a:rPr lang="en-US" sz="1950">
                <a:solidFill>
                  <a:srgbClr val="2B2B2B"/>
                </a:solidFill>
                <a:latin typeface="Arial"/>
                <a:ea typeface="Arial"/>
                <a:cs typeface="Arial"/>
                <a:sym typeface="Arial"/>
              </a:rPr>
              <a:t>Virtual reporting views for analytics</a:t>
            </a:r>
          </a:p>
        </p:txBody>
      </p:sp>
      <p:grpSp>
        <p:nvGrpSpPr>
          <p:cNvPr name="Group 20" id="20"/>
          <p:cNvGrpSpPr/>
          <p:nvPr/>
        </p:nvGrpSpPr>
        <p:grpSpPr>
          <a:xfrm rot="0">
            <a:off x="9292304" y="1775936"/>
            <a:ext cx="8312468" cy="4883468"/>
            <a:chOff x="0" y="0"/>
            <a:chExt cx="11083290" cy="6511290"/>
          </a:xfrm>
        </p:grpSpPr>
        <p:sp>
          <p:nvSpPr>
            <p:cNvPr name="Freeform 21" id="21"/>
            <p:cNvSpPr/>
            <p:nvPr/>
          </p:nvSpPr>
          <p:spPr>
            <a:xfrm flipH="false" flipV="false" rot="0">
              <a:off x="0" y="0"/>
              <a:ext cx="11083290" cy="6511290"/>
            </a:xfrm>
            <a:custGeom>
              <a:avLst/>
              <a:gdLst/>
              <a:ahLst/>
              <a:cxnLst/>
              <a:rect r="r" b="b" t="t" l="l"/>
              <a:pathLst>
                <a:path h="6511290" w="11083290">
                  <a:moveTo>
                    <a:pt x="0" y="0"/>
                  </a:moveTo>
                  <a:lnTo>
                    <a:pt x="11083290" y="0"/>
                  </a:lnTo>
                  <a:lnTo>
                    <a:pt x="11083290" y="6511290"/>
                  </a:lnTo>
                  <a:lnTo>
                    <a:pt x="0" y="6511290"/>
                  </a:lnTo>
                  <a:close/>
                </a:path>
              </a:pathLst>
            </a:custGeom>
            <a:solidFill>
              <a:srgbClr val="FBF1D3"/>
            </a:solidFill>
            <a:ln w="14288" cap="sq">
              <a:solidFill>
                <a:srgbClr val="E8D9A5"/>
              </a:solidFill>
              <a:prstDash val="solid"/>
              <a:miter/>
            </a:ln>
          </p:spPr>
        </p:sp>
      </p:grpSp>
      <p:grpSp>
        <p:nvGrpSpPr>
          <p:cNvPr name="Group 22" id="22"/>
          <p:cNvGrpSpPr/>
          <p:nvPr/>
        </p:nvGrpSpPr>
        <p:grpSpPr>
          <a:xfrm rot="0">
            <a:off x="9632823" y="2047875"/>
            <a:ext cx="704850" cy="704850"/>
            <a:chOff x="0" y="0"/>
            <a:chExt cx="939800" cy="939800"/>
          </a:xfrm>
        </p:grpSpPr>
        <p:sp>
          <p:nvSpPr>
            <p:cNvPr name="Freeform 23" id="23"/>
            <p:cNvSpPr/>
            <p:nvPr/>
          </p:nvSpPr>
          <p:spPr>
            <a:xfrm flipH="false" flipV="false" rot="0">
              <a:off x="0" y="0"/>
              <a:ext cx="939800" cy="939800"/>
            </a:xfrm>
            <a:custGeom>
              <a:avLst/>
              <a:gdLst/>
              <a:ahLst/>
              <a:cxnLst/>
              <a:rect r="r" b="b" t="t" l="l"/>
              <a:pathLst>
                <a:path h="939800" w="939800">
                  <a:moveTo>
                    <a:pt x="0" y="150368"/>
                  </a:moveTo>
                  <a:cubicBezTo>
                    <a:pt x="0" y="67310"/>
                    <a:pt x="67310" y="0"/>
                    <a:pt x="150368" y="0"/>
                  </a:cubicBezTo>
                  <a:lnTo>
                    <a:pt x="789432" y="0"/>
                  </a:lnTo>
                  <a:cubicBezTo>
                    <a:pt x="872490" y="0"/>
                    <a:pt x="939800" y="67310"/>
                    <a:pt x="939800" y="150368"/>
                  </a:cubicBezTo>
                  <a:lnTo>
                    <a:pt x="939800" y="789432"/>
                  </a:lnTo>
                  <a:cubicBezTo>
                    <a:pt x="939800" y="872490"/>
                    <a:pt x="872490" y="939800"/>
                    <a:pt x="789432" y="939800"/>
                  </a:cubicBezTo>
                  <a:lnTo>
                    <a:pt x="150368" y="939800"/>
                  </a:lnTo>
                  <a:cubicBezTo>
                    <a:pt x="67310" y="939800"/>
                    <a:pt x="0" y="872490"/>
                    <a:pt x="0" y="789432"/>
                  </a:cubicBezTo>
                  <a:close/>
                </a:path>
              </a:pathLst>
            </a:custGeom>
            <a:solidFill>
              <a:srgbClr val="D4A62A"/>
            </a:solidFill>
            <a:ln w="19050" cap="sq">
              <a:solidFill>
                <a:srgbClr val="D4A62A"/>
              </a:solidFill>
              <a:prstDash val="solid"/>
              <a:miter/>
            </a:ln>
          </p:spPr>
        </p:sp>
      </p:grpSp>
      <p:grpSp>
        <p:nvGrpSpPr>
          <p:cNvPr name="Group 24" id="24"/>
          <p:cNvGrpSpPr/>
          <p:nvPr/>
        </p:nvGrpSpPr>
        <p:grpSpPr>
          <a:xfrm rot="0">
            <a:off x="9793224" y="2208276"/>
            <a:ext cx="384048" cy="384048"/>
            <a:chOff x="0" y="0"/>
            <a:chExt cx="512064" cy="512064"/>
          </a:xfrm>
        </p:grpSpPr>
        <p:sp>
          <p:nvSpPr>
            <p:cNvPr name="Freeform 25" id="25" descr="preencoded.png"/>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lnTo>
                    <a:pt x="0" y="0"/>
                  </a:lnTo>
                  <a:close/>
                </a:path>
              </a:pathLst>
            </a:custGeom>
            <a:blipFill>
              <a:blip r:embed="rId5"/>
              <a:stretch>
                <a:fillRect l="0" t="0" r="0" b="0"/>
              </a:stretch>
            </a:blipFill>
          </p:spPr>
        </p:sp>
      </p:grpSp>
      <p:grpSp>
        <p:nvGrpSpPr>
          <p:cNvPr name="Group 26" id="26"/>
          <p:cNvGrpSpPr/>
          <p:nvPr/>
        </p:nvGrpSpPr>
        <p:grpSpPr>
          <a:xfrm rot="0">
            <a:off x="10533888" y="2057400"/>
            <a:ext cx="5486400" cy="685800"/>
            <a:chOff x="0" y="0"/>
            <a:chExt cx="7315200" cy="914400"/>
          </a:xfrm>
        </p:grpSpPr>
        <p:sp>
          <p:nvSpPr>
            <p:cNvPr name="Freeform 27" id="27"/>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3">
                <a:alphaModFix amt="0"/>
              </a:blip>
              <a:stretch>
                <a:fillRect l="0" t="-105880" r="0" b="-105880"/>
              </a:stretch>
            </a:blipFill>
          </p:spPr>
        </p:sp>
        <p:sp>
          <p:nvSpPr>
            <p:cNvPr name="TextBox 28" id="28"/>
            <p:cNvSpPr txBox="true"/>
            <p:nvPr/>
          </p:nvSpPr>
          <p:spPr>
            <a:xfrm>
              <a:off x="0" y="-19050"/>
              <a:ext cx="7315200" cy="933450"/>
            </a:xfrm>
            <a:prstGeom prst="rect">
              <a:avLst/>
            </a:prstGeom>
          </p:spPr>
          <p:txBody>
            <a:bodyPr anchor="ctr" rtlCol="false" tIns="0" lIns="0" bIns="0" rIns="0"/>
            <a:lstStyle/>
            <a:p>
              <a:pPr algn="l">
                <a:lnSpc>
                  <a:spcPts val="2340"/>
                </a:lnSpc>
              </a:pPr>
              <a:r>
                <a:rPr lang="en-US" sz="1950" b="true">
                  <a:solidFill>
                    <a:srgbClr val="8F6A0A"/>
                  </a:solidFill>
                  <a:latin typeface="Arial Bold"/>
                  <a:ea typeface="Arial Bold"/>
                  <a:cs typeface="Arial Bold"/>
                  <a:sym typeface="Arial Bold"/>
                </a:rPr>
                <a:t>KEY TAKEAWAYS</a:t>
              </a:r>
            </a:p>
          </p:txBody>
        </p:sp>
      </p:grpSp>
      <p:sp>
        <p:nvSpPr>
          <p:cNvPr name="TextBox 29" id="29"/>
          <p:cNvSpPr txBox="true"/>
          <p:nvPr/>
        </p:nvSpPr>
        <p:spPr>
          <a:xfrm rot="0">
            <a:off x="9710928" y="2998470"/>
            <a:ext cx="7543800" cy="3516630"/>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2B2B2B"/>
                </a:solidFill>
                <a:latin typeface="Arial"/>
                <a:ea typeface="Arial"/>
                <a:cs typeface="Arial"/>
                <a:sym typeface="Arial"/>
              </a:rPr>
              <a:t>Normalization removes redundancy and update, insert &amp; delete anomalies</a:t>
            </a:r>
          </a:p>
          <a:p>
            <a:pPr algn="l" marL="352901" indent="-176451" lvl="1">
              <a:lnSpc>
                <a:spcPts val="2340"/>
              </a:lnSpc>
              <a:buFont typeface="Arial"/>
              <a:buChar char="•"/>
            </a:pPr>
            <a:r>
              <a:rPr lang="en-US" sz="1950">
                <a:solidFill>
                  <a:srgbClr val="2B2B2B"/>
                </a:solidFill>
                <a:latin typeface="Arial"/>
                <a:ea typeface="Arial"/>
                <a:cs typeface="Arial"/>
                <a:sym typeface="Arial"/>
              </a:rPr>
              <a:t>Transactions and triggers keep data consistent and auditable</a:t>
            </a:r>
          </a:p>
          <a:p>
            <a:pPr algn="l" marL="352901" indent="-176451" lvl="1">
              <a:lnSpc>
                <a:spcPts val="2340"/>
              </a:lnSpc>
              <a:buFont typeface="Arial"/>
              <a:buChar char="•"/>
            </a:pPr>
            <a:r>
              <a:rPr lang="en-US" sz="1950">
                <a:solidFill>
                  <a:srgbClr val="2B2B2B"/>
                </a:solidFill>
                <a:latin typeface="Arial"/>
                <a:ea typeface="Arial"/>
                <a:cs typeface="Arial"/>
                <a:sym typeface="Arial"/>
              </a:rPr>
              <a:t>Joins and views turn split tables into collision insights</a:t>
            </a:r>
          </a:p>
          <a:p>
            <a:pPr algn="l" marL="352901" indent="-176451" lvl="1">
              <a:lnSpc>
                <a:spcPts val="2340"/>
              </a:lnSpc>
              <a:buFont typeface="Arial"/>
              <a:buChar char="•"/>
            </a:pPr>
            <a:r>
              <a:rPr lang="en-US" sz="1950">
                <a:solidFill>
                  <a:srgbClr val="2B2B2B"/>
                </a:solidFill>
                <a:latin typeface="Arial"/>
                <a:ea typeface="Arial"/>
                <a:cs typeface="Arial"/>
                <a:sym typeface="Arial"/>
              </a:rPr>
              <a:t>A reliable base for spatial hotspot analysis</a:t>
            </a:r>
          </a:p>
        </p:txBody>
      </p:sp>
      <p:grpSp>
        <p:nvGrpSpPr>
          <p:cNvPr name="Group 30" id="30"/>
          <p:cNvGrpSpPr/>
          <p:nvPr/>
        </p:nvGrpSpPr>
        <p:grpSpPr>
          <a:xfrm rot="0">
            <a:off x="685800" y="6988016"/>
            <a:ext cx="16918972" cy="1584812"/>
            <a:chOff x="0" y="0"/>
            <a:chExt cx="22558629" cy="2113082"/>
          </a:xfrm>
        </p:grpSpPr>
        <p:sp>
          <p:nvSpPr>
            <p:cNvPr name="Freeform 31" id="31"/>
            <p:cNvSpPr/>
            <p:nvPr/>
          </p:nvSpPr>
          <p:spPr>
            <a:xfrm flipH="false" flipV="false" rot="0">
              <a:off x="0" y="0"/>
              <a:ext cx="22558629" cy="2113082"/>
            </a:xfrm>
            <a:custGeom>
              <a:avLst/>
              <a:gdLst/>
              <a:ahLst/>
              <a:cxnLst/>
              <a:rect r="r" b="b" t="t" l="l"/>
              <a:pathLst>
                <a:path h="2113082" w="22558629">
                  <a:moveTo>
                    <a:pt x="0" y="0"/>
                  </a:moveTo>
                  <a:lnTo>
                    <a:pt x="22558629" y="0"/>
                  </a:lnTo>
                  <a:lnTo>
                    <a:pt x="22558629" y="2113082"/>
                  </a:lnTo>
                  <a:lnTo>
                    <a:pt x="0" y="2113082"/>
                  </a:lnTo>
                  <a:close/>
                </a:path>
              </a:pathLst>
            </a:custGeom>
            <a:solidFill>
              <a:srgbClr val="D4A62A"/>
            </a:solidFill>
            <a:ln w="14288" cap="sq">
              <a:solidFill>
                <a:srgbClr val="D4A62A"/>
              </a:solidFill>
              <a:prstDash val="solid"/>
              <a:miter/>
            </a:ln>
          </p:spPr>
        </p:sp>
      </p:grpSp>
      <p:grpSp>
        <p:nvGrpSpPr>
          <p:cNvPr name="Group 32" id="32"/>
          <p:cNvGrpSpPr/>
          <p:nvPr/>
        </p:nvGrpSpPr>
        <p:grpSpPr>
          <a:xfrm rot="0">
            <a:off x="1028700" y="6995160"/>
            <a:ext cx="16576072" cy="1722763"/>
            <a:chOff x="0" y="0"/>
            <a:chExt cx="22101429" cy="2297018"/>
          </a:xfrm>
        </p:grpSpPr>
        <p:sp>
          <p:nvSpPr>
            <p:cNvPr name="Freeform 33" id="33"/>
            <p:cNvSpPr/>
            <p:nvPr/>
          </p:nvSpPr>
          <p:spPr>
            <a:xfrm flipH="false" flipV="false" rot="0">
              <a:off x="0" y="0"/>
              <a:ext cx="22101429" cy="2297018"/>
            </a:xfrm>
            <a:custGeom>
              <a:avLst/>
              <a:gdLst/>
              <a:ahLst/>
              <a:cxnLst/>
              <a:rect r="r" b="b" t="t" l="l"/>
              <a:pathLst>
                <a:path h="2297018" w="22101429">
                  <a:moveTo>
                    <a:pt x="0" y="0"/>
                  </a:moveTo>
                  <a:lnTo>
                    <a:pt x="22101429" y="0"/>
                  </a:lnTo>
                  <a:lnTo>
                    <a:pt x="22101429" y="2297018"/>
                  </a:lnTo>
                  <a:lnTo>
                    <a:pt x="0" y="2297018"/>
                  </a:lnTo>
                  <a:close/>
                </a:path>
              </a:pathLst>
            </a:custGeom>
            <a:blipFill>
              <a:blip r:embed="rId3">
                <a:alphaModFix amt="0"/>
              </a:blip>
              <a:stretch>
                <a:fillRect l="-6546" t="0" r="70450" b="-35347"/>
              </a:stretch>
            </a:blipFill>
          </p:spPr>
        </p:sp>
        <p:sp>
          <p:nvSpPr>
            <p:cNvPr name="TextBox 34" id="34"/>
            <p:cNvSpPr txBox="true"/>
            <p:nvPr/>
          </p:nvSpPr>
          <p:spPr>
            <a:xfrm>
              <a:off x="0" y="-28575"/>
              <a:ext cx="22101429" cy="2325593"/>
            </a:xfrm>
            <a:prstGeom prst="rect">
              <a:avLst/>
            </a:prstGeom>
          </p:spPr>
          <p:txBody>
            <a:bodyPr anchor="ctr" rtlCol="false" tIns="0" lIns="0" bIns="0" rIns="0"/>
            <a:lstStyle/>
            <a:p>
              <a:pPr algn="ctr">
                <a:lnSpc>
                  <a:spcPts val="3960"/>
                </a:lnSpc>
              </a:pPr>
              <a:r>
                <a:rPr lang="en-US" sz="3300" b="true">
                  <a:solidFill>
                    <a:srgbClr val="2F3237"/>
                  </a:solidFill>
                  <a:latin typeface="Arial Bold"/>
                  <a:ea typeface="Arial Bold"/>
                  <a:cs typeface="Arial Bold"/>
                  <a:sym typeface="Arial Bold"/>
                </a:rPr>
                <a:t>THANK YOU</a:t>
              </a:r>
            </a:p>
          </p:txBody>
        </p:sp>
      </p:grpSp>
      <p:sp>
        <p:nvSpPr>
          <p:cNvPr name="Freeform 35" id="35"/>
          <p:cNvSpPr/>
          <p:nvPr/>
        </p:nvSpPr>
        <p:spPr>
          <a:xfrm flipH="false" flipV="false" rot="0">
            <a:off x="16247050" y="152298"/>
            <a:ext cx="1933060" cy="1006418"/>
          </a:xfrm>
          <a:custGeom>
            <a:avLst/>
            <a:gdLst/>
            <a:ahLst/>
            <a:cxnLst/>
            <a:rect r="r" b="b" t="t" l="l"/>
            <a:pathLst>
              <a:path h="1006418" w="1933060">
                <a:moveTo>
                  <a:pt x="0" y="0"/>
                </a:moveTo>
                <a:lnTo>
                  <a:pt x="1933060" y="0"/>
                </a:lnTo>
                <a:lnTo>
                  <a:pt x="1933060" y="1006418"/>
                </a:lnTo>
                <a:lnTo>
                  <a:pt x="0" y="1006418"/>
                </a:lnTo>
                <a:lnTo>
                  <a:pt x="0" y="0"/>
                </a:lnTo>
                <a:close/>
              </a:path>
            </a:pathLst>
          </a:custGeom>
          <a:blipFill>
            <a:blip r:embed="rId6"/>
            <a:stretch>
              <a:fillRect l="0" t="0" r="0" b="0"/>
            </a:stretch>
          </a:blipFill>
        </p:spPr>
      </p:sp>
      <p:sp>
        <p:nvSpPr>
          <p:cNvPr name="Freeform 36" id="36"/>
          <p:cNvSpPr/>
          <p:nvPr/>
        </p:nvSpPr>
        <p:spPr>
          <a:xfrm flipH="false" flipV="false" rot="0">
            <a:off x="0" y="9407477"/>
            <a:ext cx="13461945" cy="846145"/>
          </a:xfrm>
          <a:custGeom>
            <a:avLst/>
            <a:gdLst/>
            <a:ahLst/>
            <a:cxnLst/>
            <a:rect r="r" b="b" t="t" l="l"/>
            <a:pathLst>
              <a:path h="846145" w="13461945">
                <a:moveTo>
                  <a:pt x="0" y="0"/>
                </a:moveTo>
                <a:lnTo>
                  <a:pt x="13461945" y="0"/>
                </a:lnTo>
                <a:lnTo>
                  <a:pt x="13461945" y="846145"/>
                </a:lnTo>
                <a:lnTo>
                  <a:pt x="0" y="846145"/>
                </a:lnTo>
                <a:lnTo>
                  <a:pt x="0" y="0"/>
                </a:lnTo>
                <a:close/>
              </a:path>
            </a:pathLst>
          </a:custGeom>
          <a:blipFill>
            <a:blip r:embed="rId7"/>
            <a:stretch>
              <a:fillRect l="0" t="-22657" r="-4334" b="-20699"/>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DAHWEuHVaqs</dc:identifier>
  <dcterms:modified xsi:type="dcterms:W3CDTF">2011-08-01T06:04:30Z</dcterms:modified>
  <cp:revision>1</cp:revision>
  <dc:title>Presentation_RACMS.pptx</dc:title>
</cp:coreProperties>
</file>